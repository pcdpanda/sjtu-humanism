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8" r:id="rId3"/>
    <p:sldId id="260" r:id="rId4"/>
    <p:sldId id="261" r:id="rId5"/>
    <p:sldId id="262" r:id="rId6"/>
    <p:sldId id="257"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254" autoAdjust="0"/>
  </p:normalViewPr>
  <p:slideViewPr>
    <p:cSldViewPr snapToGrid="0">
      <p:cViewPr varScale="1">
        <p:scale>
          <a:sx n="86" d="100"/>
          <a:sy n="86" d="100"/>
        </p:scale>
        <p:origin x="92" y="1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65E401-B524-4B37-96AE-17EB3571681B}" type="datetimeFigureOut">
              <a:rPr lang="zh-CN" altLang="en-US" smtClean="0"/>
              <a:t>2020/7/26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8FE631-0407-4DBA-A235-E9CD5151A84F}" type="slidenum">
              <a:rPr lang="zh-CN" altLang="en-US" smtClean="0"/>
              <a:t>‹#›</a:t>
            </a:fld>
            <a:endParaRPr lang="zh-CN" altLang="en-US"/>
          </a:p>
        </p:txBody>
      </p:sp>
    </p:spTree>
    <p:extLst>
      <p:ext uri="{BB962C8B-B14F-4D97-AF65-F5344CB8AC3E}">
        <p14:creationId xmlns:p14="http://schemas.microsoft.com/office/powerpoint/2010/main" val="2069376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Hello, everyone, welcome to my VR251 Art Docent Presentation,</a:t>
            </a:r>
            <a:r>
              <a:rPr lang="zh-CN" altLang="en-US" dirty="0"/>
              <a:t> </a:t>
            </a:r>
            <a:r>
              <a:rPr lang="en-US" altLang="zh-CN" dirty="0"/>
              <a:t>my topic is Wool Felt DIY.</a:t>
            </a:r>
            <a:endParaRPr lang="zh-CN" altLang="en-US" dirty="0"/>
          </a:p>
        </p:txBody>
      </p:sp>
      <p:sp>
        <p:nvSpPr>
          <p:cNvPr id="4" name="灯片编号占位符 3"/>
          <p:cNvSpPr>
            <a:spLocks noGrp="1"/>
          </p:cNvSpPr>
          <p:nvPr>
            <p:ph type="sldNum" sz="quarter" idx="5"/>
          </p:nvPr>
        </p:nvSpPr>
        <p:spPr/>
        <p:txBody>
          <a:bodyPr/>
          <a:lstStyle/>
          <a:p>
            <a:fld id="{0E8FE631-0407-4DBA-A235-E9CD5151A84F}" type="slidenum">
              <a:rPr lang="zh-CN" altLang="en-US" smtClean="0"/>
              <a:t>1</a:t>
            </a:fld>
            <a:endParaRPr lang="zh-CN" altLang="en-US"/>
          </a:p>
        </p:txBody>
      </p:sp>
    </p:spTree>
    <p:extLst>
      <p:ext uri="{BB962C8B-B14F-4D97-AF65-F5344CB8AC3E}">
        <p14:creationId xmlns:p14="http://schemas.microsoft.com/office/powerpoint/2010/main" val="2003931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So what is Wool Felt DIY? It’s quite simple. It’s about making a doll by poking wool felt through needle.</a:t>
            </a:r>
            <a:endParaRPr lang="zh-CN" altLang="en-US" dirty="0"/>
          </a:p>
        </p:txBody>
      </p:sp>
      <p:sp>
        <p:nvSpPr>
          <p:cNvPr id="4" name="灯片编号占位符 3"/>
          <p:cNvSpPr>
            <a:spLocks noGrp="1"/>
          </p:cNvSpPr>
          <p:nvPr>
            <p:ph type="sldNum" sz="quarter" idx="5"/>
          </p:nvPr>
        </p:nvSpPr>
        <p:spPr/>
        <p:txBody>
          <a:bodyPr/>
          <a:lstStyle/>
          <a:p>
            <a:fld id="{0E8FE631-0407-4DBA-A235-E9CD5151A84F}" type="slidenum">
              <a:rPr lang="zh-CN" altLang="en-US" smtClean="0"/>
              <a:t>2</a:t>
            </a:fld>
            <a:endParaRPr lang="zh-CN" altLang="en-US"/>
          </a:p>
        </p:txBody>
      </p:sp>
    </p:spTree>
    <p:extLst>
      <p:ext uri="{BB962C8B-B14F-4D97-AF65-F5344CB8AC3E}">
        <p14:creationId xmlns:p14="http://schemas.microsoft.com/office/powerpoint/2010/main" val="2310122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procedure is quite simple. First, you need do prepare raw materials and tools, which is needle and a lump of wool felt. Then you can shape the wool felt by using the needle to poke it. The direction is important, because the part where your poke will pinch in the direction. If you keep rotating your wool felt when poking, it will becomes a ball. You can also combine wool felt of different color to make a colorful one. When you complete making some small shape, you can attach them together by poking.</a:t>
            </a:r>
            <a:endParaRPr lang="zh-CN" altLang="en-US" dirty="0"/>
          </a:p>
        </p:txBody>
      </p:sp>
      <p:sp>
        <p:nvSpPr>
          <p:cNvPr id="4" name="灯片编号占位符 3"/>
          <p:cNvSpPr>
            <a:spLocks noGrp="1"/>
          </p:cNvSpPr>
          <p:nvPr>
            <p:ph type="sldNum" sz="quarter" idx="5"/>
          </p:nvPr>
        </p:nvSpPr>
        <p:spPr/>
        <p:txBody>
          <a:bodyPr/>
          <a:lstStyle/>
          <a:p>
            <a:fld id="{0E8FE631-0407-4DBA-A235-E9CD5151A84F}" type="slidenum">
              <a:rPr lang="zh-CN" altLang="en-US" smtClean="0"/>
              <a:t>3</a:t>
            </a:fld>
            <a:endParaRPr lang="zh-CN" altLang="en-US"/>
          </a:p>
        </p:txBody>
      </p:sp>
    </p:spTree>
    <p:extLst>
      <p:ext uri="{BB962C8B-B14F-4D97-AF65-F5344CB8AC3E}">
        <p14:creationId xmlns:p14="http://schemas.microsoft.com/office/powerpoint/2010/main" val="25845914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I’ve tried to make a Wool Felt PANDA. However, this is it ideal form, and mine actually is a bit rough. Actually, it requires patience and skills, and it’s very hard to make one like the first panda.</a:t>
            </a:r>
            <a:endParaRPr lang="zh-CN" altLang="en-US" dirty="0"/>
          </a:p>
        </p:txBody>
      </p:sp>
      <p:sp>
        <p:nvSpPr>
          <p:cNvPr id="4" name="灯片编号占位符 3"/>
          <p:cNvSpPr>
            <a:spLocks noGrp="1"/>
          </p:cNvSpPr>
          <p:nvPr>
            <p:ph type="sldNum" sz="quarter" idx="5"/>
          </p:nvPr>
        </p:nvSpPr>
        <p:spPr/>
        <p:txBody>
          <a:bodyPr/>
          <a:lstStyle/>
          <a:p>
            <a:fld id="{0E8FE631-0407-4DBA-A235-E9CD5151A84F}" type="slidenum">
              <a:rPr lang="zh-CN" altLang="en-US" smtClean="0"/>
              <a:t>4</a:t>
            </a:fld>
            <a:endParaRPr lang="zh-CN" altLang="en-US"/>
          </a:p>
        </p:txBody>
      </p:sp>
    </p:spTree>
    <p:extLst>
      <p:ext uri="{BB962C8B-B14F-4D97-AF65-F5344CB8AC3E}">
        <p14:creationId xmlns:p14="http://schemas.microsoft.com/office/powerpoint/2010/main" val="463522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Is wool felt DIY an art? I would definitely say is. As an artwork, artist can use it to make imitation or represent what he want to express. So it conforms the three art theories. As a technique, the skill is a typical form to make artwork, so it’s also conforms the formalism. More important, through the procedure, we can get the experience that all other art has. </a:t>
            </a:r>
            <a:endParaRPr lang="zh-CN" altLang="en-US" dirty="0"/>
          </a:p>
        </p:txBody>
      </p:sp>
      <p:sp>
        <p:nvSpPr>
          <p:cNvPr id="4" name="灯片编号占位符 3"/>
          <p:cNvSpPr>
            <a:spLocks noGrp="1"/>
          </p:cNvSpPr>
          <p:nvPr>
            <p:ph type="sldNum" sz="quarter" idx="5"/>
          </p:nvPr>
        </p:nvSpPr>
        <p:spPr/>
        <p:txBody>
          <a:bodyPr/>
          <a:lstStyle/>
          <a:p>
            <a:fld id="{0E8FE631-0407-4DBA-A235-E9CD5151A84F}" type="slidenum">
              <a:rPr lang="zh-CN" altLang="en-US" smtClean="0"/>
              <a:t>5</a:t>
            </a:fld>
            <a:endParaRPr lang="zh-CN" altLang="en-US"/>
          </a:p>
        </p:txBody>
      </p:sp>
    </p:spTree>
    <p:extLst>
      <p:ext uri="{BB962C8B-B14F-4D97-AF65-F5344CB8AC3E}">
        <p14:creationId xmlns:p14="http://schemas.microsoft.com/office/powerpoint/2010/main" val="31223402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That’s all, thank you for listening </a:t>
            </a:r>
            <a:r>
              <a:rPr lang="en-US" altLang="zh-CN"/>
              <a:t>my presentation</a:t>
            </a:r>
            <a:endParaRPr lang="zh-CN" altLang="en-US"/>
          </a:p>
        </p:txBody>
      </p:sp>
      <p:sp>
        <p:nvSpPr>
          <p:cNvPr id="4" name="灯片编号占位符 3"/>
          <p:cNvSpPr>
            <a:spLocks noGrp="1"/>
          </p:cNvSpPr>
          <p:nvPr>
            <p:ph type="sldNum" sz="quarter" idx="5"/>
          </p:nvPr>
        </p:nvSpPr>
        <p:spPr/>
        <p:txBody>
          <a:bodyPr/>
          <a:lstStyle/>
          <a:p>
            <a:fld id="{0E8FE631-0407-4DBA-A235-E9CD5151A84F}" type="slidenum">
              <a:rPr lang="zh-CN" altLang="en-US" smtClean="0"/>
              <a:t>6</a:t>
            </a:fld>
            <a:endParaRPr lang="zh-CN" altLang="en-US"/>
          </a:p>
        </p:txBody>
      </p:sp>
    </p:spTree>
    <p:extLst>
      <p:ext uri="{BB962C8B-B14F-4D97-AF65-F5344CB8AC3E}">
        <p14:creationId xmlns:p14="http://schemas.microsoft.com/office/powerpoint/2010/main" val="16532457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F97CA2-BC79-4207-AF2B-1956A806F56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59BBE07-42E0-4291-9D2F-0AEF5CE070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D1A7294-C025-4261-ADC1-8776E1EDC471}"/>
              </a:ext>
            </a:extLst>
          </p:cNvPr>
          <p:cNvSpPr>
            <a:spLocks noGrp="1"/>
          </p:cNvSpPr>
          <p:nvPr>
            <p:ph type="dt" sz="half" idx="10"/>
          </p:nvPr>
        </p:nvSpPr>
        <p:spPr/>
        <p:txBody>
          <a:bodyPr/>
          <a:lstStyle/>
          <a:p>
            <a:fld id="{EEC880FF-C962-4DCC-91B0-E4C42C71F24E}" type="datetimeFigureOut">
              <a:rPr lang="zh-CN" altLang="en-US" smtClean="0"/>
              <a:t>2020/7/26</a:t>
            </a:fld>
            <a:endParaRPr lang="zh-CN" altLang="en-US"/>
          </a:p>
        </p:txBody>
      </p:sp>
      <p:sp>
        <p:nvSpPr>
          <p:cNvPr id="5" name="页脚占位符 4">
            <a:extLst>
              <a:ext uri="{FF2B5EF4-FFF2-40B4-BE49-F238E27FC236}">
                <a16:creationId xmlns:a16="http://schemas.microsoft.com/office/drawing/2014/main" id="{8E9962F7-79CA-4FC9-8915-C76F8B7BB79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6F629FF-0308-42D9-A97D-7C4462BF1C6A}"/>
              </a:ext>
            </a:extLst>
          </p:cNvPr>
          <p:cNvSpPr>
            <a:spLocks noGrp="1"/>
          </p:cNvSpPr>
          <p:nvPr>
            <p:ph type="sldNum" sz="quarter" idx="12"/>
          </p:nvPr>
        </p:nvSpPr>
        <p:spPr/>
        <p:txBody>
          <a:bodyPr/>
          <a:lstStyle/>
          <a:p>
            <a:fld id="{57C24B26-5D98-4977-84F4-4900CFA40192}" type="slidenum">
              <a:rPr lang="zh-CN" altLang="en-US" smtClean="0"/>
              <a:t>‹#›</a:t>
            </a:fld>
            <a:endParaRPr lang="zh-CN" altLang="en-US"/>
          </a:p>
        </p:txBody>
      </p:sp>
    </p:spTree>
    <p:extLst>
      <p:ext uri="{BB962C8B-B14F-4D97-AF65-F5344CB8AC3E}">
        <p14:creationId xmlns:p14="http://schemas.microsoft.com/office/powerpoint/2010/main" val="3588419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35168D-FFFC-4151-9C85-F59C29C9E47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98C566C-0187-4A57-B133-BCDE57195D1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003365F-DCFF-42A5-86D8-D601FFFE199D}"/>
              </a:ext>
            </a:extLst>
          </p:cNvPr>
          <p:cNvSpPr>
            <a:spLocks noGrp="1"/>
          </p:cNvSpPr>
          <p:nvPr>
            <p:ph type="dt" sz="half" idx="10"/>
          </p:nvPr>
        </p:nvSpPr>
        <p:spPr/>
        <p:txBody>
          <a:bodyPr/>
          <a:lstStyle/>
          <a:p>
            <a:fld id="{EEC880FF-C962-4DCC-91B0-E4C42C71F24E}" type="datetimeFigureOut">
              <a:rPr lang="zh-CN" altLang="en-US" smtClean="0"/>
              <a:t>2020/7/26</a:t>
            </a:fld>
            <a:endParaRPr lang="zh-CN" altLang="en-US"/>
          </a:p>
        </p:txBody>
      </p:sp>
      <p:sp>
        <p:nvSpPr>
          <p:cNvPr id="5" name="页脚占位符 4">
            <a:extLst>
              <a:ext uri="{FF2B5EF4-FFF2-40B4-BE49-F238E27FC236}">
                <a16:creationId xmlns:a16="http://schemas.microsoft.com/office/drawing/2014/main" id="{B6CCA5D8-1E44-404C-A5AC-0743F177D52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3F32082-2B17-4E39-921C-8B2C5286FCAE}"/>
              </a:ext>
            </a:extLst>
          </p:cNvPr>
          <p:cNvSpPr>
            <a:spLocks noGrp="1"/>
          </p:cNvSpPr>
          <p:nvPr>
            <p:ph type="sldNum" sz="quarter" idx="12"/>
          </p:nvPr>
        </p:nvSpPr>
        <p:spPr/>
        <p:txBody>
          <a:bodyPr/>
          <a:lstStyle/>
          <a:p>
            <a:fld id="{57C24B26-5D98-4977-84F4-4900CFA40192}" type="slidenum">
              <a:rPr lang="zh-CN" altLang="en-US" smtClean="0"/>
              <a:t>‹#›</a:t>
            </a:fld>
            <a:endParaRPr lang="zh-CN" altLang="en-US"/>
          </a:p>
        </p:txBody>
      </p:sp>
    </p:spTree>
    <p:extLst>
      <p:ext uri="{BB962C8B-B14F-4D97-AF65-F5344CB8AC3E}">
        <p14:creationId xmlns:p14="http://schemas.microsoft.com/office/powerpoint/2010/main" val="1108515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810E6C-20C9-4B9E-8F7F-DA9CF770923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3E09E86-1280-4849-A375-1F1F422B76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F1043C2-0B97-4811-97FC-1B13C7EDDF54}"/>
              </a:ext>
            </a:extLst>
          </p:cNvPr>
          <p:cNvSpPr>
            <a:spLocks noGrp="1"/>
          </p:cNvSpPr>
          <p:nvPr>
            <p:ph type="dt" sz="half" idx="10"/>
          </p:nvPr>
        </p:nvSpPr>
        <p:spPr/>
        <p:txBody>
          <a:bodyPr/>
          <a:lstStyle/>
          <a:p>
            <a:fld id="{EEC880FF-C962-4DCC-91B0-E4C42C71F24E}" type="datetimeFigureOut">
              <a:rPr lang="zh-CN" altLang="en-US" smtClean="0"/>
              <a:t>2020/7/26</a:t>
            </a:fld>
            <a:endParaRPr lang="zh-CN" altLang="en-US"/>
          </a:p>
        </p:txBody>
      </p:sp>
      <p:sp>
        <p:nvSpPr>
          <p:cNvPr id="5" name="页脚占位符 4">
            <a:extLst>
              <a:ext uri="{FF2B5EF4-FFF2-40B4-BE49-F238E27FC236}">
                <a16:creationId xmlns:a16="http://schemas.microsoft.com/office/drawing/2014/main" id="{2A4F4575-F459-42DA-A2B7-7ADA2354688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18A9E18-5996-48A3-8525-3274980084B7}"/>
              </a:ext>
            </a:extLst>
          </p:cNvPr>
          <p:cNvSpPr>
            <a:spLocks noGrp="1"/>
          </p:cNvSpPr>
          <p:nvPr>
            <p:ph type="sldNum" sz="quarter" idx="12"/>
          </p:nvPr>
        </p:nvSpPr>
        <p:spPr/>
        <p:txBody>
          <a:bodyPr/>
          <a:lstStyle/>
          <a:p>
            <a:fld id="{57C24B26-5D98-4977-84F4-4900CFA40192}" type="slidenum">
              <a:rPr lang="zh-CN" altLang="en-US" smtClean="0"/>
              <a:t>‹#›</a:t>
            </a:fld>
            <a:endParaRPr lang="zh-CN" altLang="en-US"/>
          </a:p>
        </p:txBody>
      </p:sp>
    </p:spTree>
    <p:extLst>
      <p:ext uri="{BB962C8B-B14F-4D97-AF65-F5344CB8AC3E}">
        <p14:creationId xmlns:p14="http://schemas.microsoft.com/office/powerpoint/2010/main" val="1848544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655185-BC35-483F-8F00-490A9D74EFB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DC64301-303A-4F17-ACB4-F425CFE849D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644A40B-D004-4F23-8C45-6365889D7F5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F61210E-62AD-403F-ACAF-21503EADBC7A}"/>
              </a:ext>
            </a:extLst>
          </p:cNvPr>
          <p:cNvSpPr>
            <a:spLocks noGrp="1"/>
          </p:cNvSpPr>
          <p:nvPr>
            <p:ph type="dt" sz="half" idx="10"/>
          </p:nvPr>
        </p:nvSpPr>
        <p:spPr/>
        <p:txBody>
          <a:bodyPr/>
          <a:lstStyle/>
          <a:p>
            <a:fld id="{EEC880FF-C962-4DCC-91B0-E4C42C71F24E}" type="datetimeFigureOut">
              <a:rPr lang="zh-CN" altLang="en-US" smtClean="0"/>
              <a:t>2020/7/26</a:t>
            </a:fld>
            <a:endParaRPr lang="zh-CN" altLang="en-US"/>
          </a:p>
        </p:txBody>
      </p:sp>
      <p:sp>
        <p:nvSpPr>
          <p:cNvPr id="6" name="页脚占位符 5">
            <a:extLst>
              <a:ext uri="{FF2B5EF4-FFF2-40B4-BE49-F238E27FC236}">
                <a16:creationId xmlns:a16="http://schemas.microsoft.com/office/drawing/2014/main" id="{4E3D02AC-586C-49A0-B5AC-4746D081DCB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2D799F5-B8F2-4A94-8CA7-CE80B4E49CAB}"/>
              </a:ext>
            </a:extLst>
          </p:cNvPr>
          <p:cNvSpPr>
            <a:spLocks noGrp="1"/>
          </p:cNvSpPr>
          <p:nvPr>
            <p:ph type="sldNum" sz="quarter" idx="12"/>
          </p:nvPr>
        </p:nvSpPr>
        <p:spPr/>
        <p:txBody>
          <a:bodyPr/>
          <a:lstStyle/>
          <a:p>
            <a:fld id="{57C24B26-5D98-4977-84F4-4900CFA40192}" type="slidenum">
              <a:rPr lang="zh-CN" altLang="en-US" smtClean="0"/>
              <a:t>‹#›</a:t>
            </a:fld>
            <a:endParaRPr lang="zh-CN" altLang="en-US"/>
          </a:p>
        </p:txBody>
      </p:sp>
    </p:spTree>
    <p:extLst>
      <p:ext uri="{BB962C8B-B14F-4D97-AF65-F5344CB8AC3E}">
        <p14:creationId xmlns:p14="http://schemas.microsoft.com/office/powerpoint/2010/main" val="7764231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3A33DA-870A-43C3-B2A4-8421907FF4B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83FD9C7-96E9-4418-A073-B5DB86B35C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08B61D4-FA34-4DD5-81C3-C8417D7FAE2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94D1ED7-4338-4604-B3C8-0737FD02A9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C2B6F3F-2897-46A9-A9E9-5ED116A33B8E}"/>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AEE1328-AD47-4845-8D30-CBDD4D9FA63F}"/>
              </a:ext>
            </a:extLst>
          </p:cNvPr>
          <p:cNvSpPr>
            <a:spLocks noGrp="1"/>
          </p:cNvSpPr>
          <p:nvPr>
            <p:ph type="dt" sz="half" idx="10"/>
          </p:nvPr>
        </p:nvSpPr>
        <p:spPr/>
        <p:txBody>
          <a:bodyPr/>
          <a:lstStyle/>
          <a:p>
            <a:fld id="{EEC880FF-C962-4DCC-91B0-E4C42C71F24E}" type="datetimeFigureOut">
              <a:rPr lang="zh-CN" altLang="en-US" smtClean="0"/>
              <a:t>2020/7/26</a:t>
            </a:fld>
            <a:endParaRPr lang="zh-CN" altLang="en-US"/>
          </a:p>
        </p:txBody>
      </p:sp>
      <p:sp>
        <p:nvSpPr>
          <p:cNvPr id="8" name="页脚占位符 7">
            <a:extLst>
              <a:ext uri="{FF2B5EF4-FFF2-40B4-BE49-F238E27FC236}">
                <a16:creationId xmlns:a16="http://schemas.microsoft.com/office/drawing/2014/main" id="{444F4F45-1075-4EF3-95E0-48A437E3A73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92A8E00-50C8-472D-BE95-77CCF871F64C}"/>
              </a:ext>
            </a:extLst>
          </p:cNvPr>
          <p:cNvSpPr>
            <a:spLocks noGrp="1"/>
          </p:cNvSpPr>
          <p:nvPr>
            <p:ph type="sldNum" sz="quarter" idx="12"/>
          </p:nvPr>
        </p:nvSpPr>
        <p:spPr/>
        <p:txBody>
          <a:bodyPr/>
          <a:lstStyle/>
          <a:p>
            <a:fld id="{57C24B26-5D98-4977-84F4-4900CFA40192}" type="slidenum">
              <a:rPr lang="zh-CN" altLang="en-US" smtClean="0"/>
              <a:t>‹#›</a:t>
            </a:fld>
            <a:endParaRPr lang="zh-CN" altLang="en-US"/>
          </a:p>
        </p:txBody>
      </p:sp>
    </p:spTree>
    <p:extLst>
      <p:ext uri="{BB962C8B-B14F-4D97-AF65-F5344CB8AC3E}">
        <p14:creationId xmlns:p14="http://schemas.microsoft.com/office/powerpoint/2010/main" val="2339840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C4D88A-6AA7-442E-B7DB-35CAB55CADB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43676E9-5669-4765-8381-2D2EFF08FB8E}"/>
              </a:ext>
            </a:extLst>
          </p:cNvPr>
          <p:cNvSpPr>
            <a:spLocks noGrp="1"/>
          </p:cNvSpPr>
          <p:nvPr>
            <p:ph type="dt" sz="half" idx="10"/>
          </p:nvPr>
        </p:nvSpPr>
        <p:spPr/>
        <p:txBody>
          <a:bodyPr/>
          <a:lstStyle/>
          <a:p>
            <a:fld id="{EEC880FF-C962-4DCC-91B0-E4C42C71F24E}" type="datetimeFigureOut">
              <a:rPr lang="zh-CN" altLang="en-US" smtClean="0"/>
              <a:t>2020/7/26</a:t>
            </a:fld>
            <a:endParaRPr lang="zh-CN" altLang="en-US"/>
          </a:p>
        </p:txBody>
      </p:sp>
      <p:sp>
        <p:nvSpPr>
          <p:cNvPr id="4" name="页脚占位符 3">
            <a:extLst>
              <a:ext uri="{FF2B5EF4-FFF2-40B4-BE49-F238E27FC236}">
                <a16:creationId xmlns:a16="http://schemas.microsoft.com/office/drawing/2014/main" id="{49F27058-4152-4731-89D4-2313BB6F949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D17CA0B-AD18-4FC7-AE7B-56C521B2F2C2}"/>
              </a:ext>
            </a:extLst>
          </p:cNvPr>
          <p:cNvSpPr>
            <a:spLocks noGrp="1"/>
          </p:cNvSpPr>
          <p:nvPr>
            <p:ph type="sldNum" sz="quarter" idx="12"/>
          </p:nvPr>
        </p:nvSpPr>
        <p:spPr/>
        <p:txBody>
          <a:bodyPr/>
          <a:lstStyle/>
          <a:p>
            <a:fld id="{57C24B26-5D98-4977-84F4-4900CFA40192}" type="slidenum">
              <a:rPr lang="zh-CN" altLang="en-US" smtClean="0"/>
              <a:t>‹#›</a:t>
            </a:fld>
            <a:endParaRPr lang="zh-CN" altLang="en-US"/>
          </a:p>
        </p:txBody>
      </p:sp>
    </p:spTree>
    <p:extLst>
      <p:ext uri="{BB962C8B-B14F-4D97-AF65-F5344CB8AC3E}">
        <p14:creationId xmlns:p14="http://schemas.microsoft.com/office/powerpoint/2010/main" val="911039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6DF0B65-98A4-4ECD-814E-CA104A2C89F4}"/>
              </a:ext>
            </a:extLst>
          </p:cNvPr>
          <p:cNvSpPr>
            <a:spLocks noGrp="1"/>
          </p:cNvSpPr>
          <p:nvPr>
            <p:ph type="dt" sz="half" idx="10"/>
          </p:nvPr>
        </p:nvSpPr>
        <p:spPr/>
        <p:txBody>
          <a:bodyPr/>
          <a:lstStyle/>
          <a:p>
            <a:fld id="{EEC880FF-C962-4DCC-91B0-E4C42C71F24E}" type="datetimeFigureOut">
              <a:rPr lang="zh-CN" altLang="en-US" smtClean="0"/>
              <a:t>2020/7/26</a:t>
            </a:fld>
            <a:endParaRPr lang="zh-CN" altLang="en-US"/>
          </a:p>
        </p:txBody>
      </p:sp>
      <p:sp>
        <p:nvSpPr>
          <p:cNvPr id="3" name="页脚占位符 2">
            <a:extLst>
              <a:ext uri="{FF2B5EF4-FFF2-40B4-BE49-F238E27FC236}">
                <a16:creationId xmlns:a16="http://schemas.microsoft.com/office/drawing/2014/main" id="{746CA3B1-D190-42EC-8644-B4847121A1C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EB6DEA2-FFA3-4D7A-A659-17AEA3F006AC}"/>
              </a:ext>
            </a:extLst>
          </p:cNvPr>
          <p:cNvSpPr>
            <a:spLocks noGrp="1"/>
          </p:cNvSpPr>
          <p:nvPr>
            <p:ph type="sldNum" sz="quarter" idx="12"/>
          </p:nvPr>
        </p:nvSpPr>
        <p:spPr/>
        <p:txBody>
          <a:bodyPr/>
          <a:lstStyle/>
          <a:p>
            <a:fld id="{57C24B26-5D98-4977-84F4-4900CFA40192}" type="slidenum">
              <a:rPr lang="zh-CN" altLang="en-US" smtClean="0"/>
              <a:t>‹#›</a:t>
            </a:fld>
            <a:endParaRPr lang="zh-CN" altLang="en-US"/>
          </a:p>
        </p:txBody>
      </p:sp>
    </p:spTree>
    <p:extLst>
      <p:ext uri="{BB962C8B-B14F-4D97-AF65-F5344CB8AC3E}">
        <p14:creationId xmlns:p14="http://schemas.microsoft.com/office/powerpoint/2010/main" val="3556393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35FF25-7C22-4AA5-BB97-4AAEE8D744C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E1F3C2B-73CB-4CDB-8521-1A709B5841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BEFB215-B763-451B-A280-F28D031059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85BF16F-4AB9-4A85-9A0F-492E80EB7003}"/>
              </a:ext>
            </a:extLst>
          </p:cNvPr>
          <p:cNvSpPr>
            <a:spLocks noGrp="1"/>
          </p:cNvSpPr>
          <p:nvPr>
            <p:ph type="dt" sz="half" idx="10"/>
          </p:nvPr>
        </p:nvSpPr>
        <p:spPr/>
        <p:txBody>
          <a:bodyPr/>
          <a:lstStyle/>
          <a:p>
            <a:fld id="{EEC880FF-C962-4DCC-91B0-E4C42C71F24E}" type="datetimeFigureOut">
              <a:rPr lang="zh-CN" altLang="en-US" smtClean="0"/>
              <a:t>2020/7/26</a:t>
            </a:fld>
            <a:endParaRPr lang="zh-CN" altLang="en-US"/>
          </a:p>
        </p:txBody>
      </p:sp>
      <p:sp>
        <p:nvSpPr>
          <p:cNvPr id="6" name="页脚占位符 5">
            <a:extLst>
              <a:ext uri="{FF2B5EF4-FFF2-40B4-BE49-F238E27FC236}">
                <a16:creationId xmlns:a16="http://schemas.microsoft.com/office/drawing/2014/main" id="{0DF2C546-45F8-4B71-9421-40E6FF12E70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1F08998-E482-406C-AEE9-363361C9297F}"/>
              </a:ext>
            </a:extLst>
          </p:cNvPr>
          <p:cNvSpPr>
            <a:spLocks noGrp="1"/>
          </p:cNvSpPr>
          <p:nvPr>
            <p:ph type="sldNum" sz="quarter" idx="12"/>
          </p:nvPr>
        </p:nvSpPr>
        <p:spPr/>
        <p:txBody>
          <a:bodyPr/>
          <a:lstStyle/>
          <a:p>
            <a:fld id="{57C24B26-5D98-4977-84F4-4900CFA40192}" type="slidenum">
              <a:rPr lang="zh-CN" altLang="en-US" smtClean="0"/>
              <a:t>‹#›</a:t>
            </a:fld>
            <a:endParaRPr lang="zh-CN" altLang="en-US"/>
          </a:p>
        </p:txBody>
      </p:sp>
    </p:spTree>
    <p:extLst>
      <p:ext uri="{BB962C8B-B14F-4D97-AF65-F5344CB8AC3E}">
        <p14:creationId xmlns:p14="http://schemas.microsoft.com/office/powerpoint/2010/main" val="19092614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566E55-903C-4415-97CC-890ABC69A55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0E66CC7-A3AB-43DF-A487-26F4F22642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AFF4A36-C431-4F86-A687-13CEE45B09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D3ACF1C-55F3-456D-B144-4B314AFE8BBA}"/>
              </a:ext>
            </a:extLst>
          </p:cNvPr>
          <p:cNvSpPr>
            <a:spLocks noGrp="1"/>
          </p:cNvSpPr>
          <p:nvPr>
            <p:ph type="dt" sz="half" idx="10"/>
          </p:nvPr>
        </p:nvSpPr>
        <p:spPr/>
        <p:txBody>
          <a:bodyPr/>
          <a:lstStyle/>
          <a:p>
            <a:fld id="{EEC880FF-C962-4DCC-91B0-E4C42C71F24E}" type="datetimeFigureOut">
              <a:rPr lang="zh-CN" altLang="en-US" smtClean="0"/>
              <a:t>2020/7/26</a:t>
            </a:fld>
            <a:endParaRPr lang="zh-CN" altLang="en-US"/>
          </a:p>
        </p:txBody>
      </p:sp>
      <p:sp>
        <p:nvSpPr>
          <p:cNvPr id="6" name="页脚占位符 5">
            <a:extLst>
              <a:ext uri="{FF2B5EF4-FFF2-40B4-BE49-F238E27FC236}">
                <a16:creationId xmlns:a16="http://schemas.microsoft.com/office/drawing/2014/main" id="{567E1F7C-2623-4FCA-9525-A1305614472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E2CF329-F47A-4AFE-A613-8812A7686DA5}"/>
              </a:ext>
            </a:extLst>
          </p:cNvPr>
          <p:cNvSpPr>
            <a:spLocks noGrp="1"/>
          </p:cNvSpPr>
          <p:nvPr>
            <p:ph type="sldNum" sz="quarter" idx="12"/>
          </p:nvPr>
        </p:nvSpPr>
        <p:spPr/>
        <p:txBody>
          <a:bodyPr/>
          <a:lstStyle/>
          <a:p>
            <a:fld id="{57C24B26-5D98-4977-84F4-4900CFA40192}" type="slidenum">
              <a:rPr lang="zh-CN" altLang="en-US" smtClean="0"/>
              <a:t>‹#›</a:t>
            </a:fld>
            <a:endParaRPr lang="zh-CN" altLang="en-US"/>
          </a:p>
        </p:txBody>
      </p:sp>
    </p:spTree>
    <p:extLst>
      <p:ext uri="{BB962C8B-B14F-4D97-AF65-F5344CB8AC3E}">
        <p14:creationId xmlns:p14="http://schemas.microsoft.com/office/powerpoint/2010/main" val="684383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0AED78-68FE-48B0-A1BF-029C18F7B8A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58739E4-E657-48FA-A73C-FA49D31B829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B7B596-EFAA-4F39-B204-F1A2F6C08D08}"/>
              </a:ext>
            </a:extLst>
          </p:cNvPr>
          <p:cNvSpPr>
            <a:spLocks noGrp="1"/>
          </p:cNvSpPr>
          <p:nvPr>
            <p:ph type="dt" sz="half" idx="10"/>
          </p:nvPr>
        </p:nvSpPr>
        <p:spPr/>
        <p:txBody>
          <a:bodyPr/>
          <a:lstStyle/>
          <a:p>
            <a:fld id="{EEC880FF-C962-4DCC-91B0-E4C42C71F24E}" type="datetimeFigureOut">
              <a:rPr lang="zh-CN" altLang="en-US" smtClean="0"/>
              <a:t>2020/7/26</a:t>
            </a:fld>
            <a:endParaRPr lang="zh-CN" altLang="en-US"/>
          </a:p>
        </p:txBody>
      </p:sp>
      <p:sp>
        <p:nvSpPr>
          <p:cNvPr id="5" name="页脚占位符 4">
            <a:extLst>
              <a:ext uri="{FF2B5EF4-FFF2-40B4-BE49-F238E27FC236}">
                <a16:creationId xmlns:a16="http://schemas.microsoft.com/office/drawing/2014/main" id="{A10A5CC7-B22B-4385-B1B7-BE9E62844FF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542EEA3-C24E-4A5B-B610-6F31FF5B0793}"/>
              </a:ext>
            </a:extLst>
          </p:cNvPr>
          <p:cNvSpPr>
            <a:spLocks noGrp="1"/>
          </p:cNvSpPr>
          <p:nvPr>
            <p:ph type="sldNum" sz="quarter" idx="12"/>
          </p:nvPr>
        </p:nvSpPr>
        <p:spPr/>
        <p:txBody>
          <a:bodyPr/>
          <a:lstStyle/>
          <a:p>
            <a:fld id="{57C24B26-5D98-4977-84F4-4900CFA40192}" type="slidenum">
              <a:rPr lang="zh-CN" altLang="en-US" smtClean="0"/>
              <a:t>‹#›</a:t>
            </a:fld>
            <a:endParaRPr lang="zh-CN" altLang="en-US"/>
          </a:p>
        </p:txBody>
      </p:sp>
    </p:spTree>
    <p:extLst>
      <p:ext uri="{BB962C8B-B14F-4D97-AF65-F5344CB8AC3E}">
        <p14:creationId xmlns:p14="http://schemas.microsoft.com/office/powerpoint/2010/main" val="2239188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F3FBCC0-9E77-427A-AC56-649E9A766E8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3839771-4905-4BDB-938B-F84DC69843A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945655E-2CCB-43AB-BAFD-59B61B6D4BF3}"/>
              </a:ext>
            </a:extLst>
          </p:cNvPr>
          <p:cNvSpPr>
            <a:spLocks noGrp="1"/>
          </p:cNvSpPr>
          <p:nvPr>
            <p:ph type="dt" sz="half" idx="10"/>
          </p:nvPr>
        </p:nvSpPr>
        <p:spPr/>
        <p:txBody>
          <a:bodyPr/>
          <a:lstStyle/>
          <a:p>
            <a:fld id="{EEC880FF-C962-4DCC-91B0-E4C42C71F24E}" type="datetimeFigureOut">
              <a:rPr lang="zh-CN" altLang="en-US" smtClean="0"/>
              <a:t>2020/7/26</a:t>
            </a:fld>
            <a:endParaRPr lang="zh-CN" altLang="en-US"/>
          </a:p>
        </p:txBody>
      </p:sp>
      <p:sp>
        <p:nvSpPr>
          <p:cNvPr id="5" name="页脚占位符 4">
            <a:extLst>
              <a:ext uri="{FF2B5EF4-FFF2-40B4-BE49-F238E27FC236}">
                <a16:creationId xmlns:a16="http://schemas.microsoft.com/office/drawing/2014/main" id="{83F2FC25-1155-46DE-A3D1-D24136AE2C8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977039-3650-4C36-B25B-899A115D05DB}"/>
              </a:ext>
            </a:extLst>
          </p:cNvPr>
          <p:cNvSpPr>
            <a:spLocks noGrp="1"/>
          </p:cNvSpPr>
          <p:nvPr>
            <p:ph type="sldNum" sz="quarter" idx="12"/>
          </p:nvPr>
        </p:nvSpPr>
        <p:spPr/>
        <p:txBody>
          <a:bodyPr/>
          <a:lstStyle/>
          <a:p>
            <a:fld id="{57C24B26-5D98-4977-84F4-4900CFA40192}" type="slidenum">
              <a:rPr lang="zh-CN" altLang="en-US" smtClean="0"/>
              <a:t>‹#›</a:t>
            </a:fld>
            <a:endParaRPr lang="zh-CN" altLang="en-US"/>
          </a:p>
        </p:txBody>
      </p:sp>
    </p:spTree>
    <p:extLst>
      <p:ext uri="{BB962C8B-B14F-4D97-AF65-F5344CB8AC3E}">
        <p14:creationId xmlns:p14="http://schemas.microsoft.com/office/powerpoint/2010/main" val="2206507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B9219FC-2BE9-4E3B-AA3D-C14EA0E519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A283685-2812-4674-A3E7-B05DF01328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02F3BD3-4916-4D12-815F-B887EA909A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C880FF-C962-4DCC-91B0-E4C42C71F24E}" type="datetimeFigureOut">
              <a:rPr lang="zh-CN" altLang="en-US" smtClean="0"/>
              <a:t>2020/7/26</a:t>
            </a:fld>
            <a:endParaRPr lang="zh-CN" altLang="en-US"/>
          </a:p>
        </p:txBody>
      </p:sp>
      <p:sp>
        <p:nvSpPr>
          <p:cNvPr id="5" name="页脚占位符 4">
            <a:extLst>
              <a:ext uri="{FF2B5EF4-FFF2-40B4-BE49-F238E27FC236}">
                <a16:creationId xmlns:a16="http://schemas.microsoft.com/office/drawing/2014/main" id="{300F7BFC-2A93-4DA4-A30D-15B7233B4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3D08D372-D8DF-4D0C-B47C-FEE5CB7C4D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C24B26-5D98-4977-84F4-4900CFA40192}" type="slidenum">
              <a:rPr lang="zh-CN" altLang="en-US" smtClean="0"/>
              <a:t>‹#›</a:t>
            </a:fld>
            <a:endParaRPr lang="zh-CN" altLang="en-US"/>
          </a:p>
        </p:txBody>
      </p:sp>
    </p:spTree>
    <p:extLst>
      <p:ext uri="{BB962C8B-B14F-4D97-AF65-F5344CB8AC3E}">
        <p14:creationId xmlns:p14="http://schemas.microsoft.com/office/powerpoint/2010/main" val="4148313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D293A0-E49A-4A62-B276-081C0CF136E2}"/>
              </a:ext>
            </a:extLst>
          </p:cNvPr>
          <p:cNvSpPr>
            <a:spLocks noGrp="1"/>
          </p:cNvSpPr>
          <p:nvPr>
            <p:ph type="ctrTitle"/>
          </p:nvPr>
        </p:nvSpPr>
        <p:spPr>
          <a:xfrm>
            <a:off x="1500607" y="1928589"/>
            <a:ext cx="9190786" cy="2308324"/>
          </a:xfrm>
        </p:spPr>
        <p:txBody>
          <a:bodyPr wrap="none">
            <a:spAutoFit/>
          </a:bodyPr>
          <a:lstStyle/>
          <a:p>
            <a:pPr algn="l"/>
            <a:r>
              <a:rPr lang="en-US" altLang="zh-CN" sz="5000" b="1" dirty="0">
                <a:latin typeface="Calibri" panose="020F0502020204030204" pitchFamily="34" charset="0"/>
                <a:cs typeface="Calibri" panose="020F0502020204030204" pitchFamily="34" charset="0"/>
              </a:rPr>
              <a:t>VR251 Art Showcase Presentation</a:t>
            </a:r>
            <a:br>
              <a:rPr lang="en-US" altLang="zh-CN" sz="5000" b="1" dirty="0">
                <a:latin typeface="Calibri" panose="020F0502020204030204" pitchFamily="34" charset="0"/>
                <a:cs typeface="Calibri" panose="020F0502020204030204" pitchFamily="34" charset="0"/>
              </a:rPr>
            </a:br>
            <a:r>
              <a:rPr lang="en-US" altLang="zh-CN" sz="5000" b="1" dirty="0">
                <a:latin typeface="Calibri" panose="020F0502020204030204" pitchFamily="34" charset="0"/>
                <a:cs typeface="Calibri" panose="020F0502020204030204" pitchFamily="34" charset="0"/>
              </a:rPr>
              <a:t>Wool Felt DIY</a:t>
            </a:r>
            <a:br>
              <a:rPr lang="en-US" altLang="zh-CN" sz="5000" b="1" dirty="0">
                <a:latin typeface="Calibri" panose="020F0502020204030204" pitchFamily="34" charset="0"/>
                <a:cs typeface="Calibri" panose="020F0502020204030204" pitchFamily="34" charset="0"/>
              </a:rPr>
            </a:br>
            <a:r>
              <a:rPr lang="en-US" altLang="zh-CN" sz="3000" b="1" dirty="0">
                <a:latin typeface="Calibri" panose="020F0502020204030204" pitchFamily="34" charset="0"/>
                <a:cs typeface="Calibri" panose="020F0502020204030204" pitchFamily="34" charset="0"/>
              </a:rPr>
              <a:t>Chongdan Pan</a:t>
            </a:r>
            <a:br>
              <a:rPr lang="en-US" altLang="zh-CN" sz="3000" b="1" dirty="0">
                <a:latin typeface="Calibri" panose="020F0502020204030204" pitchFamily="34" charset="0"/>
                <a:cs typeface="Calibri" panose="020F0502020204030204" pitchFamily="34" charset="0"/>
              </a:rPr>
            </a:br>
            <a:r>
              <a:rPr lang="en-US" altLang="zh-CN" sz="3000" b="1" dirty="0">
                <a:latin typeface="Calibri" panose="020F0502020204030204" pitchFamily="34" charset="0"/>
                <a:cs typeface="Calibri" panose="020F0502020204030204" pitchFamily="34" charset="0"/>
              </a:rPr>
              <a:t>Group 3</a:t>
            </a:r>
            <a:endParaRPr lang="zh-CN" altLang="en-US" sz="30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71095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F1044CCF-1739-4EBA-8E67-73A530BFF93B}"/>
              </a:ext>
            </a:extLst>
          </p:cNvPr>
          <p:cNvSpPr>
            <a:spLocks noGrp="1"/>
          </p:cNvSpPr>
          <p:nvPr>
            <p:ph type="ctrTitle"/>
          </p:nvPr>
        </p:nvSpPr>
        <p:spPr>
          <a:xfrm>
            <a:off x="798858" y="638001"/>
            <a:ext cx="7240957" cy="784830"/>
          </a:xfrm>
        </p:spPr>
        <p:txBody>
          <a:bodyPr wrap="none">
            <a:spAutoFit/>
          </a:bodyPr>
          <a:lstStyle/>
          <a:p>
            <a:pPr algn="l"/>
            <a:r>
              <a:rPr lang="en-US" altLang="zh-CN" sz="5000" b="1" dirty="0">
                <a:latin typeface="Calibri" panose="020F0502020204030204" pitchFamily="34" charset="0"/>
                <a:cs typeface="Calibri" panose="020F0502020204030204" pitchFamily="34" charset="0"/>
              </a:rPr>
              <a:t>Wool Felt DIY Introduction</a:t>
            </a:r>
            <a:endParaRPr lang="zh-CN" altLang="en-US" sz="3000" b="1" dirty="0">
              <a:latin typeface="Calibri" panose="020F0502020204030204" pitchFamily="34" charset="0"/>
              <a:cs typeface="Calibri" panose="020F0502020204030204" pitchFamily="34" charset="0"/>
            </a:endParaRPr>
          </a:p>
        </p:txBody>
      </p:sp>
      <p:grpSp>
        <p:nvGrpSpPr>
          <p:cNvPr id="24" name="组合 23">
            <a:extLst>
              <a:ext uri="{FF2B5EF4-FFF2-40B4-BE49-F238E27FC236}">
                <a16:creationId xmlns:a16="http://schemas.microsoft.com/office/drawing/2014/main" id="{E494E1B2-DD55-4603-9373-8F1129D449F1}"/>
              </a:ext>
            </a:extLst>
          </p:cNvPr>
          <p:cNvGrpSpPr/>
          <p:nvPr/>
        </p:nvGrpSpPr>
        <p:grpSpPr>
          <a:xfrm>
            <a:off x="1467573" y="1891103"/>
            <a:ext cx="9419040" cy="3916046"/>
            <a:chOff x="2367796" y="1891103"/>
            <a:chExt cx="9419040" cy="3916046"/>
          </a:xfrm>
        </p:grpSpPr>
        <p:grpSp>
          <p:nvGrpSpPr>
            <p:cNvPr id="20" name="组合 19">
              <a:extLst>
                <a:ext uri="{FF2B5EF4-FFF2-40B4-BE49-F238E27FC236}">
                  <a16:creationId xmlns:a16="http://schemas.microsoft.com/office/drawing/2014/main" id="{4742F189-0E13-46F3-BEED-C39D1BA2BB3F}"/>
                </a:ext>
              </a:extLst>
            </p:cNvPr>
            <p:cNvGrpSpPr/>
            <p:nvPr/>
          </p:nvGrpSpPr>
          <p:grpSpPr>
            <a:xfrm>
              <a:off x="2367796" y="1891103"/>
              <a:ext cx="7781027" cy="1537897"/>
              <a:chOff x="1538456" y="1499202"/>
              <a:chExt cx="7781027" cy="1537897"/>
            </a:xfrm>
          </p:grpSpPr>
          <p:sp>
            <p:nvSpPr>
              <p:cNvPr id="18" name="标题 1">
                <a:extLst>
                  <a:ext uri="{FF2B5EF4-FFF2-40B4-BE49-F238E27FC236}">
                    <a16:creationId xmlns:a16="http://schemas.microsoft.com/office/drawing/2014/main" id="{9CEC8CAF-B54F-4154-86DB-328E74F96D2F}"/>
                  </a:ext>
                </a:extLst>
              </p:cNvPr>
              <p:cNvSpPr txBox="1">
                <a:spLocks/>
              </p:cNvSpPr>
              <p:nvPr/>
            </p:nvSpPr>
            <p:spPr>
              <a:xfrm>
                <a:off x="3482116" y="2014234"/>
                <a:ext cx="5837367" cy="507831"/>
              </a:xfrm>
              <a:prstGeom prst="rect">
                <a:avLst/>
              </a:prstGeom>
            </p:spPr>
            <p:txBody>
              <a:bodyPr vert="horz" wrap="non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3000" b="1" dirty="0">
                    <a:latin typeface="Calibri" panose="020F0502020204030204" pitchFamily="34" charset="0"/>
                    <a:cs typeface="Calibri" panose="020F0502020204030204" pitchFamily="34" charset="0"/>
                  </a:rPr>
                  <a:t>Make a small doll through wool felt</a:t>
                </a:r>
                <a:endParaRPr lang="zh-CN" altLang="en-US" sz="3000" b="1" dirty="0">
                  <a:latin typeface="Calibri" panose="020F0502020204030204" pitchFamily="34" charset="0"/>
                  <a:cs typeface="Calibri" panose="020F0502020204030204" pitchFamily="34" charset="0"/>
                </a:endParaRPr>
              </a:p>
            </p:txBody>
          </p:sp>
          <p:sp>
            <p:nvSpPr>
              <p:cNvPr id="3" name="椭圆 2">
                <a:extLst>
                  <a:ext uri="{FF2B5EF4-FFF2-40B4-BE49-F238E27FC236}">
                    <a16:creationId xmlns:a16="http://schemas.microsoft.com/office/drawing/2014/main" id="{46C147B9-E400-4409-8292-E1502BBFE574}"/>
                  </a:ext>
                </a:extLst>
              </p:cNvPr>
              <p:cNvSpPr/>
              <p:nvPr/>
            </p:nvSpPr>
            <p:spPr>
              <a:xfrm>
                <a:off x="1538456" y="1499202"/>
                <a:ext cx="1537897" cy="15378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000" b="1" dirty="0">
                    <a:solidFill>
                      <a:srgbClr val="111E33"/>
                    </a:solidFill>
                    <a:latin typeface="Calibri" panose="020F0502020204030204" pitchFamily="34" charset="0"/>
                    <a:cs typeface="Calibri" panose="020F0502020204030204" pitchFamily="34" charset="0"/>
                  </a:rPr>
                  <a:t>What</a:t>
                </a:r>
                <a:r>
                  <a:rPr lang="zh-CN" altLang="en-US" sz="3000" b="1" dirty="0">
                    <a:solidFill>
                      <a:srgbClr val="111E33"/>
                    </a:solidFill>
                    <a:latin typeface="Calibri" panose="020F0502020204030204" pitchFamily="34" charset="0"/>
                    <a:cs typeface="Calibri" panose="020F0502020204030204" pitchFamily="34" charset="0"/>
                  </a:rPr>
                  <a:t>？</a:t>
                </a:r>
              </a:p>
            </p:txBody>
          </p:sp>
        </p:grpSp>
        <p:grpSp>
          <p:nvGrpSpPr>
            <p:cNvPr id="21" name="组合 20">
              <a:extLst>
                <a:ext uri="{FF2B5EF4-FFF2-40B4-BE49-F238E27FC236}">
                  <a16:creationId xmlns:a16="http://schemas.microsoft.com/office/drawing/2014/main" id="{D5432ADF-4AC6-4A64-9F3B-92D001595445}"/>
                </a:ext>
              </a:extLst>
            </p:cNvPr>
            <p:cNvGrpSpPr/>
            <p:nvPr/>
          </p:nvGrpSpPr>
          <p:grpSpPr>
            <a:xfrm>
              <a:off x="2367796" y="4269252"/>
              <a:ext cx="9419040" cy="1537897"/>
              <a:chOff x="1538456" y="1499202"/>
              <a:chExt cx="9419040" cy="1537897"/>
            </a:xfrm>
          </p:grpSpPr>
          <p:sp>
            <p:nvSpPr>
              <p:cNvPr id="22" name="标题 1">
                <a:extLst>
                  <a:ext uri="{FF2B5EF4-FFF2-40B4-BE49-F238E27FC236}">
                    <a16:creationId xmlns:a16="http://schemas.microsoft.com/office/drawing/2014/main" id="{63392F2F-71A2-491F-B2D7-A9840744DDB5}"/>
                  </a:ext>
                </a:extLst>
              </p:cNvPr>
              <p:cNvSpPr txBox="1">
                <a:spLocks/>
              </p:cNvSpPr>
              <p:nvPr/>
            </p:nvSpPr>
            <p:spPr>
              <a:xfrm>
                <a:off x="3482116" y="2014234"/>
                <a:ext cx="7475380" cy="507831"/>
              </a:xfrm>
              <a:prstGeom prst="rect">
                <a:avLst/>
              </a:prstGeom>
            </p:spPr>
            <p:txBody>
              <a:bodyPr vert="horz" wrap="non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CN" sz="3000" b="1" dirty="0">
                    <a:latin typeface="Calibri" panose="020F0502020204030204" pitchFamily="34" charset="0"/>
                    <a:cs typeface="Calibri" panose="020F0502020204030204" pitchFamily="34" charset="0"/>
                  </a:rPr>
                  <a:t>Using needle to shape the wool felt by poking</a:t>
                </a:r>
                <a:endParaRPr lang="zh-CN" altLang="en-US" sz="3000" b="1" dirty="0">
                  <a:latin typeface="Calibri" panose="020F0502020204030204" pitchFamily="34" charset="0"/>
                  <a:cs typeface="Calibri" panose="020F0502020204030204" pitchFamily="34" charset="0"/>
                </a:endParaRPr>
              </a:p>
            </p:txBody>
          </p:sp>
          <p:sp>
            <p:nvSpPr>
              <p:cNvPr id="23" name="椭圆 22">
                <a:extLst>
                  <a:ext uri="{FF2B5EF4-FFF2-40B4-BE49-F238E27FC236}">
                    <a16:creationId xmlns:a16="http://schemas.microsoft.com/office/drawing/2014/main" id="{19A58CD8-6564-46AC-822A-9C204031B597}"/>
                  </a:ext>
                </a:extLst>
              </p:cNvPr>
              <p:cNvSpPr/>
              <p:nvPr/>
            </p:nvSpPr>
            <p:spPr>
              <a:xfrm>
                <a:off x="1538456" y="1499202"/>
                <a:ext cx="1537897" cy="15378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000" b="1" dirty="0">
                    <a:solidFill>
                      <a:srgbClr val="111E33"/>
                    </a:solidFill>
                    <a:latin typeface="Calibri" panose="020F0502020204030204" pitchFamily="34" charset="0"/>
                    <a:cs typeface="Calibri" panose="020F0502020204030204" pitchFamily="34" charset="0"/>
                  </a:rPr>
                  <a:t>How?</a:t>
                </a:r>
                <a:endParaRPr lang="zh-CN" altLang="en-US" sz="3000" b="1" dirty="0">
                  <a:solidFill>
                    <a:srgbClr val="111E33"/>
                  </a:solidFill>
                  <a:latin typeface="Calibri" panose="020F0502020204030204" pitchFamily="34" charset="0"/>
                  <a:cs typeface="Calibri" panose="020F0502020204030204" pitchFamily="34" charset="0"/>
                </a:endParaRPr>
              </a:p>
            </p:txBody>
          </p:sp>
        </p:grpSp>
      </p:grpSp>
    </p:spTree>
    <p:extLst>
      <p:ext uri="{BB962C8B-B14F-4D97-AF65-F5344CB8AC3E}">
        <p14:creationId xmlns:p14="http://schemas.microsoft.com/office/powerpoint/2010/main" val="3463555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F1044CCF-1739-4EBA-8E67-73A530BFF93B}"/>
              </a:ext>
            </a:extLst>
          </p:cNvPr>
          <p:cNvSpPr>
            <a:spLocks noGrp="1"/>
          </p:cNvSpPr>
          <p:nvPr>
            <p:ph type="ctrTitle"/>
          </p:nvPr>
        </p:nvSpPr>
        <p:spPr>
          <a:xfrm>
            <a:off x="798858" y="638001"/>
            <a:ext cx="6645024" cy="784830"/>
          </a:xfrm>
        </p:spPr>
        <p:txBody>
          <a:bodyPr wrap="none">
            <a:spAutoFit/>
          </a:bodyPr>
          <a:lstStyle/>
          <a:p>
            <a:pPr algn="l"/>
            <a:r>
              <a:rPr lang="en-US" altLang="zh-CN" sz="5000" b="1" dirty="0">
                <a:latin typeface="Calibri" panose="020F0502020204030204" pitchFamily="34" charset="0"/>
                <a:cs typeface="Calibri" panose="020F0502020204030204" pitchFamily="34" charset="0"/>
              </a:rPr>
              <a:t>Wool Felt DIY Procedure</a:t>
            </a:r>
            <a:endParaRPr lang="zh-CN" altLang="en-US" sz="3000" b="1" dirty="0">
              <a:latin typeface="Calibri" panose="020F0502020204030204" pitchFamily="34" charset="0"/>
              <a:cs typeface="Calibri" panose="020F0502020204030204" pitchFamily="34" charset="0"/>
            </a:endParaRPr>
          </a:p>
        </p:txBody>
      </p:sp>
      <p:grpSp>
        <p:nvGrpSpPr>
          <p:cNvPr id="31" name="组合 30">
            <a:extLst>
              <a:ext uri="{FF2B5EF4-FFF2-40B4-BE49-F238E27FC236}">
                <a16:creationId xmlns:a16="http://schemas.microsoft.com/office/drawing/2014/main" id="{253C485B-1210-4DF1-A28A-43E15E13FBC9}"/>
              </a:ext>
            </a:extLst>
          </p:cNvPr>
          <p:cNvGrpSpPr/>
          <p:nvPr/>
        </p:nvGrpSpPr>
        <p:grpSpPr>
          <a:xfrm>
            <a:off x="522323" y="2133157"/>
            <a:ext cx="11593102" cy="3251920"/>
            <a:chOff x="522323" y="2133157"/>
            <a:chExt cx="11593102" cy="3251920"/>
          </a:xfrm>
        </p:grpSpPr>
        <p:grpSp>
          <p:nvGrpSpPr>
            <p:cNvPr id="11" name="组合 10">
              <a:extLst>
                <a:ext uri="{FF2B5EF4-FFF2-40B4-BE49-F238E27FC236}">
                  <a16:creationId xmlns:a16="http://schemas.microsoft.com/office/drawing/2014/main" id="{526A6F11-C547-4DBB-A4D4-CFC4660D1A2C}"/>
                </a:ext>
              </a:extLst>
            </p:cNvPr>
            <p:cNvGrpSpPr/>
            <p:nvPr/>
          </p:nvGrpSpPr>
          <p:grpSpPr>
            <a:xfrm>
              <a:off x="522323" y="2133157"/>
              <a:ext cx="2791436" cy="3251920"/>
              <a:chOff x="907867" y="2735669"/>
              <a:chExt cx="2791436" cy="3251920"/>
            </a:xfrm>
          </p:grpSpPr>
          <p:pic>
            <p:nvPicPr>
              <p:cNvPr id="9" name="图片 8">
                <a:extLst>
                  <a:ext uri="{FF2B5EF4-FFF2-40B4-BE49-F238E27FC236}">
                    <a16:creationId xmlns:a16="http://schemas.microsoft.com/office/drawing/2014/main" id="{996E4D36-DB30-4ABC-90BC-6B2B110172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7867" y="2735669"/>
                <a:ext cx="2791436" cy="1928481"/>
              </a:xfrm>
              <a:prstGeom prst="rect">
                <a:avLst/>
              </a:prstGeom>
              <a:ln>
                <a:noFill/>
              </a:ln>
              <a:effectLst>
                <a:softEdge rad="112500"/>
              </a:effectLst>
            </p:spPr>
          </p:pic>
          <p:sp>
            <p:nvSpPr>
              <p:cNvPr id="10" name="文本框 9">
                <a:extLst>
                  <a:ext uri="{FF2B5EF4-FFF2-40B4-BE49-F238E27FC236}">
                    <a16:creationId xmlns:a16="http://schemas.microsoft.com/office/drawing/2014/main" id="{956DAFC8-4CCB-4D2A-9E52-0D78289F472C}"/>
                  </a:ext>
                </a:extLst>
              </p:cNvPr>
              <p:cNvSpPr txBox="1"/>
              <p:nvPr/>
            </p:nvSpPr>
            <p:spPr>
              <a:xfrm>
                <a:off x="1254643" y="4664150"/>
                <a:ext cx="2152833" cy="1323439"/>
              </a:xfrm>
              <a:prstGeom prst="rect">
                <a:avLst/>
              </a:prstGeom>
              <a:noFill/>
            </p:spPr>
            <p:txBody>
              <a:bodyPr wrap="none" rtlCol="0">
                <a:spAutoFit/>
              </a:bodyPr>
              <a:lstStyle/>
              <a:p>
                <a:pPr algn="ctr"/>
                <a:r>
                  <a:rPr lang="en-US" altLang="zh-CN" sz="3000" b="1" dirty="0">
                    <a:latin typeface="Calibri" panose="020F0502020204030204" pitchFamily="34" charset="0"/>
                    <a:cs typeface="Calibri" panose="020F0502020204030204" pitchFamily="34" charset="0"/>
                  </a:rPr>
                  <a:t>Preparation </a:t>
                </a:r>
              </a:p>
              <a:p>
                <a:pPr algn="ctr"/>
                <a:r>
                  <a:rPr lang="en-US" altLang="zh-CN" sz="2500" dirty="0">
                    <a:latin typeface="Calibri" panose="020F0502020204030204" pitchFamily="34" charset="0"/>
                    <a:cs typeface="Calibri" panose="020F0502020204030204" pitchFamily="34" charset="0"/>
                  </a:rPr>
                  <a:t>Needle</a:t>
                </a:r>
              </a:p>
              <a:p>
                <a:pPr algn="ctr"/>
                <a:r>
                  <a:rPr lang="en-US" altLang="zh-CN" sz="2500" dirty="0">
                    <a:latin typeface="Calibri" panose="020F0502020204030204" pitchFamily="34" charset="0"/>
                    <a:cs typeface="Calibri" panose="020F0502020204030204" pitchFamily="34" charset="0"/>
                  </a:rPr>
                  <a:t>Wool Felt</a:t>
                </a:r>
                <a:endParaRPr lang="zh-CN" altLang="en-US" sz="2500" dirty="0">
                  <a:latin typeface="Calibri" panose="020F0502020204030204" pitchFamily="34" charset="0"/>
                  <a:cs typeface="Calibri" panose="020F0502020204030204" pitchFamily="34" charset="0"/>
                </a:endParaRPr>
              </a:p>
            </p:txBody>
          </p:sp>
        </p:grpSp>
        <p:grpSp>
          <p:nvGrpSpPr>
            <p:cNvPr id="25" name="组合 24">
              <a:extLst>
                <a:ext uri="{FF2B5EF4-FFF2-40B4-BE49-F238E27FC236}">
                  <a16:creationId xmlns:a16="http://schemas.microsoft.com/office/drawing/2014/main" id="{3C540D58-538C-428E-BFE5-54B740EC7FE8}"/>
                </a:ext>
              </a:extLst>
            </p:cNvPr>
            <p:cNvGrpSpPr/>
            <p:nvPr/>
          </p:nvGrpSpPr>
          <p:grpSpPr>
            <a:xfrm>
              <a:off x="4775138" y="2133157"/>
              <a:ext cx="2668744" cy="3251919"/>
              <a:chOff x="1184175" y="2735669"/>
              <a:chExt cx="2668744" cy="3251919"/>
            </a:xfrm>
          </p:grpSpPr>
          <p:pic>
            <p:nvPicPr>
              <p:cNvPr id="26" name="图片 25">
                <a:extLst>
                  <a:ext uri="{FF2B5EF4-FFF2-40B4-BE49-F238E27FC236}">
                    <a16:creationId xmlns:a16="http://schemas.microsoft.com/office/drawing/2014/main" id="{F0441F5F-0CE7-40B1-9B1A-C46B58ACB0C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506885" y="2735669"/>
                <a:ext cx="2023324" cy="1928481"/>
              </a:xfrm>
              <a:prstGeom prst="rect">
                <a:avLst/>
              </a:prstGeom>
              <a:blipFill>
                <a:blip r:embed="rId5"/>
                <a:tile tx="0" ty="0" sx="100000" sy="100000" flip="none" algn="tl"/>
              </a:blipFill>
              <a:ln>
                <a:noFill/>
              </a:ln>
              <a:effectLst>
                <a:softEdge rad="112500"/>
              </a:effectLst>
            </p:spPr>
          </p:pic>
          <p:sp>
            <p:nvSpPr>
              <p:cNvPr id="27" name="文本框 26">
                <a:extLst>
                  <a:ext uri="{FF2B5EF4-FFF2-40B4-BE49-F238E27FC236}">
                    <a16:creationId xmlns:a16="http://schemas.microsoft.com/office/drawing/2014/main" id="{5EF90459-6BA8-4B37-932C-E3968AB364FF}"/>
                  </a:ext>
                </a:extLst>
              </p:cNvPr>
              <p:cNvSpPr txBox="1"/>
              <p:nvPr/>
            </p:nvSpPr>
            <p:spPr>
              <a:xfrm>
                <a:off x="1184175" y="4664149"/>
                <a:ext cx="2668744" cy="1323439"/>
              </a:xfrm>
              <a:prstGeom prst="rect">
                <a:avLst/>
              </a:prstGeom>
              <a:noFill/>
            </p:spPr>
            <p:txBody>
              <a:bodyPr wrap="none" rtlCol="0">
                <a:spAutoFit/>
              </a:bodyPr>
              <a:lstStyle/>
              <a:p>
                <a:pPr algn="ctr"/>
                <a:r>
                  <a:rPr lang="en-US" altLang="zh-CN" sz="3000" b="1" dirty="0">
                    <a:latin typeface="Calibri" panose="020F0502020204030204" pitchFamily="34" charset="0"/>
                    <a:cs typeface="Calibri" panose="020F0502020204030204" pitchFamily="34" charset="0"/>
                  </a:rPr>
                  <a:t>Shaping</a:t>
                </a:r>
              </a:p>
              <a:p>
                <a:pPr algn="ctr"/>
                <a:r>
                  <a:rPr lang="en-US" altLang="zh-CN" sz="2500" dirty="0">
                    <a:latin typeface="Calibri" panose="020F0502020204030204" pitchFamily="34" charset="0"/>
                    <a:cs typeface="Calibri" panose="020F0502020204030204" pitchFamily="34" charset="0"/>
                  </a:rPr>
                  <a:t>Poke the wool felt</a:t>
                </a:r>
              </a:p>
              <a:p>
                <a:pPr algn="ctr"/>
                <a:r>
                  <a:rPr lang="en-US" altLang="zh-CN" sz="2500" dirty="0">
                    <a:latin typeface="Calibri" panose="020F0502020204030204" pitchFamily="34" charset="0"/>
                    <a:cs typeface="Calibri" panose="020F0502020204030204" pitchFamily="34" charset="0"/>
                  </a:rPr>
                  <a:t>Direction is the key</a:t>
                </a:r>
                <a:endParaRPr lang="zh-CN" altLang="en-US" sz="2500" dirty="0">
                  <a:latin typeface="Calibri" panose="020F0502020204030204" pitchFamily="34" charset="0"/>
                  <a:cs typeface="Calibri" panose="020F0502020204030204" pitchFamily="34" charset="0"/>
                </a:endParaRPr>
              </a:p>
            </p:txBody>
          </p:sp>
        </p:grpSp>
        <p:grpSp>
          <p:nvGrpSpPr>
            <p:cNvPr id="17" name="组合 16">
              <a:extLst>
                <a:ext uri="{FF2B5EF4-FFF2-40B4-BE49-F238E27FC236}">
                  <a16:creationId xmlns:a16="http://schemas.microsoft.com/office/drawing/2014/main" id="{93E750E2-7EB5-4096-A59E-7340F6C8E798}"/>
                </a:ext>
              </a:extLst>
            </p:cNvPr>
            <p:cNvGrpSpPr/>
            <p:nvPr/>
          </p:nvGrpSpPr>
          <p:grpSpPr>
            <a:xfrm>
              <a:off x="8136387" y="2133157"/>
              <a:ext cx="3979038" cy="2868658"/>
              <a:chOff x="6897487" y="2133157"/>
              <a:chExt cx="3979038" cy="2868658"/>
            </a:xfrm>
          </p:grpSpPr>
          <p:pic>
            <p:nvPicPr>
              <p:cNvPr id="15" name="图片 14">
                <a:extLst>
                  <a:ext uri="{FF2B5EF4-FFF2-40B4-BE49-F238E27FC236}">
                    <a16:creationId xmlns:a16="http://schemas.microsoft.com/office/drawing/2014/main" id="{9D81513E-CAE1-4882-A22D-672049C9638D}"/>
                  </a:ext>
                </a:extLst>
              </p:cNvPr>
              <p:cNvPicPr>
                <a:picLocks noChangeAspect="1"/>
              </p:cNvPicPr>
              <p:nvPr/>
            </p:nvPicPr>
            <p:blipFill>
              <a:blip r:embed="rId6"/>
              <a:stretch>
                <a:fillRect/>
              </a:stretch>
            </p:blipFill>
            <p:spPr>
              <a:xfrm>
                <a:off x="7552630" y="2133157"/>
                <a:ext cx="2682688" cy="1928481"/>
              </a:xfrm>
              <a:prstGeom prst="rect">
                <a:avLst/>
              </a:prstGeom>
              <a:ln>
                <a:noFill/>
              </a:ln>
              <a:effectLst>
                <a:softEdge rad="112500"/>
              </a:effectLst>
            </p:spPr>
          </p:pic>
          <p:sp>
            <p:nvSpPr>
              <p:cNvPr id="16" name="文本框 15">
                <a:extLst>
                  <a:ext uri="{FF2B5EF4-FFF2-40B4-BE49-F238E27FC236}">
                    <a16:creationId xmlns:a16="http://schemas.microsoft.com/office/drawing/2014/main" id="{41F38CA8-8457-4BE4-93DB-024AC3D8D763}"/>
                  </a:ext>
                </a:extLst>
              </p:cNvPr>
              <p:cNvSpPr txBox="1"/>
              <p:nvPr/>
            </p:nvSpPr>
            <p:spPr>
              <a:xfrm>
                <a:off x="6897487" y="4063096"/>
                <a:ext cx="3979038" cy="938719"/>
              </a:xfrm>
              <a:prstGeom prst="rect">
                <a:avLst/>
              </a:prstGeom>
              <a:noFill/>
            </p:spPr>
            <p:txBody>
              <a:bodyPr wrap="none" rtlCol="0">
                <a:spAutoFit/>
              </a:bodyPr>
              <a:lstStyle/>
              <a:p>
                <a:pPr algn="ctr"/>
                <a:r>
                  <a:rPr lang="en-US" altLang="zh-CN" sz="3000" b="1" dirty="0">
                    <a:latin typeface="Calibri" panose="020F0502020204030204" pitchFamily="34" charset="0"/>
                    <a:cs typeface="Calibri" panose="020F0502020204030204" pitchFamily="34" charset="0"/>
                  </a:rPr>
                  <a:t>Attaching</a:t>
                </a:r>
              </a:p>
              <a:p>
                <a:pPr algn="ctr"/>
                <a:r>
                  <a:rPr lang="en-US" altLang="zh-CN" sz="2500" dirty="0">
                    <a:latin typeface="Calibri" panose="020F0502020204030204" pitchFamily="34" charset="0"/>
                    <a:cs typeface="Calibri" panose="020F0502020204030204" pitchFamily="34" charset="0"/>
                  </a:rPr>
                  <a:t>Poke to attach different parts</a:t>
                </a:r>
                <a:endParaRPr lang="zh-CN" altLang="en-US" sz="2500" dirty="0">
                  <a:latin typeface="Calibri" panose="020F0502020204030204" pitchFamily="34" charset="0"/>
                  <a:cs typeface="Calibri" panose="020F0502020204030204" pitchFamily="34" charset="0"/>
                </a:endParaRPr>
              </a:p>
            </p:txBody>
          </p:sp>
        </p:grpSp>
        <p:sp>
          <p:nvSpPr>
            <p:cNvPr id="19" name="箭头: 右 18">
              <a:extLst>
                <a:ext uri="{FF2B5EF4-FFF2-40B4-BE49-F238E27FC236}">
                  <a16:creationId xmlns:a16="http://schemas.microsoft.com/office/drawing/2014/main" id="{967E9120-7CA2-4EB5-AE76-5C9E8DFDEDFF}"/>
                </a:ext>
              </a:extLst>
            </p:cNvPr>
            <p:cNvSpPr/>
            <p:nvPr/>
          </p:nvSpPr>
          <p:spPr>
            <a:xfrm>
              <a:off x="3496958" y="2774454"/>
              <a:ext cx="1303959" cy="645886"/>
            </a:xfrm>
            <a:prstGeom prst="rightArrow">
              <a:avLst/>
            </a:prstGeom>
            <a:ln>
              <a:noFill/>
            </a:ln>
            <a:effectLst>
              <a:softEdge rad="31750"/>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30" name="箭头: 右 29">
              <a:extLst>
                <a:ext uri="{FF2B5EF4-FFF2-40B4-BE49-F238E27FC236}">
                  <a16:creationId xmlns:a16="http://schemas.microsoft.com/office/drawing/2014/main" id="{6DA6C6F3-905A-4519-8FA0-F274C839DE57}"/>
                </a:ext>
              </a:extLst>
            </p:cNvPr>
            <p:cNvSpPr/>
            <p:nvPr/>
          </p:nvSpPr>
          <p:spPr>
            <a:xfrm>
              <a:off x="7353034" y="2759905"/>
              <a:ext cx="1303959" cy="645886"/>
            </a:xfrm>
            <a:prstGeom prst="rightArrow">
              <a:avLst/>
            </a:prstGeom>
            <a:ln>
              <a:noFill/>
            </a:ln>
            <a:effectLst>
              <a:softEdge rad="31750"/>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904306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F1044CCF-1739-4EBA-8E67-73A530BFF93B}"/>
              </a:ext>
            </a:extLst>
          </p:cNvPr>
          <p:cNvSpPr>
            <a:spLocks noGrp="1"/>
          </p:cNvSpPr>
          <p:nvPr>
            <p:ph type="ctrTitle"/>
          </p:nvPr>
        </p:nvSpPr>
        <p:spPr>
          <a:xfrm>
            <a:off x="798858" y="638001"/>
            <a:ext cx="7116372" cy="784830"/>
          </a:xfrm>
        </p:spPr>
        <p:txBody>
          <a:bodyPr wrap="none">
            <a:spAutoFit/>
          </a:bodyPr>
          <a:lstStyle/>
          <a:p>
            <a:pPr algn="l"/>
            <a:r>
              <a:rPr lang="en-US" altLang="zh-CN" sz="5000" b="1" dirty="0">
                <a:latin typeface="Calibri" panose="020F0502020204030204" pitchFamily="34" charset="0"/>
                <a:cs typeface="Calibri" panose="020F0502020204030204" pitchFamily="34" charset="0"/>
              </a:rPr>
              <a:t>My Wool Felt DIY Artwork</a:t>
            </a:r>
            <a:endParaRPr lang="zh-CN" altLang="en-US" sz="3000" b="1" dirty="0">
              <a:latin typeface="Calibri" panose="020F0502020204030204" pitchFamily="34" charset="0"/>
              <a:cs typeface="Calibri" panose="020F0502020204030204" pitchFamily="34" charset="0"/>
            </a:endParaRPr>
          </a:p>
        </p:txBody>
      </p:sp>
      <p:pic>
        <p:nvPicPr>
          <p:cNvPr id="3" name="图片 2">
            <a:extLst>
              <a:ext uri="{FF2B5EF4-FFF2-40B4-BE49-F238E27FC236}">
                <a16:creationId xmlns:a16="http://schemas.microsoft.com/office/drawing/2014/main" id="{098FB560-2A20-48FF-B9B5-EB99FF7C7261}"/>
              </a:ext>
            </a:extLst>
          </p:cNvPr>
          <p:cNvPicPr>
            <a:picLocks noChangeAspect="1"/>
          </p:cNvPicPr>
          <p:nvPr/>
        </p:nvPicPr>
        <p:blipFill>
          <a:blip r:embed="rId3"/>
          <a:stretch>
            <a:fillRect/>
          </a:stretch>
        </p:blipFill>
        <p:spPr>
          <a:xfrm>
            <a:off x="3474020" y="2436208"/>
            <a:ext cx="1704449" cy="2683602"/>
          </a:xfrm>
          <a:prstGeom prst="rect">
            <a:avLst/>
          </a:prstGeom>
        </p:spPr>
      </p:pic>
      <p:pic>
        <p:nvPicPr>
          <p:cNvPr id="5" name="图片 4">
            <a:extLst>
              <a:ext uri="{FF2B5EF4-FFF2-40B4-BE49-F238E27FC236}">
                <a16:creationId xmlns:a16="http://schemas.microsoft.com/office/drawing/2014/main" id="{058FD416-F006-458F-912D-A4247D8962FD}"/>
              </a:ext>
            </a:extLst>
          </p:cNvPr>
          <p:cNvPicPr>
            <a:picLocks noChangeAspect="1"/>
          </p:cNvPicPr>
          <p:nvPr/>
        </p:nvPicPr>
        <p:blipFill>
          <a:blip r:embed="rId4"/>
          <a:stretch>
            <a:fillRect/>
          </a:stretch>
        </p:blipFill>
        <p:spPr>
          <a:xfrm>
            <a:off x="10136181" y="2436208"/>
            <a:ext cx="1492754" cy="2623767"/>
          </a:xfrm>
          <a:prstGeom prst="rect">
            <a:avLst/>
          </a:prstGeom>
        </p:spPr>
      </p:pic>
      <p:sp>
        <p:nvSpPr>
          <p:cNvPr id="6" name="文本框 5">
            <a:extLst>
              <a:ext uri="{FF2B5EF4-FFF2-40B4-BE49-F238E27FC236}">
                <a16:creationId xmlns:a16="http://schemas.microsoft.com/office/drawing/2014/main" id="{53717762-A404-4DD4-8D17-4338B5963609}"/>
              </a:ext>
            </a:extLst>
          </p:cNvPr>
          <p:cNvSpPr txBox="1"/>
          <p:nvPr/>
        </p:nvSpPr>
        <p:spPr>
          <a:xfrm>
            <a:off x="563065" y="3301746"/>
            <a:ext cx="2752677" cy="707886"/>
          </a:xfrm>
          <a:prstGeom prst="rect">
            <a:avLst/>
          </a:prstGeom>
          <a:noFill/>
        </p:spPr>
        <p:txBody>
          <a:bodyPr wrap="none" rtlCol="0">
            <a:spAutoFit/>
          </a:bodyPr>
          <a:lstStyle/>
          <a:p>
            <a:r>
              <a:rPr lang="en-US" altLang="zh-CN" sz="4000" dirty="0">
                <a:latin typeface="Calibri" panose="020F0502020204030204" pitchFamily="34" charset="0"/>
                <a:cs typeface="Calibri" panose="020F0502020204030204" pitchFamily="34" charset="0"/>
              </a:rPr>
              <a:t>It</a:t>
            </a:r>
            <a:r>
              <a:rPr lang="zh-CN" altLang="en-US" sz="4000" dirty="0">
                <a:latin typeface="Calibri" panose="020F0502020204030204" pitchFamily="34" charset="0"/>
                <a:cs typeface="Calibri" panose="020F0502020204030204" pitchFamily="34" charset="0"/>
              </a:rPr>
              <a:t> </a:t>
            </a:r>
            <a:r>
              <a:rPr lang="en-US" altLang="zh-CN" sz="4000" dirty="0">
                <a:latin typeface="Calibri" panose="020F0502020204030204" pitchFamily="34" charset="0"/>
                <a:cs typeface="Calibri" panose="020F0502020204030204" pitchFamily="34" charset="0"/>
              </a:rPr>
              <a:t>should</a:t>
            </a:r>
            <a:r>
              <a:rPr lang="zh-CN" altLang="en-US" sz="4000" dirty="0">
                <a:latin typeface="Calibri" panose="020F0502020204030204" pitchFamily="34" charset="0"/>
                <a:cs typeface="Calibri" panose="020F0502020204030204" pitchFamily="34" charset="0"/>
              </a:rPr>
              <a:t> </a:t>
            </a:r>
            <a:r>
              <a:rPr lang="en-US" altLang="zh-CN" sz="4000" dirty="0">
                <a:latin typeface="Calibri" panose="020F0502020204030204" pitchFamily="34" charset="0"/>
                <a:cs typeface="Calibri" panose="020F0502020204030204" pitchFamily="34" charset="0"/>
              </a:rPr>
              <a:t>be </a:t>
            </a:r>
            <a:endParaRPr lang="zh-CN" altLang="en-US" sz="4000" dirty="0">
              <a:latin typeface="Calibri" panose="020F0502020204030204" pitchFamily="34" charset="0"/>
              <a:cs typeface="Calibri" panose="020F0502020204030204" pitchFamily="34" charset="0"/>
            </a:endParaRPr>
          </a:p>
        </p:txBody>
      </p:sp>
      <p:sp>
        <p:nvSpPr>
          <p:cNvPr id="8" name="文本框 7">
            <a:extLst>
              <a:ext uri="{FF2B5EF4-FFF2-40B4-BE49-F238E27FC236}">
                <a16:creationId xmlns:a16="http://schemas.microsoft.com/office/drawing/2014/main" id="{93AFDDED-58F8-452F-AE67-65DDEE94C578}"/>
              </a:ext>
            </a:extLst>
          </p:cNvPr>
          <p:cNvSpPr txBox="1"/>
          <p:nvPr/>
        </p:nvSpPr>
        <p:spPr>
          <a:xfrm>
            <a:off x="5545208" y="3301746"/>
            <a:ext cx="4528804" cy="707886"/>
          </a:xfrm>
          <a:prstGeom prst="rect">
            <a:avLst/>
          </a:prstGeom>
          <a:noFill/>
        </p:spPr>
        <p:txBody>
          <a:bodyPr wrap="none" rtlCol="0">
            <a:spAutoFit/>
          </a:bodyPr>
          <a:lstStyle/>
          <a:p>
            <a:r>
              <a:rPr lang="en-US" altLang="zh-CN" sz="4000" dirty="0">
                <a:latin typeface="Calibri" panose="020F0502020204030204" pitchFamily="34" charset="0"/>
                <a:cs typeface="Calibri" panose="020F0502020204030204" pitchFamily="34" charset="0"/>
              </a:rPr>
              <a:t>and mine actually is  </a:t>
            </a:r>
            <a:endParaRPr lang="zh-CN" altLang="en-US" sz="4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0429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F1044CCF-1739-4EBA-8E67-73A530BFF93B}"/>
              </a:ext>
            </a:extLst>
          </p:cNvPr>
          <p:cNvSpPr>
            <a:spLocks noGrp="1"/>
          </p:cNvSpPr>
          <p:nvPr>
            <p:ph type="ctrTitle"/>
          </p:nvPr>
        </p:nvSpPr>
        <p:spPr>
          <a:xfrm>
            <a:off x="798858" y="638001"/>
            <a:ext cx="4995727" cy="784830"/>
          </a:xfrm>
        </p:spPr>
        <p:txBody>
          <a:bodyPr wrap="none">
            <a:spAutoFit/>
          </a:bodyPr>
          <a:lstStyle/>
          <a:p>
            <a:pPr algn="l"/>
            <a:r>
              <a:rPr lang="en-US" altLang="zh-CN" sz="5000" b="1" dirty="0">
                <a:latin typeface="Calibri" panose="020F0502020204030204" pitchFamily="34" charset="0"/>
                <a:cs typeface="Calibri" panose="020F0502020204030204" pitchFamily="34" charset="0"/>
              </a:rPr>
              <a:t>Aesthetic Analysis</a:t>
            </a:r>
            <a:endParaRPr lang="zh-CN" altLang="en-US" sz="3000" b="1" dirty="0">
              <a:latin typeface="Calibri" panose="020F0502020204030204" pitchFamily="34" charset="0"/>
              <a:cs typeface="Calibri" panose="020F0502020204030204" pitchFamily="34" charset="0"/>
            </a:endParaRPr>
          </a:p>
        </p:txBody>
      </p:sp>
      <p:pic>
        <p:nvPicPr>
          <p:cNvPr id="4" name="图片 3">
            <a:extLst>
              <a:ext uri="{FF2B5EF4-FFF2-40B4-BE49-F238E27FC236}">
                <a16:creationId xmlns:a16="http://schemas.microsoft.com/office/drawing/2014/main" id="{A0DDA81A-1A07-4BE7-9BD7-01F019C87286}"/>
              </a:ext>
            </a:extLst>
          </p:cNvPr>
          <p:cNvPicPr>
            <a:picLocks noChangeAspect="1"/>
          </p:cNvPicPr>
          <p:nvPr/>
        </p:nvPicPr>
        <p:blipFill>
          <a:blip r:embed="rId3"/>
          <a:stretch>
            <a:fillRect/>
          </a:stretch>
        </p:blipFill>
        <p:spPr>
          <a:xfrm>
            <a:off x="798858" y="1973766"/>
            <a:ext cx="4856508" cy="3729560"/>
          </a:xfrm>
          <a:prstGeom prst="rect">
            <a:avLst/>
          </a:prstGeom>
          <a:ln>
            <a:noFill/>
          </a:ln>
          <a:effectLst>
            <a:softEdge rad="112500"/>
          </a:effectLst>
        </p:spPr>
      </p:pic>
      <p:sp>
        <p:nvSpPr>
          <p:cNvPr id="11" name="文本框 10">
            <a:extLst>
              <a:ext uri="{FF2B5EF4-FFF2-40B4-BE49-F238E27FC236}">
                <a16:creationId xmlns:a16="http://schemas.microsoft.com/office/drawing/2014/main" id="{E6ACC4F3-DBBA-41C4-B5DA-973784C25ACA}"/>
              </a:ext>
            </a:extLst>
          </p:cNvPr>
          <p:cNvSpPr txBox="1"/>
          <p:nvPr/>
        </p:nvSpPr>
        <p:spPr>
          <a:xfrm>
            <a:off x="6109901" y="1973766"/>
            <a:ext cx="5283241" cy="3170099"/>
          </a:xfrm>
          <a:prstGeom prst="rect">
            <a:avLst/>
          </a:prstGeom>
          <a:noFill/>
        </p:spPr>
        <p:txBody>
          <a:bodyPr wrap="none" rtlCol="0">
            <a:spAutoFit/>
          </a:bodyPr>
          <a:lstStyle/>
          <a:p>
            <a:r>
              <a:rPr lang="en-US" altLang="zh-CN" sz="4000" b="1" dirty="0">
                <a:latin typeface="Calibri" panose="020F0502020204030204" pitchFamily="34" charset="0"/>
                <a:cs typeface="Calibri" panose="020F0502020204030204" pitchFamily="34" charset="0"/>
              </a:rPr>
              <a:t>As an artwork</a:t>
            </a:r>
          </a:p>
          <a:p>
            <a:r>
              <a:rPr lang="en-US" altLang="zh-CN" sz="4000" dirty="0">
                <a:latin typeface="Calibri" panose="020F0502020204030204" pitchFamily="34" charset="0"/>
                <a:cs typeface="Calibri" panose="020F0502020204030204" pitchFamily="34" charset="0"/>
              </a:rPr>
              <a:t>Imitative, representative</a:t>
            </a:r>
          </a:p>
          <a:p>
            <a:endParaRPr lang="en-US" altLang="zh-CN" sz="4000" dirty="0">
              <a:latin typeface="Calibri" panose="020F0502020204030204" pitchFamily="34" charset="0"/>
              <a:cs typeface="Calibri" panose="020F0502020204030204" pitchFamily="34" charset="0"/>
            </a:endParaRPr>
          </a:p>
          <a:p>
            <a:r>
              <a:rPr lang="en-US" altLang="zh-CN" sz="4000" b="1" dirty="0">
                <a:latin typeface="Calibri" panose="020F0502020204030204" pitchFamily="34" charset="0"/>
                <a:cs typeface="Calibri" panose="020F0502020204030204" pitchFamily="34" charset="0"/>
              </a:rPr>
              <a:t>As a technique</a:t>
            </a:r>
          </a:p>
          <a:p>
            <a:r>
              <a:rPr lang="en-US" altLang="zh-CN" sz="4000" dirty="0">
                <a:latin typeface="Calibri" panose="020F0502020204030204" pitchFamily="34" charset="0"/>
                <a:cs typeface="Calibri" panose="020F0502020204030204" pitchFamily="34" charset="0"/>
              </a:rPr>
              <a:t>Formalistic </a:t>
            </a:r>
            <a:endParaRPr lang="zh-CN" altLang="en-US" sz="4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89754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F1044CCF-1739-4EBA-8E67-73A530BFF93B}"/>
              </a:ext>
            </a:extLst>
          </p:cNvPr>
          <p:cNvSpPr>
            <a:spLocks noGrp="1"/>
          </p:cNvSpPr>
          <p:nvPr>
            <p:ph type="ctrTitle"/>
          </p:nvPr>
        </p:nvSpPr>
        <p:spPr>
          <a:xfrm>
            <a:off x="3243776" y="2690336"/>
            <a:ext cx="5704447" cy="1477328"/>
          </a:xfrm>
        </p:spPr>
        <p:txBody>
          <a:bodyPr wrap="none">
            <a:spAutoFit/>
          </a:bodyPr>
          <a:lstStyle/>
          <a:p>
            <a:pPr algn="l"/>
            <a:r>
              <a:rPr lang="en-US" altLang="zh-CN" sz="10000" b="1" dirty="0">
                <a:latin typeface="Calibri" panose="020F0502020204030204" pitchFamily="34" charset="0"/>
                <a:cs typeface="Calibri" panose="020F0502020204030204" pitchFamily="34" charset="0"/>
              </a:rPr>
              <a:t>Thank you</a:t>
            </a:r>
            <a:endParaRPr lang="zh-CN" altLang="en-US" sz="100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505364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TotalTime>
  <Words>374</Words>
  <Application>Microsoft Office PowerPoint</Application>
  <PresentationFormat>宽屏</PresentationFormat>
  <Paragraphs>37</Paragraphs>
  <Slides>6</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6</vt:i4>
      </vt:variant>
    </vt:vector>
  </HeadingPairs>
  <TitlesOfParts>
    <vt:vector size="11" baseType="lpstr">
      <vt:lpstr>等线</vt:lpstr>
      <vt:lpstr>等线 Light</vt:lpstr>
      <vt:lpstr>Arial</vt:lpstr>
      <vt:lpstr>Calibri</vt:lpstr>
      <vt:lpstr>Office 主题​​</vt:lpstr>
      <vt:lpstr>VR251 Art Showcase Presentation Wool Felt DIY Chongdan Pan Group 3</vt:lpstr>
      <vt:lpstr>Wool Felt DIY Introduction</vt:lpstr>
      <vt:lpstr>Wool Felt DIY Procedure</vt:lpstr>
      <vt:lpstr>My Wool Felt DIY Artwork</vt:lpstr>
      <vt:lpstr>Aesthetic Analysis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VR251 Art Showcase Presentation Chongdan Pan Group 3</dc:title>
  <dc:creator> </dc:creator>
  <cp:lastModifiedBy> </cp:lastModifiedBy>
  <cp:revision>13</cp:revision>
  <dcterms:created xsi:type="dcterms:W3CDTF">2020-07-26T03:47:23Z</dcterms:created>
  <dcterms:modified xsi:type="dcterms:W3CDTF">2020-07-26T06:28:41Z</dcterms:modified>
</cp:coreProperties>
</file>