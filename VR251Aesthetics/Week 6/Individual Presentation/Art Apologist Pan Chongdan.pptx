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12"/>
  </p:notesMasterIdLst>
  <p:sldIdLst>
    <p:sldId id="256" r:id="rId2"/>
    <p:sldId id="1499" r:id="rId3"/>
    <p:sldId id="1529" r:id="rId4"/>
    <p:sldId id="1534" r:id="rId5"/>
    <p:sldId id="1536" r:id="rId6"/>
    <p:sldId id="1533" r:id="rId7"/>
    <p:sldId id="1537" r:id="rId8"/>
    <p:sldId id="1524" r:id="rId9"/>
    <p:sldId id="1513" r:id="rId10"/>
    <p:sldId id="153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40D6D"/>
    <a:srgbClr val="461E64"/>
    <a:srgbClr val="111E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2" autoAdjust="0"/>
    <p:restoredTop sz="81495" autoAdjust="0"/>
  </p:normalViewPr>
  <p:slideViewPr>
    <p:cSldViewPr snapToGrid="0">
      <p:cViewPr varScale="1">
        <p:scale>
          <a:sx n="106" d="100"/>
          <a:sy n="106" d="100"/>
        </p:scale>
        <p:origin x="1022" y="77"/>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pieChart>
        <c:varyColors val="1"/>
        <c:ser>
          <c:idx val="0"/>
          <c:order val="0"/>
          <c:tx>
            <c:strRef>
              <c:f>Sheet1!$B$1</c:f>
              <c:strCache>
                <c:ptCount val="1"/>
                <c:pt idx="0">
                  <c:v>Hospitals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CC97-4CDA-AD72-DCD5B49181F6}"/>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2-CC97-4CDA-AD72-DCD5B49181F6}"/>
              </c:ext>
            </c:extLst>
          </c:dPt>
          <c:dLbls>
            <c:dLbl>
              <c:idx val="0"/>
              <c:tx>
                <c:rich>
                  <a:bodyPr/>
                  <a:lstStyle/>
                  <a:p>
                    <a:fld id="{2B15DD51-B191-4747-AFB2-44F5BEFB2F14}" type="CATEGORYNAME">
                      <a:rPr lang="en-US" altLang="zh-CN" sz="2000" b="1">
                        <a:solidFill>
                          <a:schemeClr val="tx1"/>
                        </a:solidFill>
                        <a:latin typeface="Calibri" panose="020F0502020204030204" pitchFamily="34" charset="0"/>
                        <a:cs typeface="Calibri" panose="020F0502020204030204" pitchFamily="34" charset="0"/>
                      </a:rPr>
                      <a:pPr/>
                      <a:t>[类别名称]</a:t>
                    </a:fld>
                    <a:r>
                      <a:rPr lang="en-US" altLang="zh-CN" sz="2000" b="1" baseline="0" dirty="0">
                        <a:solidFill>
                          <a:schemeClr val="tx1"/>
                        </a:solidFill>
                        <a:latin typeface="Calibri" panose="020F0502020204030204" pitchFamily="34" charset="0"/>
                        <a:cs typeface="Calibri" panose="020F0502020204030204" pitchFamily="34" charset="0"/>
                      </a:rPr>
                      <a:t>, </a:t>
                    </a:r>
                    <a:fld id="{D14BB164-35DE-4D36-9AED-07E6848CEC65}" type="VALUE">
                      <a:rPr lang="en-US" altLang="zh-CN" sz="2000" b="1" baseline="0">
                        <a:solidFill>
                          <a:schemeClr val="tx1"/>
                        </a:solidFill>
                        <a:latin typeface="Calibri" panose="020F0502020204030204" pitchFamily="34" charset="0"/>
                        <a:cs typeface="Calibri" panose="020F0502020204030204" pitchFamily="34" charset="0"/>
                      </a:rPr>
                      <a:pPr/>
                      <a:t>[值]</a:t>
                    </a:fld>
                    <a:endParaRPr lang="en-US" altLang="zh-CN" sz="2000" b="1" baseline="0" dirty="0">
                      <a:solidFill>
                        <a:schemeClr val="tx1"/>
                      </a:solidFill>
                      <a:latin typeface="Calibri" panose="020F0502020204030204" pitchFamily="34" charset="0"/>
                      <a:cs typeface="Calibri" panose="020F0502020204030204" pitchFamily="34" charset="0"/>
                    </a:endParaRPr>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C97-4CDA-AD72-DCD5B49181F6}"/>
                </c:ext>
              </c:extLst>
            </c:dLbl>
            <c:dLbl>
              <c:idx val="1"/>
              <c:layout>
                <c:manualLayout>
                  <c:x val="0.23619631021013113"/>
                  <c:y val="-0.15456613223586346"/>
                </c:manualLayout>
              </c:layout>
              <c:tx>
                <c:rich>
                  <a:bodyPr/>
                  <a:lstStyle/>
                  <a:p>
                    <a:fld id="{B5AF8EFD-5EB0-4C15-B0BD-61741A8D59B2}" type="CATEGORYNAME">
                      <a:rPr lang="en-US" altLang="zh-CN" sz="2000" b="1" smtClean="0">
                        <a:solidFill>
                          <a:schemeClr val="bg1"/>
                        </a:solidFill>
                        <a:latin typeface="Calibri" panose="020F0502020204030204" pitchFamily="34" charset="0"/>
                        <a:cs typeface="Calibri" panose="020F0502020204030204" pitchFamily="34" charset="0"/>
                      </a:rPr>
                      <a:pPr/>
                      <a:t>[类别名称]</a:t>
                    </a:fld>
                    <a:r>
                      <a:rPr lang="en-US" altLang="zh-CN" sz="2000" b="1" dirty="0">
                        <a:solidFill>
                          <a:schemeClr val="bg1"/>
                        </a:solidFill>
                        <a:latin typeface="Calibri" panose="020F0502020204030204" pitchFamily="34" charset="0"/>
                        <a:cs typeface="Calibri" panose="020F0502020204030204" pitchFamily="34" charset="0"/>
                      </a:rPr>
                      <a:t> medicine</a:t>
                    </a:r>
                    <a:r>
                      <a:rPr lang="en-US" altLang="zh-CN" sz="2000" b="1" baseline="0" dirty="0">
                        <a:solidFill>
                          <a:schemeClr val="bg1"/>
                        </a:solidFill>
                        <a:latin typeface="Calibri" panose="020F0502020204030204" pitchFamily="34" charset="0"/>
                        <a:cs typeface="Calibri" panose="020F0502020204030204" pitchFamily="34" charset="0"/>
                      </a:rPr>
                      <a:t>, </a:t>
                    </a:r>
                    <a:fld id="{04A2BA6E-15E6-42C1-A961-C75FED78E8F4}" type="VALUE">
                      <a:rPr lang="en-US" altLang="zh-CN" sz="2000" b="1" baseline="0">
                        <a:solidFill>
                          <a:schemeClr val="bg1"/>
                        </a:solidFill>
                        <a:latin typeface="Calibri" panose="020F0502020204030204" pitchFamily="34" charset="0"/>
                        <a:cs typeface="Calibri" panose="020F0502020204030204" pitchFamily="34" charset="0"/>
                      </a:rPr>
                      <a:pPr/>
                      <a:t>[值]</a:t>
                    </a:fld>
                    <a:endParaRPr lang="en-US" altLang="zh-CN" sz="2000" b="1" baseline="0" dirty="0">
                      <a:solidFill>
                        <a:schemeClr val="bg1"/>
                      </a:solidFill>
                      <a:latin typeface="Calibri" panose="020F0502020204030204" pitchFamily="34" charset="0"/>
                      <a:cs typeface="Calibri" panose="020F0502020204030204" pitchFamily="34" charset="0"/>
                    </a:endParaRPr>
                  </a:p>
                </c:rich>
              </c:tx>
              <c:showLegendKey val="0"/>
              <c:showVal val="1"/>
              <c:showCatName val="1"/>
              <c:showSerName val="0"/>
              <c:showPercent val="0"/>
              <c:showBubbleSize val="0"/>
              <c:extLst>
                <c:ext xmlns:c15="http://schemas.microsoft.com/office/drawing/2012/chart" uri="{CE6537A1-D6FC-4f65-9D91-7224C49458BB}">
                  <c15:layout>
                    <c:manualLayout>
                      <c:w val="0.4745409874357801"/>
                      <c:h val="0.2533817373116341"/>
                    </c:manualLayout>
                  </c15:layout>
                  <c15:dlblFieldTable/>
                  <c15:showDataLabelsRange val="0"/>
                </c:ext>
                <c:ext xmlns:c16="http://schemas.microsoft.com/office/drawing/2014/chart" uri="{C3380CC4-5D6E-409C-BE32-E72D297353CC}">
                  <c16:uniqueId val="{00000002-CC97-4CDA-AD72-DCD5B49181F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TCM</c:v>
                </c:pt>
                <c:pt idx="1">
                  <c:v>Western</c:v>
                </c:pt>
              </c:strCache>
            </c:strRef>
          </c:cat>
          <c:val>
            <c:numRef>
              <c:f>Sheet1!$B$2:$B$3</c:f>
              <c:numCache>
                <c:formatCode>General</c:formatCode>
                <c:ptCount val="2"/>
                <c:pt idx="0">
                  <c:v>3977</c:v>
                </c:pt>
                <c:pt idx="1">
                  <c:v>32000</c:v>
                </c:pt>
              </c:numCache>
            </c:numRef>
          </c:val>
          <c:extLst>
            <c:ext xmlns:c16="http://schemas.microsoft.com/office/drawing/2014/chart" uri="{C3380CC4-5D6E-409C-BE32-E72D297353CC}">
              <c16:uniqueId val="{00000000-CC97-4CDA-AD72-DCD5B49181F6}"/>
            </c:ext>
          </c:extLst>
        </c:ser>
        <c:dLbls>
          <c:showLegendKey val="0"/>
          <c:showVal val="1"/>
          <c:showCatName val="1"/>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45D909-B6BE-4E24-8E87-E3BB1B0650D9}"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zh-CN" altLang="en-US"/>
        </a:p>
      </dgm:t>
    </dgm:pt>
    <dgm:pt modelId="{AF5A499F-CB5F-4548-8B51-74D7426FFB36}">
      <dgm:prSet phldrT="[文本]" custT="1"/>
      <dgm:spPr/>
      <dgm:t>
        <a:bodyPr/>
        <a:lstStyle/>
        <a:p>
          <a:r>
            <a:rPr lang="en-US" altLang="zh-CN" sz="3000" b="1" i="1" dirty="0">
              <a:latin typeface="Calibri" panose="020F0502020204030204" pitchFamily="34" charset="0"/>
              <a:cs typeface="Calibri" panose="020F0502020204030204" pitchFamily="34" charset="0"/>
            </a:rPr>
            <a:t>Neol Carroll ’s Philosophy of Art</a:t>
          </a:r>
          <a:endParaRPr lang="zh-CN" altLang="en-US" sz="3000" b="1" i="1" dirty="0">
            <a:latin typeface="Calibri" panose="020F0502020204030204" pitchFamily="34" charset="0"/>
            <a:cs typeface="Calibri" panose="020F0502020204030204" pitchFamily="34" charset="0"/>
          </a:endParaRPr>
        </a:p>
      </dgm:t>
    </dgm:pt>
    <dgm:pt modelId="{D5137FFB-D827-4BF7-8194-E808076F6AA3}" type="parTrans" cxnId="{60C8061D-A8BD-463B-8B4A-6D700FE40756}">
      <dgm:prSet/>
      <dgm:spPr/>
      <dgm:t>
        <a:bodyPr/>
        <a:lstStyle/>
        <a:p>
          <a:endParaRPr lang="zh-CN" altLang="en-US"/>
        </a:p>
      </dgm:t>
    </dgm:pt>
    <dgm:pt modelId="{1A89B363-CE49-470E-BCDC-50D7130D47D8}" type="sibTrans" cxnId="{60C8061D-A8BD-463B-8B4A-6D700FE40756}">
      <dgm:prSet/>
      <dgm:spPr/>
      <dgm:t>
        <a:bodyPr/>
        <a:lstStyle/>
        <a:p>
          <a:endParaRPr lang="zh-CN" altLang="en-US"/>
        </a:p>
      </dgm:t>
    </dgm:pt>
    <dgm:pt modelId="{5A9F7F4B-E885-4EED-98E2-C250109B1ACF}">
      <dgm:prSet phldrT="[文本]" custT="1"/>
      <dgm:spPr/>
      <dgm:t>
        <a:bodyPr/>
        <a:lstStyle/>
        <a:p>
          <a:r>
            <a:rPr lang="en-US" sz="3000" dirty="0">
              <a:latin typeface="Calibri" panose="020F0502020204030204" pitchFamily="34" charset="0"/>
              <a:cs typeface="Calibri" panose="020F0502020204030204" pitchFamily="34" charset="0"/>
            </a:rPr>
            <a:t>Subject: Medicine</a:t>
          </a:r>
          <a:endParaRPr lang="zh-CN" altLang="en-US" sz="3000" dirty="0">
            <a:latin typeface="Calibri" panose="020F0502020204030204" pitchFamily="34" charset="0"/>
            <a:cs typeface="Calibri" panose="020F0502020204030204" pitchFamily="34" charset="0"/>
          </a:endParaRPr>
        </a:p>
      </dgm:t>
    </dgm:pt>
    <dgm:pt modelId="{29852390-DF16-4EDD-8652-E99430DA2549}" type="parTrans" cxnId="{767CFE7A-7EB6-4038-9DDB-2CB03F07F6F3}">
      <dgm:prSet/>
      <dgm:spPr/>
      <dgm:t>
        <a:bodyPr/>
        <a:lstStyle/>
        <a:p>
          <a:endParaRPr lang="zh-CN" altLang="en-US"/>
        </a:p>
      </dgm:t>
    </dgm:pt>
    <dgm:pt modelId="{CF33F830-4986-49AD-A77C-40DCE9F4C205}" type="sibTrans" cxnId="{767CFE7A-7EB6-4038-9DDB-2CB03F07F6F3}">
      <dgm:prSet/>
      <dgm:spPr/>
      <dgm:t>
        <a:bodyPr/>
        <a:lstStyle/>
        <a:p>
          <a:endParaRPr lang="zh-CN" altLang="en-US"/>
        </a:p>
      </dgm:t>
    </dgm:pt>
    <dgm:pt modelId="{26A9FD39-899E-4180-B8D6-EA2211A284F2}">
      <dgm:prSet phldrT="[文本]" custT="1"/>
      <dgm:spPr/>
      <dgm:t>
        <a:bodyPr/>
        <a:lstStyle/>
        <a:p>
          <a:r>
            <a:rPr lang="en-US" altLang="zh-CN" sz="3000" b="1" i="1" dirty="0">
              <a:latin typeface="Calibri" panose="020F0502020204030204" pitchFamily="34" charset="0"/>
              <a:cs typeface="Calibri" panose="020F0502020204030204" pitchFamily="34" charset="0"/>
            </a:rPr>
            <a:t>R.W. Hepburn’s Contemporary Aesthetics and the Neglect of Natural Beauty</a:t>
          </a:r>
          <a:endParaRPr lang="zh-CN" altLang="en-US" sz="3000" b="1" i="1" dirty="0">
            <a:latin typeface="Calibri" panose="020F0502020204030204" pitchFamily="34" charset="0"/>
            <a:cs typeface="Calibri" panose="020F0502020204030204" pitchFamily="34" charset="0"/>
          </a:endParaRPr>
        </a:p>
      </dgm:t>
    </dgm:pt>
    <dgm:pt modelId="{D8875EB5-E44F-4C9B-92C8-DAF7343A824C}" type="parTrans" cxnId="{CDDE4C28-3A63-4C24-9E3D-EF154D9C7830}">
      <dgm:prSet/>
      <dgm:spPr/>
      <dgm:t>
        <a:bodyPr/>
        <a:lstStyle/>
        <a:p>
          <a:endParaRPr lang="zh-CN" altLang="en-US"/>
        </a:p>
      </dgm:t>
    </dgm:pt>
    <dgm:pt modelId="{EF63AEEC-9B07-4D8F-B473-D2E3E46CAD8A}" type="sibTrans" cxnId="{CDDE4C28-3A63-4C24-9E3D-EF154D9C7830}">
      <dgm:prSet/>
      <dgm:spPr/>
      <dgm:t>
        <a:bodyPr/>
        <a:lstStyle/>
        <a:p>
          <a:endParaRPr lang="zh-CN" altLang="en-US"/>
        </a:p>
      </dgm:t>
    </dgm:pt>
    <dgm:pt modelId="{CFCDB6C9-7C12-418C-A532-5A56FFF3F013}">
      <dgm:prSet phldrT="[文本]" custT="1"/>
      <dgm:spPr/>
      <dgm:t>
        <a:bodyPr/>
        <a:lstStyle/>
        <a:p>
          <a:r>
            <a:rPr lang="en-US" altLang="zh-CN" sz="3000" b="0" dirty="0">
              <a:latin typeface="Calibri" panose="020F0502020204030204" pitchFamily="34" charset="0"/>
              <a:cs typeface="Calibri" panose="020F0502020204030204" pitchFamily="34" charset="0"/>
            </a:rPr>
            <a:t>Plurality &amp; Unity</a:t>
          </a:r>
          <a:endParaRPr lang="zh-CN" altLang="en-US" sz="3000" b="0" dirty="0">
            <a:latin typeface="Calibri" panose="020F0502020204030204" pitchFamily="34" charset="0"/>
            <a:cs typeface="Calibri" panose="020F0502020204030204" pitchFamily="34" charset="0"/>
          </a:endParaRPr>
        </a:p>
      </dgm:t>
    </dgm:pt>
    <dgm:pt modelId="{58CE9C3E-F2BB-4AFF-8F11-13A591F97412}" type="parTrans" cxnId="{B49AF665-0BE4-4CE4-870E-9D2B6E6150BF}">
      <dgm:prSet/>
      <dgm:spPr/>
      <dgm:t>
        <a:bodyPr/>
        <a:lstStyle/>
        <a:p>
          <a:endParaRPr lang="zh-CN" altLang="en-US"/>
        </a:p>
      </dgm:t>
    </dgm:pt>
    <dgm:pt modelId="{499CF08F-9F05-445E-92A8-70DB808026C8}" type="sibTrans" cxnId="{B49AF665-0BE4-4CE4-870E-9D2B6E6150BF}">
      <dgm:prSet/>
      <dgm:spPr/>
      <dgm:t>
        <a:bodyPr/>
        <a:lstStyle/>
        <a:p>
          <a:endParaRPr lang="zh-CN" altLang="en-US"/>
        </a:p>
      </dgm:t>
    </dgm:pt>
    <dgm:pt modelId="{225A94C7-D62F-4880-9D10-6E0E697ED184}">
      <dgm:prSet phldrT="[文本]" custT="1"/>
      <dgm:spPr/>
      <dgm:t>
        <a:bodyPr/>
        <a:lstStyle/>
        <a:p>
          <a:r>
            <a:rPr lang="en-US" sz="3000" dirty="0">
              <a:latin typeface="Calibri" panose="020F0502020204030204" pitchFamily="34" charset="0"/>
              <a:cs typeface="Calibri" panose="020F0502020204030204" pitchFamily="34" charset="0"/>
            </a:rPr>
            <a:t>Comment: Chinese Philosophy</a:t>
          </a:r>
          <a:endParaRPr lang="zh-CN" altLang="en-US" sz="3000" dirty="0">
            <a:latin typeface="Calibri" panose="020F0502020204030204" pitchFamily="34" charset="0"/>
            <a:cs typeface="Calibri" panose="020F0502020204030204" pitchFamily="34" charset="0"/>
          </a:endParaRPr>
        </a:p>
      </dgm:t>
    </dgm:pt>
    <dgm:pt modelId="{B84DD2B9-7414-459F-A4BC-AEF97C648133}" type="parTrans" cxnId="{741E637E-10BC-4589-A9C1-F61E13331FDC}">
      <dgm:prSet/>
      <dgm:spPr/>
      <dgm:t>
        <a:bodyPr/>
        <a:lstStyle/>
        <a:p>
          <a:endParaRPr lang="zh-CN" altLang="en-US"/>
        </a:p>
      </dgm:t>
    </dgm:pt>
    <dgm:pt modelId="{4A3EBEF8-5E9D-4D41-A556-450DE3F16EAD}" type="sibTrans" cxnId="{741E637E-10BC-4589-A9C1-F61E13331FDC}">
      <dgm:prSet/>
      <dgm:spPr/>
      <dgm:t>
        <a:bodyPr/>
        <a:lstStyle/>
        <a:p>
          <a:endParaRPr lang="zh-CN" altLang="en-US"/>
        </a:p>
      </dgm:t>
    </dgm:pt>
    <dgm:pt modelId="{129A6816-6CEE-4868-9FE3-3FDBA044236B}">
      <dgm:prSet phldrT="[文本]" custT="1"/>
      <dgm:spPr/>
      <dgm:t>
        <a:bodyPr/>
        <a:lstStyle/>
        <a:p>
          <a:r>
            <a:rPr lang="en-US" altLang="zh-CN" sz="3000" b="0" dirty="0">
              <a:latin typeface="Calibri" panose="020F0502020204030204" pitchFamily="34" charset="0"/>
              <a:cs typeface="Calibri" panose="020F0502020204030204" pitchFamily="34" charset="0"/>
            </a:rPr>
            <a:t>Frame</a:t>
          </a:r>
          <a:endParaRPr lang="zh-CN" altLang="en-US" sz="3000" b="0" dirty="0">
            <a:latin typeface="Calibri" panose="020F0502020204030204" pitchFamily="34" charset="0"/>
            <a:cs typeface="Calibri" panose="020F0502020204030204" pitchFamily="34" charset="0"/>
          </a:endParaRPr>
        </a:p>
      </dgm:t>
    </dgm:pt>
    <dgm:pt modelId="{D833712E-CBEA-478F-985B-CFE27972DBF5}" type="parTrans" cxnId="{0F95751C-EEB2-49F4-9E45-547BAB2B35A8}">
      <dgm:prSet/>
      <dgm:spPr/>
      <dgm:t>
        <a:bodyPr/>
        <a:lstStyle/>
        <a:p>
          <a:endParaRPr lang="zh-CN" altLang="en-US"/>
        </a:p>
      </dgm:t>
    </dgm:pt>
    <dgm:pt modelId="{69CCB4E0-3C1E-4527-945D-8C5984860C94}" type="sibTrans" cxnId="{0F95751C-EEB2-49F4-9E45-547BAB2B35A8}">
      <dgm:prSet/>
      <dgm:spPr/>
      <dgm:t>
        <a:bodyPr/>
        <a:lstStyle/>
        <a:p>
          <a:endParaRPr lang="zh-CN" altLang="en-US"/>
        </a:p>
      </dgm:t>
    </dgm:pt>
    <dgm:pt modelId="{545F4575-B688-4625-A925-1BD7D94E1ED6}">
      <dgm:prSet phldrT="[文本]" custT="1"/>
      <dgm:spPr/>
      <dgm:t>
        <a:bodyPr/>
        <a:lstStyle/>
        <a:p>
          <a:r>
            <a:rPr lang="en-US" altLang="zh-CN" sz="3000" b="0" dirty="0">
              <a:latin typeface="Calibri" panose="020F0502020204030204" pitchFamily="34" charset="0"/>
              <a:cs typeface="Calibri" panose="020F0502020204030204" pitchFamily="34" charset="0"/>
            </a:rPr>
            <a:t>Uncertainty &amp; Imagination</a:t>
          </a:r>
          <a:endParaRPr lang="zh-CN" altLang="en-US" sz="3000" b="0" dirty="0">
            <a:latin typeface="Calibri" panose="020F0502020204030204" pitchFamily="34" charset="0"/>
            <a:cs typeface="Calibri" panose="020F0502020204030204" pitchFamily="34" charset="0"/>
          </a:endParaRPr>
        </a:p>
      </dgm:t>
    </dgm:pt>
    <dgm:pt modelId="{4077E7F2-E491-470A-9BEE-35F45E09D0DE}" type="parTrans" cxnId="{27FC972F-81BE-411D-89A2-FD5A56577F7B}">
      <dgm:prSet/>
      <dgm:spPr/>
      <dgm:t>
        <a:bodyPr/>
        <a:lstStyle/>
        <a:p>
          <a:endParaRPr lang="zh-CN" altLang="en-US"/>
        </a:p>
      </dgm:t>
    </dgm:pt>
    <dgm:pt modelId="{9F4C4337-23EA-48A4-92D4-C12D5D77732A}" type="sibTrans" cxnId="{27FC972F-81BE-411D-89A2-FD5A56577F7B}">
      <dgm:prSet/>
      <dgm:spPr/>
      <dgm:t>
        <a:bodyPr/>
        <a:lstStyle/>
        <a:p>
          <a:endParaRPr lang="zh-CN" altLang="en-US"/>
        </a:p>
      </dgm:t>
    </dgm:pt>
    <dgm:pt modelId="{DC5CAFB8-CBC1-4DF6-9141-1AF377E4BCDC}" type="pres">
      <dgm:prSet presAssocID="{D845D909-B6BE-4E24-8E87-E3BB1B0650D9}" presName="linear" presStyleCnt="0">
        <dgm:presLayoutVars>
          <dgm:animLvl val="lvl"/>
          <dgm:resizeHandles val="exact"/>
        </dgm:presLayoutVars>
      </dgm:prSet>
      <dgm:spPr/>
    </dgm:pt>
    <dgm:pt modelId="{54E92D5C-DA02-40A0-8C65-F3A32E78BDB1}" type="pres">
      <dgm:prSet presAssocID="{AF5A499F-CB5F-4548-8B51-74D7426FFB36}" presName="parentText" presStyleLbl="node1" presStyleIdx="0" presStyleCnt="2">
        <dgm:presLayoutVars>
          <dgm:chMax val="0"/>
          <dgm:bulletEnabled val="1"/>
        </dgm:presLayoutVars>
      </dgm:prSet>
      <dgm:spPr/>
    </dgm:pt>
    <dgm:pt modelId="{F7C1EA9F-8E00-41EE-A14B-DA237C648ADF}" type="pres">
      <dgm:prSet presAssocID="{AF5A499F-CB5F-4548-8B51-74D7426FFB36}" presName="childText" presStyleLbl="revTx" presStyleIdx="0" presStyleCnt="2">
        <dgm:presLayoutVars>
          <dgm:bulletEnabled val="1"/>
        </dgm:presLayoutVars>
      </dgm:prSet>
      <dgm:spPr/>
    </dgm:pt>
    <dgm:pt modelId="{38E2ED57-64B7-468A-9F07-165BFC1FA2D1}" type="pres">
      <dgm:prSet presAssocID="{26A9FD39-899E-4180-B8D6-EA2211A284F2}" presName="parentText" presStyleLbl="node1" presStyleIdx="1" presStyleCnt="2">
        <dgm:presLayoutVars>
          <dgm:chMax val="0"/>
          <dgm:bulletEnabled val="1"/>
        </dgm:presLayoutVars>
      </dgm:prSet>
      <dgm:spPr/>
    </dgm:pt>
    <dgm:pt modelId="{F304B079-841B-4DE4-B8DA-326144279678}" type="pres">
      <dgm:prSet presAssocID="{26A9FD39-899E-4180-B8D6-EA2211A284F2}" presName="childText" presStyleLbl="revTx" presStyleIdx="1" presStyleCnt="2">
        <dgm:presLayoutVars>
          <dgm:bulletEnabled val="1"/>
        </dgm:presLayoutVars>
      </dgm:prSet>
      <dgm:spPr/>
    </dgm:pt>
  </dgm:ptLst>
  <dgm:cxnLst>
    <dgm:cxn modelId="{B5A5C211-8680-4969-A2E6-8A86262C0D2E}" type="presOf" srcId="{5A9F7F4B-E885-4EED-98E2-C250109B1ACF}" destId="{F7C1EA9F-8E00-41EE-A14B-DA237C648ADF}" srcOrd="0" destOrd="0" presId="urn:microsoft.com/office/officeart/2005/8/layout/vList2"/>
    <dgm:cxn modelId="{EA022516-2D64-4B64-B262-6932B1D8C55D}" type="presOf" srcId="{26A9FD39-899E-4180-B8D6-EA2211A284F2}" destId="{38E2ED57-64B7-468A-9F07-165BFC1FA2D1}" srcOrd="0" destOrd="0" presId="urn:microsoft.com/office/officeart/2005/8/layout/vList2"/>
    <dgm:cxn modelId="{0F95751C-EEB2-49F4-9E45-547BAB2B35A8}" srcId="{26A9FD39-899E-4180-B8D6-EA2211A284F2}" destId="{129A6816-6CEE-4868-9FE3-3FDBA044236B}" srcOrd="1" destOrd="0" parTransId="{D833712E-CBEA-478F-985B-CFE27972DBF5}" sibTransId="{69CCB4E0-3C1E-4527-945D-8C5984860C94}"/>
    <dgm:cxn modelId="{60C8061D-A8BD-463B-8B4A-6D700FE40756}" srcId="{D845D909-B6BE-4E24-8E87-E3BB1B0650D9}" destId="{AF5A499F-CB5F-4548-8B51-74D7426FFB36}" srcOrd="0" destOrd="0" parTransId="{D5137FFB-D827-4BF7-8194-E808076F6AA3}" sibTransId="{1A89B363-CE49-470E-BCDC-50D7130D47D8}"/>
    <dgm:cxn modelId="{CDDE4C28-3A63-4C24-9E3D-EF154D9C7830}" srcId="{D845D909-B6BE-4E24-8E87-E3BB1B0650D9}" destId="{26A9FD39-899E-4180-B8D6-EA2211A284F2}" srcOrd="1" destOrd="0" parTransId="{D8875EB5-E44F-4C9B-92C8-DAF7343A824C}" sibTransId="{EF63AEEC-9B07-4D8F-B473-D2E3E46CAD8A}"/>
    <dgm:cxn modelId="{23BFF22D-3DD7-48E4-A27A-48E4AB1E7880}" type="presOf" srcId="{AF5A499F-CB5F-4548-8B51-74D7426FFB36}" destId="{54E92D5C-DA02-40A0-8C65-F3A32E78BDB1}" srcOrd="0" destOrd="0" presId="urn:microsoft.com/office/officeart/2005/8/layout/vList2"/>
    <dgm:cxn modelId="{27FC972F-81BE-411D-89A2-FD5A56577F7B}" srcId="{26A9FD39-899E-4180-B8D6-EA2211A284F2}" destId="{545F4575-B688-4625-A925-1BD7D94E1ED6}" srcOrd="2" destOrd="0" parTransId="{4077E7F2-E491-470A-9BEE-35F45E09D0DE}" sibTransId="{9F4C4337-23EA-48A4-92D4-C12D5D77732A}"/>
    <dgm:cxn modelId="{26B10D42-5022-4FA7-852B-14CDAB1BB4C3}" type="presOf" srcId="{129A6816-6CEE-4868-9FE3-3FDBA044236B}" destId="{F304B079-841B-4DE4-B8DA-326144279678}" srcOrd="0" destOrd="1" presId="urn:microsoft.com/office/officeart/2005/8/layout/vList2"/>
    <dgm:cxn modelId="{B49AF665-0BE4-4CE4-870E-9D2B6E6150BF}" srcId="{26A9FD39-899E-4180-B8D6-EA2211A284F2}" destId="{CFCDB6C9-7C12-418C-A532-5A56FFF3F013}" srcOrd="0" destOrd="0" parTransId="{58CE9C3E-F2BB-4AFF-8F11-13A591F97412}" sibTransId="{499CF08F-9F05-445E-92A8-70DB808026C8}"/>
    <dgm:cxn modelId="{767CFE7A-7EB6-4038-9DDB-2CB03F07F6F3}" srcId="{AF5A499F-CB5F-4548-8B51-74D7426FFB36}" destId="{5A9F7F4B-E885-4EED-98E2-C250109B1ACF}" srcOrd="0" destOrd="0" parTransId="{29852390-DF16-4EDD-8652-E99430DA2549}" sibTransId="{CF33F830-4986-49AD-A77C-40DCE9F4C205}"/>
    <dgm:cxn modelId="{741E637E-10BC-4589-A9C1-F61E13331FDC}" srcId="{AF5A499F-CB5F-4548-8B51-74D7426FFB36}" destId="{225A94C7-D62F-4880-9D10-6E0E697ED184}" srcOrd="1" destOrd="0" parTransId="{B84DD2B9-7414-459F-A4BC-AEF97C648133}" sibTransId="{4A3EBEF8-5E9D-4D41-A556-450DE3F16EAD}"/>
    <dgm:cxn modelId="{ACFA7A8D-A117-484D-92C6-ECCEF14CC4FF}" type="presOf" srcId="{CFCDB6C9-7C12-418C-A532-5A56FFF3F013}" destId="{F304B079-841B-4DE4-B8DA-326144279678}" srcOrd="0" destOrd="0" presId="urn:microsoft.com/office/officeart/2005/8/layout/vList2"/>
    <dgm:cxn modelId="{13273D92-37E0-4CCD-8149-869B0E19FEAD}" type="presOf" srcId="{225A94C7-D62F-4880-9D10-6E0E697ED184}" destId="{F7C1EA9F-8E00-41EE-A14B-DA237C648ADF}" srcOrd="0" destOrd="1" presId="urn:microsoft.com/office/officeart/2005/8/layout/vList2"/>
    <dgm:cxn modelId="{24658FE3-F35D-4C44-90C2-F547E203F5D3}" type="presOf" srcId="{D845D909-B6BE-4E24-8E87-E3BB1B0650D9}" destId="{DC5CAFB8-CBC1-4DF6-9141-1AF377E4BCDC}" srcOrd="0" destOrd="0" presId="urn:microsoft.com/office/officeart/2005/8/layout/vList2"/>
    <dgm:cxn modelId="{70061EE4-4AC3-47CD-AE2F-3C6D318971B3}" type="presOf" srcId="{545F4575-B688-4625-A925-1BD7D94E1ED6}" destId="{F304B079-841B-4DE4-B8DA-326144279678}" srcOrd="0" destOrd="2" presId="urn:microsoft.com/office/officeart/2005/8/layout/vList2"/>
    <dgm:cxn modelId="{2F0B4028-1D4D-4476-AF9C-7469E8FF0300}" type="presParOf" srcId="{DC5CAFB8-CBC1-4DF6-9141-1AF377E4BCDC}" destId="{54E92D5C-DA02-40A0-8C65-F3A32E78BDB1}" srcOrd="0" destOrd="0" presId="urn:microsoft.com/office/officeart/2005/8/layout/vList2"/>
    <dgm:cxn modelId="{E5F367B2-5D41-4E3E-9BBF-B0EA0329B56B}" type="presParOf" srcId="{DC5CAFB8-CBC1-4DF6-9141-1AF377E4BCDC}" destId="{F7C1EA9F-8E00-41EE-A14B-DA237C648ADF}" srcOrd="1" destOrd="0" presId="urn:microsoft.com/office/officeart/2005/8/layout/vList2"/>
    <dgm:cxn modelId="{F59D7610-7B14-46AC-AB89-EA42FCF91459}" type="presParOf" srcId="{DC5CAFB8-CBC1-4DF6-9141-1AF377E4BCDC}" destId="{38E2ED57-64B7-468A-9F07-165BFC1FA2D1}" srcOrd="2" destOrd="0" presId="urn:microsoft.com/office/officeart/2005/8/layout/vList2"/>
    <dgm:cxn modelId="{CE2BA11A-A974-4076-B254-7D98E6878C05}" type="presParOf" srcId="{DC5CAFB8-CBC1-4DF6-9141-1AF377E4BCDC}" destId="{F304B079-841B-4DE4-B8DA-326144279678}"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E92D5C-DA02-40A0-8C65-F3A32E78BDB1}">
      <dsp:nvSpPr>
        <dsp:cNvPr id="0" name=""/>
        <dsp:cNvSpPr/>
      </dsp:nvSpPr>
      <dsp:spPr>
        <a:xfrm>
          <a:off x="0" y="180671"/>
          <a:ext cx="8128000" cy="12168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altLang="zh-CN" sz="3000" b="1" i="1" kern="1200" dirty="0">
              <a:latin typeface="Calibri" panose="020F0502020204030204" pitchFamily="34" charset="0"/>
              <a:cs typeface="Calibri" panose="020F0502020204030204" pitchFamily="34" charset="0"/>
            </a:rPr>
            <a:t>Neol Carroll ’s Philosophy of Art</a:t>
          </a:r>
          <a:endParaRPr lang="zh-CN" altLang="en-US" sz="3000" b="1" i="1" kern="1200" dirty="0">
            <a:latin typeface="Calibri" panose="020F0502020204030204" pitchFamily="34" charset="0"/>
            <a:cs typeface="Calibri" panose="020F0502020204030204" pitchFamily="34" charset="0"/>
          </a:endParaRPr>
        </a:p>
      </dsp:txBody>
      <dsp:txXfrm>
        <a:off x="59399" y="240070"/>
        <a:ext cx="8009202" cy="1098002"/>
      </dsp:txXfrm>
    </dsp:sp>
    <dsp:sp modelId="{F7C1EA9F-8E00-41EE-A14B-DA237C648ADF}">
      <dsp:nvSpPr>
        <dsp:cNvPr id="0" name=""/>
        <dsp:cNvSpPr/>
      </dsp:nvSpPr>
      <dsp:spPr>
        <a:xfrm>
          <a:off x="0" y="1397471"/>
          <a:ext cx="812800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8100" rIns="213360" bIns="38100" numCol="1" spcCol="1270" anchor="t" anchorCtr="0">
          <a:noAutofit/>
        </a:bodyPr>
        <a:lstStyle/>
        <a:p>
          <a:pPr marL="285750" lvl="1" indent="-285750" algn="l" defTabSz="1333500">
            <a:lnSpc>
              <a:spcPct val="90000"/>
            </a:lnSpc>
            <a:spcBef>
              <a:spcPct val="0"/>
            </a:spcBef>
            <a:spcAft>
              <a:spcPct val="20000"/>
            </a:spcAft>
            <a:buChar char="•"/>
          </a:pPr>
          <a:r>
            <a:rPr lang="en-US" sz="3000" kern="1200" dirty="0">
              <a:latin typeface="Calibri" panose="020F0502020204030204" pitchFamily="34" charset="0"/>
              <a:cs typeface="Calibri" panose="020F0502020204030204" pitchFamily="34" charset="0"/>
            </a:rPr>
            <a:t>Subject: Medicine</a:t>
          </a:r>
          <a:endParaRPr lang="zh-CN" altLang="en-US" sz="3000" kern="1200" dirty="0">
            <a:latin typeface="Calibri" panose="020F0502020204030204" pitchFamily="34" charset="0"/>
            <a:cs typeface="Calibri" panose="020F0502020204030204" pitchFamily="34" charset="0"/>
          </a:endParaRPr>
        </a:p>
        <a:p>
          <a:pPr marL="285750" lvl="1" indent="-285750" algn="l" defTabSz="1333500">
            <a:lnSpc>
              <a:spcPct val="90000"/>
            </a:lnSpc>
            <a:spcBef>
              <a:spcPct val="0"/>
            </a:spcBef>
            <a:spcAft>
              <a:spcPct val="20000"/>
            </a:spcAft>
            <a:buChar char="•"/>
          </a:pPr>
          <a:r>
            <a:rPr lang="en-US" sz="3000" kern="1200" dirty="0">
              <a:latin typeface="Calibri" panose="020F0502020204030204" pitchFamily="34" charset="0"/>
              <a:cs typeface="Calibri" panose="020F0502020204030204" pitchFamily="34" charset="0"/>
            </a:rPr>
            <a:t>Comment: Chinese Philosophy</a:t>
          </a:r>
          <a:endParaRPr lang="zh-CN" altLang="en-US" sz="3000" kern="1200" dirty="0">
            <a:latin typeface="Calibri" panose="020F0502020204030204" pitchFamily="34" charset="0"/>
            <a:cs typeface="Calibri" panose="020F0502020204030204" pitchFamily="34" charset="0"/>
          </a:endParaRPr>
        </a:p>
      </dsp:txBody>
      <dsp:txXfrm>
        <a:off x="0" y="1397471"/>
        <a:ext cx="8128000" cy="1076400"/>
      </dsp:txXfrm>
    </dsp:sp>
    <dsp:sp modelId="{38E2ED57-64B7-468A-9F07-165BFC1FA2D1}">
      <dsp:nvSpPr>
        <dsp:cNvPr id="0" name=""/>
        <dsp:cNvSpPr/>
      </dsp:nvSpPr>
      <dsp:spPr>
        <a:xfrm>
          <a:off x="0" y="2473871"/>
          <a:ext cx="8128000" cy="121680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altLang="zh-CN" sz="3000" b="1" i="1" kern="1200" dirty="0">
              <a:latin typeface="Calibri" panose="020F0502020204030204" pitchFamily="34" charset="0"/>
              <a:cs typeface="Calibri" panose="020F0502020204030204" pitchFamily="34" charset="0"/>
            </a:rPr>
            <a:t>R.W. Hepburn’s Contemporary Aesthetics and the Neglect of Natural Beauty</a:t>
          </a:r>
          <a:endParaRPr lang="zh-CN" altLang="en-US" sz="3000" b="1" i="1" kern="1200" dirty="0">
            <a:latin typeface="Calibri" panose="020F0502020204030204" pitchFamily="34" charset="0"/>
            <a:cs typeface="Calibri" panose="020F0502020204030204" pitchFamily="34" charset="0"/>
          </a:endParaRPr>
        </a:p>
      </dsp:txBody>
      <dsp:txXfrm>
        <a:off x="59399" y="2533270"/>
        <a:ext cx="8009202" cy="1098002"/>
      </dsp:txXfrm>
    </dsp:sp>
    <dsp:sp modelId="{F304B079-841B-4DE4-B8DA-326144279678}">
      <dsp:nvSpPr>
        <dsp:cNvPr id="0" name=""/>
        <dsp:cNvSpPr/>
      </dsp:nvSpPr>
      <dsp:spPr>
        <a:xfrm>
          <a:off x="0" y="3690671"/>
          <a:ext cx="8128000" cy="15473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38100" rIns="213360" bIns="38100" numCol="1" spcCol="1270" anchor="t" anchorCtr="0">
          <a:noAutofit/>
        </a:bodyPr>
        <a:lstStyle/>
        <a:p>
          <a:pPr marL="285750" lvl="1" indent="-285750" algn="l" defTabSz="1333500">
            <a:lnSpc>
              <a:spcPct val="90000"/>
            </a:lnSpc>
            <a:spcBef>
              <a:spcPct val="0"/>
            </a:spcBef>
            <a:spcAft>
              <a:spcPct val="20000"/>
            </a:spcAft>
            <a:buChar char="•"/>
          </a:pPr>
          <a:r>
            <a:rPr lang="en-US" altLang="zh-CN" sz="3000" b="0" kern="1200" dirty="0">
              <a:latin typeface="Calibri" panose="020F0502020204030204" pitchFamily="34" charset="0"/>
              <a:cs typeface="Calibri" panose="020F0502020204030204" pitchFamily="34" charset="0"/>
            </a:rPr>
            <a:t>Plurality &amp; Unity</a:t>
          </a:r>
          <a:endParaRPr lang="zh-CN" altLang="en-US" sz="3000" b="0" kern="1200" dirty="0">
            <a:latin typeface="Calibri" panose="020F0502020204030204" pitchFamily="34" charset="0"/>
            <a:cs typeface="Calibri" panose="020F0502020204030204" pitchFamily="34" charset="0"/>
          </a:endParaRPr>
        </a:p>
        <a:p>
          <a:pPr marL="285750" lvl="1" indent="-285750" algn="l" defTabSz="1333500">
            <a:lnSpc>
              <a:spcPct val="90000"/>
            </a:lnSpc>
            <a:spcBef>
              <a:spcPct val="0"/>
            </a:spcBef>
            <a:spcAft>
              <a:spcPct val="20000"/>
            </a:spcAft>
            <a:buChar char="•"/>
          </a:pPr>
          <a:r>
            <a:rPr lang="en-US" altLang="zh-CN" sz="3000" b="0" kern="1200" dirty="0">
              <a:latin typeface="Calibri" panose="020F0502020204030204" pitchFamily="34" charset="0"/>
              <a:cs typeface="Calibri" panose="020F0502020204030204" pitchFamily="34" charset="0"/>
            </a:rPr>
            <a:t>Frame</a:t>
          </a:r>
          <a:endParaRPr lang="zh-CN" altLang="en-US" sz="3000" b="0" kern="1200" dirty="0">
            <a:latin typeface="Calibri" panose="020F0502020204030204" pitchFamily="34" charset="0"/>
            <a:cs typeface="Calibri" panose="020F0502020204030204" pitchFamily="34" charset="0"/>
          </a:endParaRPr>
        </a:p>
        <a:p>
          <a:pPr marL="285750" lvl="1" indent="-285750" algn="l" defTabSz="1333500">
            <a:lnSpc>
              <a:spcPct val="90000"/>
            </a:lnSpc>
            <a:spcBef>
              <a:spcPct val="0"/>
            </a:spcBef>
            <a:spcAft>
              <a:spcPct val="20000"/>
            </a:spcAft>
            <a:buChar char="•"/>
          </a:pPr>
          <a:r>
            <a:rPr lang="en-US" altLang="zh-CN" sz="3000" b="0" kern="1200" dirty="0">
              <a:latin typeface="Calibri" panose="020F0502020204030204" pitchFamily="34" charset="0"/>
              <a:cs typeface="Calibri" panose="020F0502020204030204" pitchFamily="34" charset="0"/>
            </a:rPr>
            <a:t>Uncertainty &amp; Imagination</a:t>
          </a:r>
          <a:endParaRPr lang="zh-CN" altLang="en-US" sz="3000" b="0" kern="1200" dirty="0">
            <a:latin typeface="Calibri" panose="020F0502020204030204" pitchFamily="34" charset="0"/>
            <a:cs typeface="Calibri" panose="020F0502020204030204" pitchFamily="34" charset="0"/>
          </a:endParaRPr>
        </a:p>
      </dsp:txBody>
      <dsp:txXfrm>
        <a:off x="0" y="3690671"/>
        <a:ext cx="8128000" cy="15473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F3CB68-396E-40F8-BB04-BFCF1B1A50BE}" type="datetimeFigureOut">
              <a:rPr lang="zh-CN" altLang="en-US" smtClean="0"/>
              <a:t>2020/6/15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999E81-8E5F-4678-BD4E-2DB1F57B25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Hi, everyone, I’m </a:t>
            </a:r>
            <a:r>
              <a:rPr lang="en-US" altLang="zh-CN" dirty="0" err="1"/>
              <a:t>Chongdan</a:t>
            </a:r>
            <a:r>
              <a:rPr lang="en-US" altLang="zh-CN" dirty="0"/>
              <a:t> Pan from Group 3 Blank, I’m going to argue that Traditional Chinese Medicine is an art.</a:t>
            </a:r>
            <a:endParaRPr lang="zh-CN" altLang="en-US" dirty="0"/>
          </a:p>
        </p:txBody>
      </p:sp>
      <p:sp>
        <p:nvSpPr>
          <p:cNvPr id="4" name="灯片编号占位符 3"/>
          <p:cNvSpPr>
            <a:spLocks noGrp="1"/>
          </p:cNvSpPr>
          <p:nvPr>
            <p:ph type="sldNum" sz="quarter" idx="5"/>
          </p:nvPr>
        </p:nvSpPr>
        <p:spPr/>
        <p:txBody>
          <a:bodyPr/>
          <a:lstStyle/>
          <a:p>
            <a:fld id="{73999E81-8E5F-4678-BD4E-2DB1F57B256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FF0000"/>
                </a:solidFill>
              </a:rPr>
              <a:t>Traditional Chinese medicine, is also known as TCM, originated from Chinese philosophy, which considers human body a part of nature. Both the universe and human body is composed of constantly changing abstract elements. However, western medicine is from chemical science. Therefore, western relies much on data, while TCM is qualitative.</a:t>
            </a:r>
          </a:p>
        </p:txBody>
      </p:sp>
      <p:sp>
        <p:nvSpPr>
          <p:cNvPr id="4" name="灯片编号占位符 3"/>
          <p:cNvSpPr>
            <a:spLocks noGrp="1"/>
          </p:cNvSpPr>
          <p:nvPr>
            <p:ph type="sldNum" sz="quarter" idx="5"/>
          </p:nvPr>
        </p:nvSpPr>
        <p:spPr/>
        <p:txBody>
          <a:bodyPr/>
          <a:lstStyle/>
          <a:p>
            <a:fld id="{73999E81-8E5F-4678-BD4E-2DB1F57B256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FF0000"/>
                </a:solidFill>
              </a:rPr>
              <a:t>But why we neglect TCM? The left graph shows the hospital distribution in China. Even in the origin there are far more western medicine hospitals than TCM. So our conventional perception to medicine is majorly formed by the western medicine and science. The original work of TCM is another barrier to our understanding for TCM, because they’re difficult to read.</a:t>
            </a:r>
          </a:p>
        </p:txBody>
      </p:sp>
      <p:sp>
        <p:nvSpPr>
          <p:cNvPr id="4" name="灯片编号占位符 3"/>
          <p:cNvSpPr>
            <a:spLocks noGrp="1"/>
          </p:cNvSpPr>
          <p:nvPr>
            <p:ph type="sldNum" sz="quarter" idx="5"/>
          </p:nvPr>
        </p:nvSpPr>
        <p:spPr/>
        <p:txBody>
          <a:bodyPr/>
          <a:lstStyle/>
          <a:p>
            <a:fld id="{73999E81-8E5F-4678-BD4E-2DB1F57B256D}" type="slidenum">
              <a:rPr lang="zh-CN" altLang="en-US" smtClean="0"/>
              <a:t>3</a:t>
            </a:fld>
            <a:endParaRPr lang="zh-CN" altLang="en-US"/>
          </a:p>
        </p:txBody>
      </p:sp>
    </p:spTree>
    <p:extLst>
      <p:ext uri="{BB962C8B-B14F-4D97-AF65-F5344CB8AC3E}">
        <p14:creationId xmlns:p14="http://schemas.microsoft.com/office/powerpoint/2010/main" val="941906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FF0000"/>
                </a:solidFill>
              </a:rPr>
              <a:t>But we can find art in its difficult literature. Huangdi Neijing is considered as the ancestor of TCM. Different from common science book, its words has </a:t>
            </a:r>
            <a:r>
              <a:rPr lang="en-US" altLang="zh-CN" sz="1200" b="0" i="0" kern="1200" dirty="0">
                <a:solidFill>
                  <a:schemeClr val="tx1"/>
                </a:solidFill>
                <a:effectLst/>
                <a:latin typeface="+mn-lt"/>
                <a:ea typeface="+mn-ea"/>
                <a:cs typeface="+mn-cs"/>
              </a:rPr>
              <a:t>neat and balanced form, melodious and harmonious rhythm, making it more like a literary and artistic work. In addition, there many legendary doctors with mythical stories in the TCM’s history, for example, Hua </a:t>
            </a:r>
            <a:r>
              <a:rPr lang="en-US" altLang="zh-CN" sz="1200" b="0" i="0" kern="1200" dirty="0" err="1">
                <a:solidFill>
                  <a:schemeClr val="tx1"/>
                </a:solidFill>
                <a:effectLst/>
                <a:latin typeface="+mn-lt"/>
                <a:ea typeface="+mn-ea"/>
                <a:cs typeface="+mn-cs"/>
              </a:rPr>
              <a:t>Tuo</a:t>
            </a:r>
            <a:r>
              <a:rPr lang="en-US" altLang="zh-CN" sz="1200" b="0" i="0" kern="1200" dirty="0">
                <a:solidFill>
                  <a:schemeClr val="tx1"/>
                </a:solidFill>
                <a:effectLst/>
                <a:latin typeface="+mn-lt"/>
                <a:ea typeface="+mn-ea"/>
                <a:cs typeface="+mn-cs"/>
              </a:rPr>
              <a:t> and </a:t>
            </a:r>
            <a:r>
              <a:rPr lang="en-US" altLang="zh-CN" sz="1200" b="0" i="0" kern="1200" dirty="0" err="1">
                <a:solidFill>
                  <a:schemeClr val="tx1"/>
                </a:solidFill>
                <a:effectLst/>
                <a:latin typeface="+mn-lt"/>
                <a:ea typeface="+mn-ea"/>
                <a:cs typeface="+mn-cs"/>
              </a:rPr>
              <a:t>Bian</a:t>
            </a:r>
            <a:r>
              <a:rPr lang="en-US" altLang="zh-CN" sz="1200" b="0" i="0" kern="1200" dirty="0">
                <a:solidFill>
                  <a:schemeClr val="tx1"/>
                </a:solidFill>
                <a:effectLst/>
                <a:latin typeface="+mn-lt"/>
                <a:ea typeface="+mn-ea"/>
                <a:cs typeface="+mn-cs"/>
              </a:rPr>
              <a:t> Que, are commonly believed as miracle-working doctor, who can treat any disease with mysterious prescription. No matter whether these stories are true, they can arouse our curiosity as well as exclamation. </a:t>
            </a:r>
            <a:r>
              <a:rPr lang="en-US" altLang="zh-CN" dirty="0">
                <a:solidFill>
                  <a:srgbClr val="FF0000"/>
                </a:solidFill>
              </a:rPr>
              <a:t>Artistic expression is also widely used terminology. For example, the word </a:t>
            </a:r>
            <a:r>
              <a:rPr lang="zh-CN" altLang="en-US" dirty="0">
                <a:solidFill>
                  <a:srgbClr val="FF0000"/>
                </a:solidFill>
              </a:rPr>
              <a:t>上火</a:t>
            </a:r>
            <a:r>
              <a:rPr lang="en-US" altLang="zh-CN" dirty="0">
                <a:solidFill>
                  <a:srgbClr val="FF0000"/>
                </a:solidFill>
              </a:rPr>
              <a:t>, which is on fire in English, can be used to describe symptoms like inflammation in TCM. Although our body can’t actually burn inside, word “on fire” can express our feeling vividly when we have physical pain inside.</a:t>
            </a:r>
          </a:p>
        </p:txBody>
      </p:sp>
      <p:sp>
        <p:nvSpPr>
          <p:cNvPr id="4" name="灯片编号占位符 3"/>
          <p:cNvSpPr>
            <a:spLocks noGrp="1"/>
          </p:cNvSpPr>
          <p:nvPr>
            <p:ph type="sldNum" sz="quarter" idx="5"/>
          </p:nvPr>
        </p:nvSpPr>
        <p:spPr/>
        <p:txBody>
          <a:bodyPr/>
          <a:lstStyle/>
          <a:p>
            <a:fld id="{73999E81-8E5F-4678-BD4E-2DB1F57B256D}" type="slidenum">
              <a:rPr lang="zh-CN" altLang="en-US" smtClean="0"/>
              <a:t>4</a:t>
            </a:fld>
            <a:endParaRPr lang="zh-CN" altLang="en-US"/>
          </a:p>
        </p:txBody>
      </p:sp>
    </p:spTree>
    <p:extLst>
      <p:ext uri="{BB962C8B-B14F-4D97-AF65-F5344CB8AC3E}">
        <p14:creationId xmlns:p14="http://schemas.microsoft.com/office/powerpoint/2010/main" val="806025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FF0000"/>
                </a:solidFill>
              </a:rPr>
              <a:t>In TCM’s philosophy, it argues that, essentially everything is generated from the same abstract thing called chi. So it is designed to unify and explain the world and human in one principle. Therefore, TCM tends to use natural to treat against disease rather than synthetic polymers.  Although TCM seldom depends on data, it can readily treat some chronic disease, which are extremely intractable for western medicine. There goes a saying “Great artwork needs no work”, perhaps TCM can be described as well ”Great medicine needs no medicine”.</a:t>
            </a:r>
          </a:p>
        </p:txBody>
      </p:sp>
      <p:sp>
        <p:nvSpPr>
          <p:cNvPr id="4" name="灯片编号占位符 3"/>
          <p:cNvSpPr>
            <a:spLocks noGrp="1"/>
          </p:cNvSpPr>
          <p:nvPr>
            <p:ph type="sldNum" sz="quarter" idx="5"/>
          </p:nvPr>
        </p:nvSpPr>
        <p:spPr/>
        <p:txBody>
          <a:bodyPr/>
          <a:lstStyle/>
          <a:p>
            <a:fld id="{73999E81-8E5F-4678-BD4E-2DB1F57B256D}" type="slidenum">
              <a:rPr lang="zh-CN" altLang="en-US" smtClean="0"/>
              <a:t>5</a:t>
            </a:fld>
            <a:endParaRPr lang="zh-CN" altLang="en-US"/>
          </a:p>
        </p:txBody>
      </p:sp>
    </p:spTree>
    <p:extLst>
      <p:ext uri="{BB962C8B-B14F-4D97-AF65-F5344CB8AC3E}">
        <p14:creationId xmlns:p14="http://schemas.microsoft.com/office/powerpoint/2010/main" val="249976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FF0000"/>
                </a:solidFill>
              </a:rPr>
              <a:t>The theory also states that everything is associated with interactions of five elements. The five elements are changing constantly and connected together, hence treatments in TCM philosophy also vary with each individual. For TCM doctors, they concentrate on using different ways to achieve balance and harmony of the five elements in human body, rather than treat specific disease. Therefore, TCM is plural in treatments, and the pursue for harmonious makes it more like an aesthetic experience. Due to plurality, treatment in TCM requires imagination as well as experience. With imagination and creation, TCM treatment is more like an art rather than a therapy. </a:t>
            </a:r>
          </a:p>
        </p:txBody>
      </p:sp>
      <p:sp>
        <p:nvSpPr>
          <p:cNvPr id="4" name="灯片编号占位符 3"/>
          <p:cNvSpPr>
            <a:spLocks noGrp="1"/>
          </p:cNvSpPr>
          <p:nvPr>
            <p:ph type="sldNum" sz="quarter" idx="5"/>
          </p:nvPr>
        </p:nvSpPr>
        <p:spPr/>
        <p:txBody>
          <a:bodyPr/>
          <a:lstStyle/>
          <a:p>
            <a:fld id="{73999E81-8E5F-4678-BD4E-2DB1F57B256D}" type="slidenum">
              <a:rPr lang="zh-CN" altLang="en-US" smtClean="0"/>
              <a:t>6</a:t>
            </a:fld>
            <a:endParaRPr lang="zh-CN" altLang="en-US"/>
          </a:p>
        </p:txBody>
      </p:sp>
    </p:spTree>
    <p:extLst>
      <p:ext uri="{BB962C8B-B14F-4D97-AF65-F5344CB8AC3E}">
        <p14:creationId xmlns:p14="http://schemas.microsoft.com/office/powerpoint/2010/main" val="2580457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We can also regard TCM as art through arguments from our readings. According to Neo Representation theory, TCM is an artwork, because it has an object, which is medicine, and it uses Chinese Philosophy express its opinion to medicine. In Hepburn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 article, he claims that aesthetics is at the point between plurality and unity, which are both contained in TCM’s philosophy. Besides, TCM is like a combination of natural beauty and normal artworks. For normal people, its complexity and mystique build a frame like artwork, while for doctors, TCM has beauty like nature, due to its uncertainty and requirement for imagination in practice. </a:t>
            </a:r>
            <a:endParaRPr lang="en-US" altLang="zh-CN" dirty="0">
              <a:solidFill>
                <a:srgbClr val="FF0000"/>
              </a:solidFill>
            </a:endParaRPr>
          </a:p>
        </p:txBody>
      </p:sp>
      <p:sp>
        <p:nvSpPr>
          <p:cNvPr id="4" name="灯片编号占位符 3"/>
          <p:cNvSpPr>
            <a:spLocks noGrp="1"/>
          </p:cNvSpPr>
          <p:nvPr>
            <p:ph type="sldNum" sz="quarter" idx="5"/>
          </p:nvPr>
        </p:nvSpPr>
        <p:spPr/>
        <p:txBody>
          <a:bodyPr/>
          <a:lstStyle/>
          <a:p>
            <a:fld id="{73999E81-8E5F-4678-BD4E-2DB1F57B256D}" type="slidenum">
              <a:rPr lang="zh-CN" altLang="en-US" smtClean="0"/>
              <a:t>7</a:t>
            </a:fld>
            <a:endParaRPr lang="zh-CN" altLang="en-US"/>
          </a:p>
        </p:txBody>
      </p:sp>
    </p:spTree>
    <p:extLst>
      <p:ext uri="{BB962C8B-B14F-4D97-AF65-F5344CB8AC3E}">
        <p14:creationId xmlns:p14="http://schemas.microsoft.com/office/powerpoint/2010/main" val="4169389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745898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261654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zh-CN" altLang="en-US"/>
              <a:t>单击此处编辑母版标题样式</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669702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1523134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913795" y="2912232"/>
            <a:ext cx="5107208" cy="287896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912232"/>
            <a:ext cx="5095357" cy="287896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2076019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229045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2542477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zh-CN" altLang="en-US"/>
              <a:t>单击此处编辑母版标题样式</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1659923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987629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149776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284820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57CCD8-A0E9-4DC9-AC97-4C4CDB923757}" type="slidenum">
              <a:rPr lang="zh-CN" altLang="en-US" smtClean="0"/>
              <a:t>‹#›</a:t>
            </a:fld>
            <a:endParaRPr lang="zh-CN" alt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222354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25480542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zh-CN" altLang="en-US"/>
              <a:t>单击此处编辑母版标题样式</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36951692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zh-CN" altLang="en-US"/>
              <a:t>单击此处编辑母版标题样式</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3596230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13277948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C67F34C-BBE5-422E-A9AD-E01F6E379145}" type="datetimeFigureOut">
              <a:rPr lang="zh-CN" altLang="en-US" smtClean="0"/>
              <a:t>2020/6/15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3820241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C67F34C-BBE5-422E-A9AD-E01F6E379145}" type="datetimeFigureOut">
              <a:rPr lang="zh-CN" altLang="en-US" smtClean="0"/>
              <a:t>2020/6/15</a:t>
            </a:fld>
            <a:endParaRPr lang="zh-CN" alt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A257CCD8-A0E9-4DC9-AC97-4C4CDB923757}" type="slidenum">
              <a:rPr lang="zh-CN" altLang="en-US" smtClean="0"/>
              <a:t>‹#›</a:t>
            </a:fld>
            <a:endParaRPr lang="zh-CN" altLang="en-US"/>
          </a:p>
        </p:txBody>
      </p:sp>
    </p:spTree>
    <p:extLst>
      <p:ext uri="{BB962C8B-B14F-4D97-AF65-F5344CB8AC3E}">
        <p14:creationId xmlns:p14="http://schemas.microsoft.com/office/powerpoint/2010/main" val="119484374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a:stretch>
            <a:fillRect/>
          </a:stretch>
        </p:blipFill>
        <p:spPr>
          <a:xfrm>
            <a:off x="10951200" y="5836340"/>
            <a:ext cx="1086598" cy="877470"/>
          </a:xfrm>
          <a:prstGeom prst="rect">
            <a:avLst/>
          </a:prstGeom>
        </p:spPr>
      </p:pic>
      <p:grpSp>
        <p:nvGrpSpPr>
          <p:cNvPr id="4" name="组合 3"/>
          <p:cNvGrpSpPr/>
          <p:nvPr/>
        </p:nvGrpSpPr>
        <p:grpSpPr>
          <a:xfrm>
            <a:off x="842693" y="2016596"/>
            <a:ext cx="10506614" cy="2674550"/>
            <a:chOff x="842693" y="2016596"/>
            <a:chExt cx="10506614" cy="2674550"/>
          </a:xfrm>
        </p:grpSpPr>
        <p:grpSp>
          <p:nvGrpSpPr>
            <p:cNvPr id="12" name="组合 11"/>
            <p:cNvGrpSpPr/>
            <p:nvPr/>
          </p:nvGrpSpPr>
          <p:grpSpPr>
            <a:xfrm>
              <a:off x="842693" y="2016596"/>
              <a:ext cx="10506614" cy="2328318"/>
              <a:chOff x="793650" y="1613396"/>
              <a:chExt cx="10506614" cy="2328318"/>
            </a:xfrm>
          </p:grpSpPr>
          <p:grpSp>
            <p:nvGrpSpPr>
              <p:cNvPr id="9" name="组合 8"/>
              <p:cNvGrpSpPr/>
              <p:nvPr/>
            </p:nvGrpSpPr>
            <p:grpSpPr>
              <a:xfrm>
                <a:off x="793650" y="2579818"/>
                <a:ext cx="10506614" cy="1361896"/>
                <a:chOff x="793650" y="2579818"/>
                <a:chExt cx="10506614" cy="1361896"/>
              </a:xfrm>
            </p:grpSpPr>
            <p:sp>
              <p:nvSpPr>
                <p:cNvPr id="6" name="标题 1"/>
                <p:cNvSpPr txBox="1"/>
                <p:nvPr/>
              </p:nvSpPr>
              <p:spPr>
                <a:xfrm>
                  <a:off x="793650" y="2741385"/>
                  <a:ext cx="3871894" cy="1200329"/>
                </a:xfrm>
                <a:prstGeom prst="rect">
                  <a:avLst/>
                </a:prstGeom>
              </p:spPr>
              <p:txBody>
                <a:bodyPr vert="horz" wrap="non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4000" b="1" dirty="0">
                      <a:latin typeface="Calibri" panose="020F0502020204030204" pitchFamily="34" charset="0"/>
                      <a:ea typeface="幼圆" panose="02010509060101010101" pitchFamily="49" charset="-122"/>
                      <a:cs typeface="Calibri" panose="020F0502020204030204" pitchFamily="34" charset="0"/>
                    </a:rPr>
                    <a:t>VR251 Aesthetics</a:t>
                  </a:r>
                </a:p>
                <a:p>
                  <a:pPr algn="l"/>
                  <a:r>
                    <a:rPr lang="en-US" altLang="zh-CN" sz="4000" b="1" dirty="0">
                      <a:latin typeface="Calibri" panose="020F0502020204030204" pitchFamily="34" charset="0"/>
                      <a:cs typeface="Calibri" panose="020F0502020204030204" pitchFamily="34" charset="0"/>
                    </a:rPr>
                    <a:t>Group 3 Blank</a:t>
                  </a:r>
                  <a:endParaRPr lang="zh-CN" altLang="en-US" sz="4000" b="1" dirty="0">
                    <a:latin typeface="Calibri" panose="020F0502020204030204" pitchFamily="34" charset="0"/>
                    <a:cs typeface="Calibri" panose="020F0502020204030204" pitchFamily="34" charset="0"/>
                  </a:endParaRPr>
                </a:p>
              </p:txBody>
            </p:sp>
            <p:cxnSp>
              <p:nvCxnSpPr>
                <p:cNvPr id="8" name="直接连接符 7"/>
                <p:cNvCxnSpPr/>
                <p:nvPr/>
              </p:nvCxnSpPr>
              <p:spPr>
                <a:xfrm>
                  <a:off x="891735" y="2579818"/>
                  <a:ext cx="10408529"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793650" y="1613396"/>
                <a:ext cx="10408529" cy="861774"/>
              </a:xfrm>
              <a:prstGeom prst="rect">
                <a:avLst/>
              </a:prstGeom>
              <a:noFill/>
            </p:spPr>
            <p:txBody>
              <a:bodyPr wrap="square" rtlCol="0">
                <a:spAutoFit/>
              </a:bodyPr>
              <a:lstStyle/>
              <a:p>
                <a:r>
                  <a:rPr lang="en-US" altLang="zh-CN" sz="5000" b="1" dirty="0">
                    <a:latin typeface="Calibri" panose="020F0502020204030204" pitchFamily="34" charset="0"/>
                    <a:ea typeface="幼圆" panose="02010509060101010101" pitchFamily="49" charset="-122"/>
                    <a:cs typeface="Calibri" panose="020F0502020204030204" pitchFamily="34" charset="0"/>
                  </a:rPr>
                  <a:t>Art Apologist Presentation</a:t>
                </a:r>
                <a:endParaRPr lang="zh-CN" altLang="en-US" sz="5000" dirty="0">
                  <a:latin typeface="Calibri" panose="020F0502020204030204" pitchFamily="34" charset="0"/>
                  <a:ea typeface="幼圆" panose="02010509060101010101" pitchFamily="49" charset="-122"/>
                  <a:cs typeface="Calibri" panose="020F0502020204030204" pitchFamily="34" charset="0"/>
                </a:endParaRPr>
              </a:p>
            </p:txBody>
          </p:sp>
        </p:grpSp>
        <p:sp>
          <p:nvSpPr>
            <p:cNvPr id="3" name="文本框 2"/>
            <p:cNvSpPr txBox="1"/>
            <p:nvPr/>
          </p:nvSpPr>
          <p:spPr>
            <a:xfrm>
              <a:off x="842693" y="4321814"/>
              <a:ext cx="1552989" cy="369332"/>
            </a:xfrm>
            <a:prstGeom prst="rect">
              <a:avLst/>
            </a:prstGeom>
            <a:noFill/>
          </p:spPr>
          <p:txBody>
            <a:bodyPr wrap="none" rtlCol="0">
              <a:spAutoFit/>
            </a:bodyPr>
            <a:lstStyle/>
            <a:p>
              <a:r>
                <a:rPr lang="en-US" altLang="zh-CN" b="1" dirty="0" err="1">
                  <a:latin typeface="Calibri" panose="020F0502020204030204" pitchFamily="34" charset="0"/>
                  <a:cs typeface="Calibri" panose="020F0502020204030204" pitchFamily="34" charset="0"/>
                </a:rPr>
                <a:t>Chongdan</a:t>
              </a:r>
              <a:r>
                <a:rPr lang="en-US" altLang="zh-CN" b="1" dirty="0">
                  <a:latin typeface="Calibri" panose="020F0502020204030204" pitchFamily="34" charset="0"/>
                  <a:cs typeface="Calibri" panose="020F0502020204030204" pitchFamily="34" charset="0"/>
                </a:rPr>
                <a:t> Pan</a:t>
              </a:r>
            </a:p>
          </p:txBody>
        </p:sp>
      </p:grpSp>
    </p:spTree>
  </p:cSld>
  <p:clrMapOvr>
    <a:masterClrMapping/>
  </p:clrMapOvr>
  <p:transition>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3"/>
          <a:stretch>
            <a:fillRect/>
          </a:stretch>
        </p:blipFill>
        <p:spPr>
          <a:xfrm>
            <a:off x="10951200" y="5836340"/>
            <a:ext cx="1086598" cy="877470"/>
          </a:xfrm>
          <a:prstGeom prst="rect">
            <a:avLst/>
          </a:prstGeom>
        </p:spPr>
      </p:pic>
      <p:sp>
        <p:nvSpPr>
          <p:cNvPr id="20" name="文本框 19"/>
          <p:cNvSpPr txBox="1"/>
          <p:nvPr/>
        </p:nvSpPr>
        <p:spPr>
          <a:xfrm>
            <a:off x="433499" y="215868"/>
            <a:ext cx="10671653" cy="707886"/>
          </a:xfrm>
          <a:prstGeom prst="rect">
            <a:avLst/>
          </a:prstGeom>
          <a:noFill/>
        </p:spPr>
        <p:txBody>
          <a:bodyPr wrap="square" rtlCol="0">
            <a:spAutoFit/>
          </a:bodyPr>
          <a:lstStyle/>
          <a:p>
            <a:r>
              <a:rPr lang="en-US" altLang="zh-CN" sz="4000" b="1" dirty="0">
                <a:solidFill>
                  <a:schemeClr val="tx2"/>
                </a:solidFill>
                <a:latin typeface="Calibri" panose="020F0502020204030204" pitchFamily="34" charset="0"/>
                <a:cs typeface="Calibri" panose="020F0502020204030204" pitchFamily="34" charset="0"/>
              </a:rPr>
              <a:t>Introduction</a:t>
            </a:r>
            <a:endParaRPr lang="zh-CN" altLang="en-US" dirty="0">
              <a:solidFill>
                <a:schemeClr val="tx2"/>
              </a:solidFill>
              <a:latin typeface="Calibri" panose="020F0502020204030204" pitchFamily="34" charset="0"/>
              <a:cs typeface="Calibri" panose="020F0502020204030204" pitchFamily="34" charset="0"/>
            </a:endParaRPr>
          </a:p>
        </p:txBody>
      </p:sp>
      <p:sp>
        <p:nvSpPr>
          <p:cNvPr id="12" name="文本框 11">
            <a:extLst>
              <a:ext uri="{FF2B5EF4-FFF2-40B4-BE49-F238E27FC236}">
                <a16:creationId xmlns:a16="http://schemas.microsoft.com/office/drawing/2014/main" id="{F098567C-5826-4B43-9C8D-0A3E0741AE50}"/>
              </a:ext>
            </a:extLst>
          </p:cNvPr>
          <p:cNvSpPr txBox="1"/>
          <p:nvPr/>
        </p:nvSpPr>
        <p:spPr>
          <a:xfrm>
            <a:off x="1502764" y="2942659"/>
            <a:ext cx="4344266" cy="1938992"/>
          </a:xfrm>
          <a:prstGeom prst="rect">
            <a:avLst/>
          </a:prstGeom>
          <a:noFill/>
        </p:spPr>
        <p:txBody>
          <a:bodyPr wrap="square" rtlCol="0">
            <a:spAutoFit/>
          </a:bodyPr>
          <a:lstStyle/>
          <a:p>
            <a:pPr marL="457200" indent="-457200">
              <a:buFont typeface="Arial" panose="020B0604020202020204" pitchFamily="34" charset="0"/>
              <a:buChar char="•"/>
            </a:pPr>
            <a:r>
              <a:rPr lang="en-US" altLang="zh-CN" sz="3000" dirty="0">
                <a:latin typeface="Calibri" panose="020F0502020204030204" pitchFamily="34" charset="0"/>
                <a:cs typeface="Calibri" panose="020F0502020204030204" pitchFamily="34" charset="0"/>
              </a:rPr>
              <a:t>Originate from Chinese Philosophy</a:t>
            </a:r>
          </a:p>
          <a:p>
            <a:pPr marL="457200" indent="-457200">
              <a:buFont typeface="Arial" panose="020B0604020202020204" pitchFamily="34" charset="0"/>
              <a:buChar char="•"/>
            </a:pPr>
            <a:endParaRPr lang="en-US" altLang="zh-CN" sz="30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3000" dirty="0">
                <a:latin typeface="Calibri" panose="020F0502020204030204" pitchFamily="34" charset="0"/>
                <a:cs typeface="Calibri" panose="020F0502020204030204" pitchFamily="34" charset="0"/>
              </a:rPr>
              <a:t>Qualitative </a:t>
            </a:r>
            <a:endParaRPr lang="zh-CN" altLang="en-US" sz="3000" dirty="0">
              <a:latin typeface="Calibri" panose="020F0502020204030204" pitchFamily="34" charset="0"/>
              <a:cs typeface="Calibri" panose="020F0502020204030204" pitchFamily="34" charset="0"/>
            </a:endParaRPr>
          </a:p>
        </p:txBody>
      </p:sp>
      <p:grpSp>
        <p:nvGrpSpPr>
          <p:cNvPr id="29" name="组合 28">
            <a:extLst>
              <a:ext uri="{FF2B5EF4-FFF2-40B4-BE49-F238E27FC236}">
                <a16:creationId xmlns:a16="http://schemas.microsoft.com/office/drawing/2014/main" id="{05D76041-72C1-4B9D-BB80-600B280B649D}"/>
              </a:ext>
            </a:extLst>
          </p:cNvPr>
          <p:cNvGrpSpPr/>
          <p:nvPr/>
        </p:nvGrpSpPr>
        <p:grpSpPr>
          <a:xfrm>
            <a:off x="1109999" y="1082281"/>
            <a:ext cx="10225392" cy="1323439"/>
            <a:chOff x="807599" y="1254604"/>
            <a:chExt cx="10225392" cy="1323439"/>
          </a:xfrm>
        </p:grpSpPr>
        <p:sp>
          <p:nvSpPr>
            <p:cNvPr id="2" name="文本框 1">
              <a:extLst>
                <a:ext uri="{FF2B5EF4-FFF2-40B4-BE49-F238E27FC236}">
                  <a16:creationId xmlns:a16="http://schemas.microsoft.com/office/drawing/2014/main" id="{D9DE160F-05CC-4EDB-ACEA-048ABAFD703E}"/>
                </a:ext>
              </a:extLst>
            </p:cNvPr>
            <p:cNvSpPr txBox="1"/>
            <p:nvPr/>
          </p:nvSpPr>
          <p:spPr>
            <a:xfrm>
              <a:off x="807599" y="1254604"/>
              <a:ext cx="4798384" cy="1323439"/>
            </a:xfrm>
            <a:prstGeom prst="rect">
              <a:avLst/>
            </a:prstGeom>
            <a:noFill/>
          </p:spPr>
          <p:txBody>
            <a:bodyPr wrap="square" rtlCol="0">
              <a:spAutoFit/>
            </a:bodyPr>
            <a:lstStyle/>
            <a:p>
              <a:pPr algn="ctr"/>
              <a:r>
                <a:rPr lang="en-US" altLang="zh-CN" sz="4000" b="1" dirty="0">
                  <a:latin typeface="Calibri" panose="020F0502020204030204" pitchFamily="34" charset="0"/>
                  <a:cs typeface="Calibri" panose="020F0502020204030204" pitchFamily="34" charset="0"/>
                </a:rPr>
                <a:t>Traditional Chinese Medicine (TCM)</a:t>
              </a:r>
              <a:endParaRPr lang="zh-CN" altLang="en-US" sz="4000" b="1" dirty="0">
                <a:latin typeface="Calibri" panose="020F0502020204030204" pitchFamily="34" charset="0"/>
                <a:cs typeface="Calibri" panose="020F0502020204030204" pitchFamily="34" charset="0"/>
              </a:endParaRPr>
            </a:p>
          </p:txBody>
        </p:sp>
        <p:sp>
          <p:nvSpPr>
            <p:cNvPr id="27" name="文本框 26">
              <a:extLst>
                <a:ext uri="{FF2B5EF4-FFF2-40B4-BE49-F238E27FC236}">
                  <a16:creationId xmlns:a16="http://schemas.microsoft.com/office/drawing/2014/main" id="{219C3275-C909-4283-8DA3-5CF85ADD729E}"/>
                </a:ext>
              </a:extLst>
            </p:cNvPr>
            <p:cNvSpPr txBox="1"/>
            <p:nvPr/>
          </p:nvSpPr>
          <p:spPr>
            <a:xfrm>
              <a:off x="6234607" y="1562380"/>
              <a:ext cx="4798384" cy="707886"/>
            </a:xfrm>
            <a:prstGeom prst="rect">
              <a:avLst/>
            </a:prstGeom>
            <a:noFill/>
          </p:spPr>
          <p:txBody>
            <a:bodyPr wrap="square" rtlCol="0">
              <a:spAutoFit/>
            </a:bodyPr>
            <a:lstStyle/>
            <a:p>
              <a:pPr algn="ctr"/>
              <a:r>
                <a:rPr lang="en-US" altLang="zh-CN" sz="4000" b="1" dirty="0">
                  <a:latin typeface="Calibri" panose="020F0502020204030204" pitchFamily="34" charset="0"/>
                  <a:cs typeface="Calibri" panose="020F0502020204030204" pitchFamily="34" charset="0"/>
                </a:rPr>
                <a:t>Western Medicine</a:t>
              </a:r>
              <a:endParaRPr lang="zh-CN" altLang="en-US" sz="4000" b="1" dirty="0">
                <a:latin typeface="Calibri" panose="020F0502020204030204" pitchFamily="34" charset="0"/>
                <a:cs typeface="Calibri" panose="020F0502020204030204" pitchFamily="34" charset="0"/>
              </a:endParaRPr>
            </a:p>
          </p:txBody>
        </p:sp>
        <p:sp>
          <p:nvSpPr>
            <p:cNvPr id="28" name="文本框 27">
              <a:extLst>
                <a:ext uri="{FF2B5EF4-FFF2-40B4-BE49-F238E27FC236}">
                  <a16:creationId xmlns:a16="http://schemas.microsoft.com/office/drawing/2014/main" id="{EF1D700A-9294-47FB-8B72-9BDCABFCD394}"/>
                </a:ext>
              </a:extLst>
            </p:cNvPr>
            <p:cNvSpPr txBox="1"/>
            <p:nvPr/>
          </p:nvSpPr>
          <p:spPr>
            <a:xfrm>
              <a:off x="5544630" y="1562380"/>
              <a:ext cx="747537" cy="707886"/>
            </a:xfrm>
            <a:prstGeom prst="rect">
              <a:avLst/>
            </a:prstGeom>
            <a:noFill/>
          </p:spPr>
          <p:txBody>
            <a:bodyPr wrap="square" rtlCol="0">
              <a:spAutoFit/>
            </a:bodyPr>
            <a:lstStyle/>
            <a:p>
              <a:pPr algn="ctr"/>
              <a:r>
                <a:rPr lang="en-US" altLang="zh-CN" sz="4000" b="1" dirty="0">
                  <a:latin typeface="Calibri" panose="020F0502020204030204" pitchFamily="34" charset="0"/>
                  <a:cs typeface="Calibri" panose="020F0502020204030204" pitchFamily="34" charset="0"/>
                </a:rPr>
                <a:t>vs.</a:t>
              </a:r>
              <a:endParaRPr lang="zh-CN" altLang="en-US" sz="4000" b="1" dirty="0">
                <a:latin typeface="Calibri" panose="020F0502020204030204" pitchFamily="34" charset="0"/>
                <a:cs typeface="Calibri" panose="020F0502020204030204" pitchFamily="34" charset="0"/>
              </a:endParaRPr>
            </a:p>
          </p:txBody>
        </p:sp>
      </p:grpSp>
      <p:sp>
        <p:nvSpPr>
          <p:cNvPr id="30" name="文本框 29">
            <a:extLst>
              <a:ext uri="{FF2B5EF4-FFF2-40B4-BE49-F238E27FC236}">
                <a16:creationId xmlns:a16="http://schemas.microsoft.com/office/drawing/2014/main" id="{CE8E98E5-E666-4CC5-8A51-DD6F606D9F72}"/>
              </a:ext>
            </a:extLst>
          </p:cNvPr>
          <p:cNvSpPr txBox="1"/>
          <p:nvPr/>
        </p:nvSpPr>
        <p:spPr>
          <a:xfrm>
            <a:off x="7092299" y="2942659"/>
            <a:ext cx="4463701" cy="1938992"/>
          </a:xfrm>
          <a:prstGeom prst="rect">
            <a:avLst/>
          </a:prstGeom>
          <a:noFill/>
        </p:spPr>
        <p:txBody>
          <a:bodyPr wrap="square" rtlCol="0">
            <a:spAutoFit/>
          </a:bodyPr>
          <a:lstStyle/>
          <a:p>
            <a:pPr marL="457200" indent="-457200">
              <a:buFont typeface="Arial" panose="020B0604020202020204" pitchFamily="34" charset="0"/>
              <a:buChar char="•"/>
            </a:pPr>
            <a:r>
              <a:rPr lang="en-US" altLang="zh-CN" sz="3000" dirty="0">
                <a:latin typeface="Calibri" panose="020F0502020204030204" pitchFamily="34" charset="0"/>
                <a:cs typeface="Calibri" panose="020F0502020204030204" pitchFamily="34" charset="0"/>
              </a:rPr>
              <a:t>Originate from Chemical Science</a:t>
            </a:r>
          </a:p>
          <a:p>
            <a:pPr marL="457200" indent="-457200">
              <a:buFont typeface="Arial" panose="020B0604020202020204" pitchFamily="34" charset="0"/>
              <a:buChar char="•"/>
            </a:pPr>
            <a:endParaRPr lang="en-US" altLang="zh-CN" sz="30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3000" dirty="0">
                <a:latin typeface="Calibri" panose="020F0502020204030204" pitchFamily="34" charset="0"/>
                <a:cs typeface="Calibri" panose="020F0502020204030204" pitchFamily="34" charset="0"/>
              </a:rPr>
              <a:t>Quantitive </a:t>
            </a:r>
            <a:endParaRPr lang="zh-CN" altLang="en-US" sz="3000" dirty="0">
              <a:latin typeface="Calibri" panose="020F0502020204030204" pitchFamily="34" charset="0"/>
              <a:cs typeface="Calibri" panose="020F0502020204030204" pitchFamily="34" charset="0"/>
            </a:endParaRPr>
          </a:p>
        </p:txBody>
      </p:sp>
    </p:spTree>
  </p:cSld>
  <p:clrMapOvr>
    <a:masterClrMapping/>
  </p:clrMapOvr>
  <p:transition>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3"/>
          <a:stretch>
            <a:fillRect/>
          </a:stretch>
        </p:blipFill>
        <p:spPr>
          <a:xfrm>
            <a:off x="10951200" y="5836340"/>
            <a:ext cx="1086598" cy="877470"/>
          </a:xfrm>
          <a:prstGeom prst="rect">
            <a:avLst/>
          </a:prstGeom>
        </p:spPr>
      </p:pic>
      <p:sp>
        <p:nvSpPr>
          <p:cNvPr id="20" name="文本框 19"/>
          <p:cNvSpPr txBox="1"/>
          <p:nvPr/>
        </p:nvSpPr>
        <p:spPr>
          <a:xfrm>
            <a:off x="433499" y="215868"/>
            <a:ext cx="10671653" cy="707886"/>
          </a:xfrm>
          <a:prstGeom prst="rect">
            <a:avLst/>
          </a:prstGeom>
          <a:noFill/>
        </p:spPr>
        <p:txBody>
          <a:bodyPr wrap="square" rtlCol="0">
            <a:spAutoFit/>
          </a:bodyPr>
          <a:lstStyle/>
          <a:p>
            <a:r>
              <a:rPr lang="en-US" altLang="zh-CN" sz="4000" b="1" dirty="0">
                <a:solidFill>
                  <a:schemeClr val="tx2"/>
                </a:solidFill>
                <a:latin typeface="Calibri" panose="020F0502020204030204" pitchFamily="34" charset="0"/>
                <a:cs typeface="Calibri" panose="020F0502020204030204" pitchFamily="34" charset="0"/>
              </a:rPr>
              <a:t>Neglect of TCM’s Art</a:t>
            </a:r>
            <a:endParaRPr lang="zh-CN" altLang="en-US" dirty="0">
              <a:solidFill>
                <a:schemeClr val="tx2"/>
              </a:solidFill>
              <a:latin typeface="Calibri" panose="020F0502020204030204" pitchFamily="34" charset="0"/>
              <a:cs typeface="Calibri" panose="020F0502020204030204" pitchFamily="34" charset="0"/>
            </a:endParaRPr>
          </a:p>
        </p:txBody>
      </p:sp>
      <p:grpSp>
        <p:nvGrpSpPr>
          <p:cNvPr id="8" name="组合 7">
            <a:extLst>
              <a:ext uri="{FF2B5EF4-FFF2-40B4-BE49-F238E27FC236}">
                <a16:creationId xmlns:a16="http://schemas.microsoft.com/office/drawing/2014/main" id="{EB1C3565-243E-43B7-90EC-13ECC7F6D9C4}"/>
              </a:ext>
            </a:extLst>
          </p:cNvPr>
          <p:cNvGrpSpPr/>
          <p:nvPr/>
        </p:nvGrpSpPr>
        <p:grpSpPr>
          <a:xfrm>
            <a:off x="62564" y="923754"/>
            <a:ext cx="11846236" cy="5135462"/>
            <a:chOff x="62564" y="923754"/>
            <a:chExt cx="11846236" cy="5135462"/>
          </a:xfrm>
        </p:grpSpPr>
        <p:grpSp>
          <p:nvGrpSpPr>
            <p:cNvPr id="7" name="组合 6">
              <a:extLst>
                <a:ext uri="{FF2B5EF4-FFF2-40B4-BE49-F238E27FC236}">
                  <a16:creationId xmlns:a16="http://schemas.microsoft.com/office/drawing/2014/main" id="{E5723BC6-E181-4FD5-8B49-A671437D144C}"/>
                </a:ext>
              </a:extLst>
            </p:cNvPr>
            <p:cNvGrpSpPr/>
            <p:nvPr/>
          </p:nvGrpSpPr>
          <p:grpSpPr>
            <a:xfrm>
              <a:off x="62564" y="923754"/>
              <a:ext cx="5706761" cy="5135462"/>
              <a:chOff x="1335724" y="547903"/>
              <a:chExt cx="5706761" cy="5135462"/>
            </a:xfrm>
          </p:grpSpPr>
          <p:graphicFrame>
            <p:nvGraphicFramePr>
              <p:cNvPr id="5" name="图表 4">
                <a:extLst>
                  <a:ext uri="{FF2B5EF4-FFF2-40B4-BE49-F238E27FC236}">
                    <a16:creationId xmlns:a16="http://schemas.microsoft.com/office/drawing/2014/main" id="{A1144514-CF74-4C4F-94D4-9CCE257B1BE8}"/>
                  </a:ext>
                </a:extLst>
              </p:cNvPr>
              <p:cNvGraphicFramePr/>
              <p:nvPr>
                <p:extLst>
                  <p:ext uri="{D42A27DB-BD31-4B8C-83A1-F6EECF244321}">
                    <p14:modId xmlns:p14="http://schemas.microsoft.com/office/powerpoint/2010/main" val="3024272362"/>
                  </p:ext>
                </p:extLst>
              </p:nvPr>
            </p:nvGraphicFramePr>
            <p:xfrm>
              <a:off x="1335724" y="547903"/>
              <a:ext cx="5706761" cy="4935407"/>
            </p:xfrm>
            <a:graphic>
              <a:graphicData uri="http://schemas.openxmlformats.org/drawingml/2006/chart">
                <c:chart xmlns:c="http://schemas.openxmlformats.org/drawingml/2006/chart" xmlns:r="http://schemas.openxmlformats.org/officeDocument/2006/relationships" r:id="rId4"/>
              </a:graphicData>
            </a:graphic>
          </p:graphicFrame>
          <p:sp>
            <p:nvSpPr>
              <p:cNvPr id="6" name="文本框 5">
                <a:extLst>
                  <a:ext uri="{FF2B5EF4-FFF2-40B4-BE49-F238E27FC236}">
                    <a16:creationId xmlns:a16="http://schemas.microsoft.com/office/drawing/2014/main" id="{F8DBE8CE-2237-4F6B-9FB7-A4A9B1D9F8A1}"/>
                  </a:ext>
                </a:extLst>
              </p:cNvPr>
              <p:cNvSpPr txBox="1"/>
              <p:nvPr/>
            </p:nvSpPr>
            <p:spPr>
              <a:xfrm>
                <a:off x="3177504" y="5283255"/>
                <a:ext cx="2023200" cy="400110"/>
              </a:xfrm>
              <a:prstGeom prst="rect">
                <a:avLst/>
              </a:prstGeom>
              <a:noFill/>
            </p:spPr>
            <p:txBody>
              <a:bodyPr wrap="square" rtlCol="0">
                <a:spAutoFit/>
              </a:bodyPr>
              <a:lstStyle/>
              <a:p>
                <a:pPr algn="ctr"/>
                <a:r>
                  <a:rPr lang="en-US" altLang="zh-CN" sz="2000" b="1" dirty="0">
                    <a:latin typeface="Calibri" panose="020F0502020204030204" pitchFamily="34" charset="0"/>
                    <a:cs typeface="Calibri" panose="020F0502020204030204" pitchFamily="34" charset="0"/>
                  </a:rPr>
                  <a:t>Hospital in China</a:t>
                </a:r>
                <a:endParaRPr lang="zh-CN" altLang="en-US" sz="2000" b="1" dirty="0">
                  <a:latin typeface="Calibri" panose="020F0502020204030204" pitchFamily="34" charset="0"/>
                  <a:cs typeface="Calibri" panose="020F0502020204030204" pitchFamily="34" charset="0"/>
                </a:endParaRPr>
              </a:p>
            </p:txBody>
          </p:sp>
        </p:grpSp>
        <p:sp>
          <p:nvSpPr>
            <p:cNvPr id="26" name="文本框 25">
              <a:extLst>
                <a:ext uri="{FF2B5EF4-FFF2-40B4-BE49-F238E27FC236}">
                  <a16:creationId xmlns:a16="http://schemas.microsoft.com/office/drawing/2014/main" id="{B673793C-4887-4283-BA5E-EFCA12E6C311}"/>
                </a:ext>
              </a:extLst>
            </p:cNvPr>
            <p:cNvSpPr txBox="1"/>
            <p:nvPr/>
          </p:nvSpPr>
          <p:spPr>
            <a:xfrm>
              <a:off x="5207725" y="2421961"/>
              <a:ext cx="6701075" cy="1938992"/>
            </a:xfrm>
            <a:prstGeom prst="rect">
              <a:avLst/>
            </a:prstGeom>
            <a:noFill/>
          </p:spPr>
          <p:txBody>
            <a:bodyPr wrap="square" rtlCol="0">
              <a:spAutoFit/>
            </a:bodyPr>
            <a:lstStyle/>
            <a:p>
              <a:pPr marL="457200" indent="-457200">
                <a:buFont typeface="Arial" panose="020B0604020202020204" pitchFamily="34" charset="0"/>
                <a:buChar char="•"/>
              </a:pPr>
              <a:r>
                <a:rPr lang="en-US" altLang="zh-CN" sz="4000" b="1" dirty="0">
                  <a:latin typeface="Calibri" panose="020F0502020204030204" pitchFamily="34" charset="0"/>
                  <a:cs typeface="Calibri" panose="020F0502020204030204" pitchFamily="34" charset="0"/>
                </a:rPr>
                <a:t>Weak</a:t>
              </a:r>
              <a:r>
                <a:rPr lang="zh-CN" altLang="en-US" sz="4000" b="1" dirty="0">
                  <a:latin typeface="Calibri" panose="020F0502020204030204" pitchFamily="34" charset="0"/>
                  <a:cs typeface="Calibri" panose="020F0502020204030204" pitchFamily="34" charset="0"/>
                </a:rPr>
                <a:t> </a:t>
              </a:r>
              <a:r>
                <a:rPr lang="en-US" altLang="zh-CN" sz="4000" b="1" dirty="0">
                  <a:latin typeface="Calibri" panose="020F0502020204030204" pitchFamily="34" charset="0"/>
                  <a:cs typeface="Calibri" panose="020F0502020204030204" pitchFamily="34" charset="0"/>
                </a:rPr>
                <a:t>Influence</a:t>
              </a:r>
            </a:p>
            <a:p>
              <a:pPr marL="457200" indent="-457200">
                <a:buFont typeface="Arial" panose="020B0604020202020204" pitchFamily="34" charset="0"/>
                <a:buChar char="•"/>
              </a:pPr>
              <a:endParaRPr lang="en-US" altLang="zh-CN" sz="4000" b="1"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altLang="zh-CN" sz="4000" b="1" dirty="0">
                  <a:latin typeface="Calibri" panose="020F0502020204030204" pitchFamily="34" charset="0"/>
                  <a:cs typeface="Calibri" panose="020F0502020204030204" pitchFamily="34" charset="0"/>
                </a:rPr>
                <a:t>Lack of deep understanding</a:t>
              </a:r>
              <a:endParaRPr lang="zh-CN" altLang="en-US" sz="4000" b="1"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416259280"/>
      </p:ext>
    </p:extLst>
  </p:cSld>
  <p:clrMapOvr>
    <a:masterClrMapping/>
  </p:clrMapOvr>
  <p:transition>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3"/>
          <a:stretch>
            <a:fillRect/>
          </a:stretch>
        </p:blipFill>
        <p:spPr>
          <a:xfrm>
            <a:off x="10951200" y="5836340"/>
            <a:ext cx="1086598" cy="877470"/>
          </a:xfrm>
          <a:prstGeom prst="rect">
            <a:avLst/>
          </a:prstGeom>
        </p:spPr>
      </p:pic>
      <p:sp>
        <p:nvSpPr>
          <p:cNvPr id="20" name="文本框 19"/>
          <p:cNvSpPr txBox="1"/>
          <p:nvPr/>
        </p:nvSpPr>
        <p:spPr>
          <a:xfrm>
            <a:off x="433499" y="215868"/>
            <a:ext cx="10671653" cy="707886"/>
          </a:xfrm>
          <a:prstGeom prst="rect">
            <a:avLst/>
          </a:prstGeom>
          <a:noFill/>
        </p:spPr>
        <p:txBody>
          <a:bodyPr wrap="square" rtlCol="0">
            <a:spAutoFit/>
          </a:bodyPr>
          <a:lstStyle/>
          <a:p>
            <a:r>
              <a:rPr lang="en-US" altLang="zh-CN" sz="4000" b="1" dirty="0">
                <a:solidFill>
                  <a:schemeClr val="tx2"/>
                </a:solidFill>
                <a:latin typeface="Calibri" panose="020F0502020204030204" pitchFamily="34" charset="0"/>
                <a:cs typeface="Calibri" panose="020F0502020204030204" pitchFamily="34" charset="0"/>
              </a:rPr>
              <a:t>TCM’s</a:t>
            </a:r>
            <a:r>
              <a:rPr lang="zh-CN" altLang="en-US" sz="4000" b="1" dirty="0">
                <a:solidFill>
                  <a:schemeClr val="tx2"/>
                </a:solidFill>
                <a:latin typeface="Calibri" panose="020F0502020204030204" pitchFamily="34" charset="0"/>
                <a:cs typeface="Calibri" panose="020F0502020204030204" pitchFamily="34" charset="0"/>
              </a:rPr>
              <a:t> </a:t>
            </a:r>
            <a:r>
              <a:rPr lang="en-US" altLang="zh-CN" sz="4000" b="1" dirty="0">
                <a:solidFill>
                  <a:schemeClr val="tx2"/>
                </a:solidFill>
                <a:latin typeface="Calibri" panose="020F0502020204030204" pitchFamily="34" charset="0"/>
                <a:cs typeface="Calibri" panose="020F0502020204030204" pitchFamily="34" charset="0"/>
              </a:rPr>
              <a:t>Art in Literature</a:t>
            </a:r>
            <a:endParaRPr lang="zh-CN" altLang="en-US" dirty="0">
              <a:solidFill>
                <a:schemeClr val="tx2"/>
              </a:solidFill>
              <a:latin typeface="Calibri" panose="020F0502020204030204" pitchFamily="34" charset="0"/>
              <a:cs typeface="Calibri" panose="020F0502020204030204" pitchFamily="34" charset="0"/>
            </a:endParaRPr>
          </a:p>
        </p:txBody>
      </p:sp>
      <p:grpSp>
        <p:nvGrpSpPr>
          <p:cNvPr id="17" name="组合 16">
            <a:extLst>
              <a:ext uri="{FF2B5EF4-FFF2-40B4-BE49-F238E27FC236}">
                <a16:creationId xmlns:a16="http://schemas.microsoft.com/office/drawing/2014/main" id="{424FD2B0-0C8B-46E5-96CB-202A83400E0F}"/>
              </a:ext>
            </a:extLst>
          </p:cNvPr>
          <p:cNvGrpSpPr/>
          <p:nvPr/>
        </p:nvGrpSpPr>
        <p:grpSpPr>
          <a:xfrm>
            <a:off x="1602042" y="936828"/>
            <a:ext cx="3961614" cy="5541474"/>
            <a:chOff x="1602042" y="936828"/>
            <a:chExt cx="3961614" cy="5541474"/>
          </a:xfrm>
        </p:grpSpPr>
        <p:grpSp>
          <p:nvGrpSpPr>
            <p:cNvPr id="6" name="组合 5">
              <a:extLst>
                <a:ext uri="{FF2B5EF4-FFF2-40B4-BE49-F238E27FC236}">
                  <a16:creationId xmlns:a16="http://schemas.microsoft.com/office/drawing/2014/main" id="{97496E8F-2147-4125-BA0C-40CC4EAE7ADE}"/>
                </a:ext>
              </a:extLst>
            </p:cNvPr>
            <p:cNvGrpSpPr/>
            <p:nvPr/>
          </p:nvGrpSpPr>
          <p:grpSpPr>
            <a:xfrm>
              <a:off x="1664556" y="936828"/>
              <a:ext cx="3836585" cy="2603652"/>
              <a:chOff x="1046075" y="1850028"/>
              <a:chExt cx="7127747" cy="4837157"/>
            </a:xfrm>
          </p:grpSpPr>
          <p:pic>
            <p:nvPicPr>
              <p:cNvPr id="2" name="图片 1">
                <a:extLst>
                  <a:ext uri="{FF2B5EF4-FFF2-40B4-BE49-F238E27FC236}">
                    <a16:creationId xmlns:a16="http://schemas.microsoft.com/office/drawing/2014/main" id="{A4245DAA-1ABF-48FB-B215-BA1E4065B215}"/>
                  </a:ext>
                </a:extLst>
              </p:cNvPr>
              <p:cNvPicPr>
                <a:picLocks noChangeAspect="1"/>
              </p:cNvPicPr>
              <p:nvPr/>
            </p:nvPicPr>
            <p:blipFill>
              <a:blip r:embed="rId4"/>
              <a:stretch>
                <a:fillRect/>
              </a:stretch>
            </p:blipFill>
            <p:spPr>
              <a:xfrm>
                <a:off x="1046075" y="1850028"/>
                <a:ext cx="7127747" cy="4055624"/>
              </a:xfrm>
              <a:prstGeom prst="rect">
                <a:avLst/>
              </a:prstGeom>
            </p:spPr>
          </p:pic>
          <p:sp>
            <p:nvSpPr>
              <p:cNvPr id="13" name="文本框 12">
                <a:extLst>
                  <a:ext uri="{FF2B5EF4-FFF2-40B4-BE49-F238E27FC236}">
                    <a16:creationId xmlns:a16="http://schemas.microsoft.com/office/drawing/2014/main" id="{0154D627-1E83-487F-889C-BC0193DB644D}"/>
                  </a:ext>
                </a:extLst>
              </p:cNvPr>
              <p:cNvSpPr txBox="1"/>
              <p:nvPr/>
            </p:nvSpPr>
            <p:spPr>
              <a:xfrm>
                <a:off x="2059950" y="6089375"/>
                <a:ext cx="5099996" cy="597810"/>
              </a:xfrm>
              <a:prstGeom prst="rect">
                <a:avLst/>
              </a:prstGeom>
              <a:noFill/>
            </p:spPr>
            <p:txBody>
              <a:bodyPr wrap="square" rtlCol="0">
                <a:spAutoFit/>
              </a:bodyPr>
              <a:lstStyle/>
              <a:p>
                <a:pPr algn="ctr"/>
                <a:r>
                  <a:rPr lang="en-US" altLang="zh-CN" sz="2000" b="1" dirty="0">
                    <a:latin typeface="Calibri" panose="020F0502020204030204" pitchFamily="34" charset="0"/>
                    <a:cs typeface="Calibri" panose="020F0502020204030204" pitchFamily="34" charset="0"/>
                  </a:rPr>
                  <a:t>Rhythmic words</a:t>
                </a:r>
              </a:p>
            </p:txBody>
          </p:sp>
        </p:grpSp>
        <p:grpSp>
          <p:nvGrpSpPr>
            <p:cNvPr id="15" name="组合 14">
              <a:extLst>
                <a:ext uri="{FF2B5EF4-FFF2-40B4-BE49-F238E27FC236}">
                  <a16:creationId xmlns:a16="http://schemas.microsoft.com/office/drawing/2014/main" id="{9F290604-97AF-4A21-94DE-7EDC23A2FE70}"/>
                </a:ext>
              </a:extLst>
            </p:cNvPr>
            <p:cNvGrpSpPr/>
            <p:nvPr/>
          </p:nvGrpSpPr>
          <p:grpSpPr>
            <a:xfrm>
              <a:off x="1602042" y="3887999"/>
              <a:ext cx="3961614" cy="2590303"/>
              <a:chOff x="6268054" y="569811"/>
              <a:chExt cx="4561134" cy="2982300"/>
            </a:xfrm>
          </p:grpSpPr>
          <p:sp>
            <p:nvSpPr>
              <p:cNvPr id="14" name="文本框 13">
                <a:extLst>
                  <a:ext uri="{FF2B5EF4-FFF2-40B4-BE49-F238E27FC236}">
                    <a16:creationId xmlns:a16="http://schemas.microsoft.com/office/drawing/2014/main" id="{AB012778-66ED-4DC6-B335-FCA0336ACCA5}"/>
                  </a:ext>
                </a:extLst>
              </p:cNvPr>
              <p:cNvSpPr txBox="1"/>
              <p:nvPr/>
            </p:nvSpPr>
            <p:spPr>
              <a:xfrm>
                <a:off x="6903421" y="3152001"/>
                <a:ext cx="3290400" cy="400110"/>
              </a:xfrm>
              <a:prstGeom prst="rect">
                <a:avLst/>
              </a:prstGeom>
              <a:noFill/>
            </p:spPr>
            <p:txBody>
              <a:bodyPr wrap="square" rtlCol="0">
                <a:spAutoFit/>
              </a:bodyPr>
              <a:lstStyle/>
              <a:p>
                <a:pPr algn="ctr"/>
                <a:r>
                  <a:rPr lang="en-US" altLang="zh-CN" sz="2000" b="1" dirty="0">
                    <a:latin typeface="Calibri" panose="020F0502020204030204" pitchFamily="34" charset="0"/>
                    <a:cs typeface="Calibri" panose="020F0502020204030204" pitchFamily="34" charset="0"/>
                  </a:rPr>
                  <a:t>Legendary doctors</a:t>
                </a:r>
                <a:endParaRPr lang="zh-CN" altLang="en-US" sz="2000" b="1" dirty="0">
                  <a:latin typeface="Calibri" panose="020F0502020204030204" pitchFamily="34" charset="0"/>
                  <a:cs typeface="Calibri" panose="020F0502020204030204" pitchFamily="34" charset="0"/>
                </a:endParaRPr>
              </a:p>
            </p:txBody>
          </p:sp>
          <p:pic>
            <p:nvPicPr>
              <p:cNvPr id="11" name="图片 10">
                <a:extLst>
                  <a:ext uri="{FF2B5EF4-FFF2-40B4-BE49-F238E27FC236}">
                    <a16:creationId xmlns:a16="http://schemas.microsoft.com/office/drawing/2014/main" id="{346F3CFC-34FF-476D-88FD-9EFAD1D12D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8054" y="569811"/>
                <a:ext cx="4561134" cy="2582190"/>
              </a:xfrm>
              <a:prstGeom prst="rect">
                <a:avLst/>
              </a:prstGeom>
            </p:spPr>
          </p:pic>
        </p:grpSp>
      </p:grpSp>
      <p:grpSp>
        <p:nvGrpSpPr>
          <p:cNvPr id="24" name="组合 23">
            <a:extLst>
              <a:ext uri="{FF2B5EF4-FFF2-40B4-BE49-F238E27FC236}">
                <a16:creationId xmlns:a16="http://schemas.microsoft.com/office/drawing/2014/main" id="{DEB3BCFB-7BCE-4300-A957-38A47FE4EBA3}"/>
              </a:ext>
            </a:extLst>
          </p:cNvPr>
          <p:cNvGrpSpPr/>
          <p:nvPr/>
        </p:nvGrpSpPr>
        <p:grpSpPr>
          <a:xfrm>
            <a:off x="7028554" y="1090860"/>
            <a:ext cx="3009600" cy="5326699"/>
            <a:chOff x="1778400" y="1162860"/>
            <a:chExt cx="3009600" cy="5326699"/>
          </a:xfrm>
        </p:grpSpPr>
        <p:pic>
          <p:nvPicPr>
            <p:cNvPr id="25" name="图片 24">
              <a:extLst>
                <a:ext uri="{FF2B5EF4-FFF2-40B4-BE49-F238E27FC236}">
                  <a16:creationId xmlns:a16="http://schemas.microsoft.com/office/drawing/2014/main" id="{35DF4FFA-71AE-4777-BDE1-E77F3A0727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78400" y="1162860"/>
              <a:ext cx="3009600" cy="4673480"/>
            </a:xfrm>
            <a:prstGeom prst="rect">
              <a:avLst/>
            </a:prstGeom>
          </p:spPr>
        </p:pic>
        <p:sp>
          <p:nvSpPr>
            <p:cNvPr id="26" name="文本框 25">
              <a:extLst>
                <a:ext uri="{FF2B5EF4-FFF2-40B4-BE49-F238E27FC236}">
                  <a16:creationId xmlns:a16="http://schemas.microsoft.com/office/drawing/2014/main" id="{6FDA6DED-D990-40DB-B623-E436BA4951A5}"/>
                </a:ext>
              </a:extLst>
            </p:cNvPr>
            <p:cNvSpPr txBox="1"/>
            <p:nvPr/>
          </p:nvSpPr>
          <p:spPr>
            <a:xfrm>
              <a:off x="2542662" y="5935561"/>
              <a:ext cx="1481075" cy="553998"/>
            </a:xfrm>
            <a:prstGeom prst="rect">
              <a:avLst/>
            </a:prstGeom>
            <a:noFill/>
          </p:spPr>
          <p:txBody>
            <a:bodyPr wrap="square" rtlCol="0">
              <a:spAutoFit/>
            </a:bodyPr>
            <a:lstStyle/>
            <a:p>
              <a:pPr algn="ctr"/>
              <a:r>
                <a:rPr lang="en-US" altLang="zh-CN" sz="3000" b="1" dirty="0">
                  <a:latin typeface="Calibri" panose="020F0502020204030204" pitchFamily="34" charset="0"/>
                  <a:cs typeface="Calibri" panose="020F0502020204030204" pitchFamily="34" charset="0"/>
                </a:rPr>
                <a:t>On Fire</a:t>
              </a:r>
            </a:p>
          </p:txBody>
        </p:sp>
      </p:grpSp>
    </p:spTree>
    <p:extLst>
      <p:ext uri="{BB962C8B-B14F-4D97-AF65-F5344CB8AC3E}">
        <p14:creationId xmlns:p14="http://schemas.microsoft.com/office/powerpoint/2010/main" val="3608180375"/>
      </p:ext>
    </p:extLst>
  </p:cSld>
  <p:clrMapOvr>
    <a:masterClrMapping/>
  </p:clrMapOvr>
  <p:transition>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3"/>
          <a:stretch>
            <a:fillRect/>
          </a:stretch>
        </p:blipFill>
        <p:spPr>
          <a:xfrm>
            <a:off x="10951200" y="5836340"/>
            <a:ext cx="1086598" cy="877470"/>
          </a:xfrm>
          <a:prstGeom prst="rect">
            <a:avLst/>
          </a:prstGeom>
        </p:spPr>
      </p:pic>
      <p:sp>
        <p:nvSpPr>
          <p:cNvPr id="20" name="文本框 19"/>
          <p:cNvSpPr txBox="1"/>
          <p:nvPr/>
        </p:nvSpPr>
        <p:spPr>
          <a:xfrm>
            <a:off x="433499" y="215868"/>
            <a:ext cx="10671653" cy="707886"/>
          </a:xfrm>
          <a:prstGeom prst="rect">
            <a:avLst/>
          </a:prstGeom>
          <a:noFill/>
        </p:spPr>
        <p:txBody>
          <a:bodyPr wrap="square" rtlCol="0">
            <a:spAutoFit/>
          </a:bodyPr>
          <a:lstStyle/>
          <a:p>
            <a:r>
              <a:rPr lang="en-US" altLang="zh-CN" sz="4000" b="1" dirty="0">
                <a:solidFill>
                  <a:schemeClr val="tx2"/>
                </a:solidFill>
                <a:latin typeface="Calibri" panose="020F0502020204030204" pitchFamily="34" charset="0"/>
                <a:cs typeface="Calibri" panose="020F0502020204030204" pitchFamily="34" charset="0"/>
              </a:rPr>
              <a:t>TCM’s</a:t>
            </a:r>
            <a:r>
              <a:rPr lang="zh-CN" altLang="en-US" sz="4000" b="1" dirty="0">
                <a:solidFill>
                  <a:schemeClr val="tx2"/>
                </a:solidFill>
                <a:latin typeface="Calibri" panose="020F0502020204030204" pitchFamily="34" charset="0"/>
                <a:cs typeface="Calibri" panose="020F0502020204030204" pitchFamily="34" charset="0"/>
              </a:rPr>
              <a:t> </a:t>
            </a:r>
            <a:r>
              <a:rPr lang="en-US" altLang="zh-CN" sz="4000" b="1" dirty="0">
                <a:solidFill>
                  <a:schemeClr val="tx2"/>
                </a:solidFill>
                <a:latin typeface="Calibri" panose="020F0502020204030204" pitchFamily="34" charset="0"/>
                <a:cs typeface="Calibri" panose="020F0502020204030204" pitchFamily="34" charset="0"/>
              </a:rPr>
              <a:t>Art in Philosophy</a:t>
            </a:r>
            <a:endParaRPr lang="zh-CN" altLang="en-US" dirty="0">
              <a:solidFill>
                <a:schemeClr val="tx2"/>
              </a:solidFill>
              <a:latin typeface="Calibri" panose="020F0502020204030204" pitchFamily="34" charset="0"/>
              <a:cs typeface="Calibri" panose="020F0502020204030204" pitchFamily="34" charset="0"/>
            </a:endParaRPr>
          </a:p>
        </p:txBody>
      </p:sp>
      <p:grpSp>
        <p:nvGrpSpPr>
          <p:cNvPr id="3" name="组合 2">
            <a:extLst>
              <a:ext uri="{FF2B5EF4-FFF2-40B4-BE49-F238E27FC236}">
                <a16:creationId xmlns:a16="http://schemas.microsoft.com/office/drawing/2014/main" id="{3FD8F332-C6CF-41C1-BDEB-2D6FB542841F}"/>
              </a:ext>
            </a:extLst>
          </p:cNvPr>
          <p:cNvGrpSpPr/>
          <p:nvPr/>
        </p:nvGrpSpPr>
        <p:grpSpPr>
          <a:xfrm>
            <a:off x="554399" y="1205057"/>
            <a:ext cx="5053467" cy="5053467"/>
            <a:chOff x="6014533" y="418980"/>
            <a:chExt cx="5922134" cy="5922134"/>
          </a:xfrm>
        </p:grpSpPr>
        <p:sp>
          <p:nvSpPr>
            <p:cNvPr id="5" name="任意多边形: 形状 4">
              <a:extLst>
                <a:ext uri="{FF2B5EF4-FFF2-40B4-BE49-F238E27FC236}">
                  <a16:creationId xmlns:a16="http://schemas.microsoft.com/office/drawing/2014/main" id="{CEED8744-D523-4111-874F-F58B909AD3A0}"/>
                </a:ext>
              </a:extLst>
            </p:cNvPr>
            <p:cNvSpPr/>
            <p:nvPr/>
          </p:nvSpPr>
          <p:spPr>
            <a:xfrm>
              <a:off x="6014533" y="418980"/>
              <a:ext cx="5922134" cy="5922134"/>
            </a:xfrm>
            <a:custGeom>
              <a:avLst/>
              <a:gdLst>
                <a:gd name="connsiteX0" fmla="*/ 0 w 5922134"/>
                <a:gd name="connsiteY0" fmla="*/ 2961067 h 5922134"/>
                <a:gd name="connsiteX1" fmla="*/ 2961067 w 5922134"/>
                <a:gd name="connsiteY1" fmla="*/ 0 h 5922134"/>
                <a:gd name="connsiteX2" fmla="*/ 5922134 w 5922134"/>
                <a:gd name="connsiteY2" fmla="*/ 2961067 h 5922134"/>
                <a:gd name="connsiteX3" fmla="*/ 2961067 w 5922134"/>
                <a:gd name="connsiteY3" fmla="*/ 5922134 h 5922134"/>
                <a:gd name="connsiteX4" fmla="*/ 0 w 5922134"/>
                <a:gd name="connsiteY4" fmla="*/ 2961067 h 5922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2134" h="5922134">
                  <a:moveTo>
                    <a:pt x="0" y="2961067"/>
                  </a:moveTo>
                  <a:cubicBezTo>
                    <a:pt x="0" y="1325715"/>
                    <a:pt x="1325715" y="0"/>
                    <a:pt x="2961067" y="0"/>
                  </a:cubicBezTo>
                  <a:cubicBezTo>
                    <a:pt x="4596419" y="0"/>
                    <a:pt x="5922134" y="1325715"/>
                    <a:pt x="5922134" y="2961067"/>
                  </a:cubicBezTo>
                  <a:cubicBezTo>
                    <a:pt x="5922134" y="4596419"/>
                    <a:pt x="4596419" y="5922134"/>
                    <a:pt x="2961067" y="5922134"/>
                  </a:cubicBezTo>
                  <a:cubicBezTo>
                    <a:pt x="1325715" y="5922134"/>
                    <a:pt x="0" y="4596419"/>
                    <a:pt x="0" y="2961067"/>
                  </a:cubicBezTo>
                  <a:close/>
                </a:path>
              </a:pathLst>
            </a:custGeom>
          </p:spPr>
          <p:style>
            <a:lnRef idx="0">
              <a:schemeClr val="dk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none" lIns="2346512" tIns="509466" rIns="2346514" bIns="4951068" numCol="1" spcCol="1270" anchor="ctr" anchorCtr="0">
              <a:noAutofit/>
            </a:bodyPr>
            <a:lstStyle/>
            <a:p>
              <a:pPr marL="0" lvl="0" indent="0" algn="ctr" defTabSz="1333500">
                <a:lnSpc>
                  <a:spcPct val="90000"/>
                </a:lnSpc>
                <a:spcBef>
                  <a:spcPct val="0"/>
                </a:spcBef>
                <a:spcAft>
                  <a:spcPct val="35000"/>
                </a:spcAft>
                <a:buNone/>
              </a:pPr>
              <a:endParaRPr lang="en-US" altLang="zh-CN" sz="3000" b="1" kern="1200" dirty="0">
                <a:latin typeface="Calibri" panose="020F0502020204030204" pitchFamily="34" charset="0"/>
                <a:cs typeface="Calibri" panose="020F0502020204030204" pitchFamily="34" charset="0"/>
              </a:endParaRPr>
            </a:p>
            <a:p>
              <a:pPr marL="0" lvl="0" indent="0" algn="ctr" defTabSz="1333500">
                <a:lnSpc>
                  <a:spcPct val="90000"/>
                </a:lnSpc>
                <a:spcBef>
                  <a:spcPct val="0"/>
                </a:spcBef>
                <a:spcAft>
                  <a:spcPct val="35000"/>
                </a:spcAft>
                <a:buNone/>
              </a:pPr>
              <a:r>
                <a:rPr lang="en-US" altLang="zh-CN" sz="3000" b="1" kern="1200" dirty="0">
                  <a:latin typeface="Calibri" panose="020F0502020204030204" pitchFamily="34" charset="0"/>
                  <a:cs typeface="Calibri" panose="020F0502020204030204" pitchFamily="34" charset="0"/>
                </a:rPr>
                <a:t>Nature</a:t>
              </a:r>
              <a:r>
                <a:rPr lang="en-US" altLang="zh-CN" sz="3000" b="1" dirty="0">
                  <a:latin typeface="Calibri" panose="020F0502020204030204" pitchFamily="34" charset="0"/>
                  <a:cs typeface="Calibri" panose="020F0502020204030204" pitchFamily="34" charset="0"/>
                </a:rPr>
                <a:t>, </a:t>
              </a:r>
              <a:r>
                <a:rPr lang="en-US" altLang="zh-CN" sz="3000" b="1" kern="1200" dirty="0">
                  <a:latin typeface="Calibri" panose="020F0502020204030204" pitchFamily="34" charset="0"/>
                  <a:cs typeface="Calibri" panose="020F0502020204030204" pitchFamily="34" charset="0"/>
                </a:rPr>
                <a:t>Human</a:t>
              </a:r>
              <a:endParaRPr lang="zh-CN" altLang="en-US" sz="3000" b="1" kern="1200" dirty="0">
                <a:latin typeface="Calibri" panose="020F0502020204030204" pitchFamily="34" charset="0"/>
                <a:cs typeface="Calibri" panose="020F0502020204030204" pitchFamily="34" charset="0"/>
              </a:endParaRPr>
            </a:p>
          </p:txBody>
        </p:sp>
        <p:sp>
          <p:nvSpPr>
            <p:cNvPr id="12" name="任意多边形: 形状 11">
              <a:extLst>
                <a:ext uri="{FF2B5EF4-FFF2-40B4-BE49-F238E27FC236}">
                  <a16:creationId xmlns:a16="http://schemas.microsoft.com/office/drawing/2014/main" id="{8CFD9698-C6FE-405E-B0BB-330463DB4E50}"/>
                </a:ext>
              </a:extLst>
            </p:cNvPr>
            <p:cNvSpPr/>
            <p:nvPr/>
          </p:nvSpPr>
          <p:spPr>
            <a:xfrm>
              <a:off x="6606746" y="1603406"/>
              <a:ext cx="4737707" cy="4737707"/>
            </a:xfrm>
            <a:custGeom>
              <a:avLst/>
              <a:gdLst>
                <a:gd name="connsiteX0" fmla="*/ 0 w 4737707"/>
                <a:gd name="connsiteY0" fmla="*/ 2368854 h 4737707"/>
                <a:gd name="connsiteX1" fmla="*/ 2368854 w 4737707"/>
                <a:gd name="connsiteY1" fmla="*/ 0 h 4737707"/>
                <a:gd name="connsiteX2" fmla="*/ 4737708 w 4737707"/>
                <a:gd name="connsiteY2" fmla="*/ 2368854 h 4737707"/>
                <a:gd name="connsiteX3" fmla="*/ 2368854 w 4737707"/>
                <a:gd name="connsiteY3" fmla="*/ 4737708 h 4737707"/>
                <a:gd name="connsiteX4" fmla="*/ 0 w 4737707"/>
                <a:gd name="connsiteY4" fmla="*/ 2368854 h 47377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7707" h="4737707">
                  <a:moveTo>
                    <a:pt x="0" y="2368854"/>
                  </a:moveTo>
                  <a:cubicBezTo>
                    <a:pt x="0" y="1060572"/>
                    <a:pt x="1060572" y="0"/>
                    <a:pt x="2368854" y="0"/>
                  </a:cubicBezTo>
                  <a:cubicBezTo>
                    <a:pt x="3677136" y="0"/>
                    <a:pt x="4737708" y="1060572"/>
                    <a:pt x="4737708" y="2368854"/>
                  </a:cubicBezTo>
                  <a:cubicBezTo>
                    <a:pt x="4737708" y="3677136"/>
                    <a:pt x="3677136" y="4737708"/>
                    <a:pt x="2368854" y="4737708"/>
                  </a:cubicBezTo>
                  <a:cubicBezTo>
                    <a:pt x="1060572" y="4737708"/>
                    <a:pt x="0" y="3677136"/>
                    <a:pt x="0" y="2368854"/>
                  </a:cubicBezTo>
                  <a:close/>
                </a:path>
              </a:pathLst>
            </a:custGeom>
          </p:spPr>
          <p:style>
            <a:lnRef idx="0">
              <a:schemeClr val="dk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none" lIns="1683179" tIns="426503" rIns="1683180" bIns="3742897" numCol="1" spcCol="1270" anchor="ctr" anchorCtr="0">
              <a:noAutofit/>
            </a:bodyPr>
            <a:lstStyle/>
            <a:p>
              <a:pPr marL="0" lvl="0" indent="0" algn="ctr" defTabSz="889000">
                <a:lnSpc>
                  <a:spcPct val="90000"/>
                </a:lnSpc>
                <a:spcBef>
                  <a:spcPct val="0"/>
                </a:spcBef>
                <a:spcAft>
                  <a:spcPct val="35000"/>
                </a:spcAft>
                <a:buNone/>
              </a:pPr>
              <a:endParaRPr lang="en-US" altLang="zh-CN" sz="2000" b="1" kern="1200" dirty="0">
                <a:latin typeface="Calibri" panose="020F0502020204030204" pitchFamily="34" charset="0"/>
                <a:cs typeface="Calibri" panose="020F0502020204030204" pitchFamily="34" charset="0"/>
              </a:endParaRPr>
            </a:p>
            <a:p>
              <a:pPr marL="0" lvl="0" indent="0" algn="ctr" defTabSz="889000">
                <a:lnSpc>
                  <a:spcPct val="90000"/>
                </a:lnSpc>
                <a:spcBef>
                  <a:spcPct val="0"/>
                </a:spcBef>
                <a:spcAft>
                  <a:spcPct val="35000"/>
                </a:spcAft>
                <a:buNone/>
              </a:pPr>
              <a:r>
                <a:rPr lang="en-US" altLang="zh-CN" sz="2000" b="1" kern="1200" dirty="0">
                  <a:latin typeface="Calibri" panose="020F0502020204030204" pitchFamily="34" charset="0"/>
                  <a:cs typeface="Calibri" panose="020F0502020204030204" pitchFamily="34" charset="0"/>
                </a:rPr>
                <a:t>Fire, Earth, Metal, </a:t>
              </a:r>
            </a:p>
            <a:p>
              <a:pPr marL="0" lvl="0" indent="0" algn="ctr" defTabSz="889000">
                <a:lnSpc>
                  <a:spcPct val="90000"/>
                </a:lnSpc>
                <a:spcBef>
                  <a:spcPct val="0"/>
                </a:spcBef>
                <a:spcAft>
                  <a:spcPct val="35000"/>
                </a:spcAft>
                <a:buNone/>
              </a:pPr>
              <a:r>
                <a:rPr lang="en-US" altLang="zh-CN" sz="2000" b="1" kern="1200" dirty="0">
                  <a:latin typeface="Calibri" panose="020F0502020204030204" pitchFamily="34" charset="0"/>
                  <a:cs typeface="Calibri" panose="020F0502020204030204" pitchFamily="34" charset="0"/>
                </a:rPr>
                <a:t>Water, Wood</a:t>
              </a:r>
              <a:endParaRPr lang="zh-CN" altLang="en-US" sz="2000" b="1" kern="1200" dirty="0">
                <a:latin typeface="Calibri" panose="020F0502020204030204" pitchFamily="34" charset="0"/>
                <a:cs typeface="Calibri" panose="020F0502020204030204" pitchFamily="34" charset="0"/>
              </a:endParaRPr>
            </a:p>
          </p:txBody>
        </p:sp>
        <p:sp>
          <p:nvSpPr>
            <p:cNvPr id="13" name="任意多边形: 形状 12">
              <a:extLst>
                <a:ext uri="{FF2B5EF4-FFF2-40B4-BE49-F238E27FC236}">
                  <a16:creationId xmlns:a16="http://schemas.microsoft.com/office/drawing/2014/main" id="{DDABF287-5DF5-4C75-8633-330CBDC7CAB5}"/>
                </a:ext>
              </a:extLst>
            </p:cNvPr>
            <p:cNvSpPr/>
            <p:nvPr/>
          </p:nvSpPr>
          <p:spPr>
            <a:xfrm>
              <a:off x="7198959" y="2787833"/>
              <a:ext cx="3553280" cy="3553280"/>
            </a:xfrm>
            <a:custGeom>
              <a:avLst/>
              <a:gdLst>
                <a:gd name="connsiteX0" fmla="*/ 0 w 3553280"/>
                <a:gd name="connsiteY0" fmla="*/ 1776640 h 3553280"/>
                <a:gd name="connsiteX1" fmla="*/ 1776640 w 3553280"/>
                <a:gd name="connsiteY1" fmla="*/ 0 h 3553280"/>
                <a:gd name="connsiteX2" fmla="*/ 3553280 w 3553280"/>
                <a:gd name="connsiteY2" fmla="*/ 1776640 h 3553280"/>
                <a:gd name="connsiteX3" fmla="*/ 1776640 w 3553280"/>
                <a:gd name="connsiteY3" fmla="*/ 3553280 h 3553280"/>
                <a:gd name="connsiteX4" fmla="*/ 0 w 3553280"/>
                <a:gd name="connsiteY4" fmla="*/ 1776640 h 35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53280" h="3553280">
                  <a:moveTo>
                    <a:pt x="0" y="1776640"/>
                  </a:moveTo>
                  <a:cubicBezTo>
                    <a:pt x="0" y="795429"/>
                    <a:pt x="795429" y="0"/>
                    <a:pt x="1776640" y="0"/>
                  </a:cubicBezTo>
                  <a:cubicBezTo>
                    <a:pt x="2757851" y="0"/>
                    <a:pt x="3553280" y="795429"/>
                    <a:pt x="3553280" y="1776640"/>
                  </a:cubicBezTo>
                  <a:cubicBezTo>
                    <a:pt x="3553280" y="2757851"/>
                    <a:pt x="2757851" y="3553280"/>
                    <a:pt x="1776640" y="3553280"/>
                  </a:cubicBezTo>
                  <a:cubicBezTo>
                    <a:pt x="795429" y="3553280"/>
                    <a:pt x="0" y="2757851"/>
                    <a:pt x="0" y="1776640"/>
                  </a:cubicBezTo>
                  <a:close/>
                </a:path>
              </a:pathLst>
            </a:custGeom>
          </p:spPr>
          <p:style>
            <a:lnRef idx="0">
              <a:schemeClr val="dk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none" lIns="1162086" tIns="479856" rIns="1162086" bIns="2700656" numCol="1" spcCol="1270" anchor="ctr" anchorCtr="0">
              <a:noAutofit/>
            </a:bodyPr>
            <a:lstStyle/>
            <a:p>
              <a:pPr marL="0" lvl="0" indent="0" algn="ctr" defTabSz="1333500">
                <a:lnSpc>
                  <a:spcPct val="90000"/>
                </a:lnSpc>
                <a:spcBef>
                  <a:spcPct val="0"/>
                </a:spcBef>
                <a:spcAft>
                  <a:spcPct val="35000"/>
                </a:spcAft>
                <a:buNone/>
              </a:pPr>
              <a:endParaRPr lang="en-US" altLang="zh-CN" sz="3000" b="1" kern="1200" dirty="0">
                <a:latin typeface="Calibri" panose="020F0502020204030204" pitchFamily="34" charset="0"/>
                <a:cs typeface="Calibri" panose="020F0502020204030204" pitchFamily="34" charset="0"/>
              </a:endParaRPr>
            </a:p>
            <a:p>
              <a:pPr marL="0" lvl="0" indent="0" algn="ctr" defTabSz="1333500">
                <a:lnSpc>
                  <a:spcPct val="90000"/>
                </a:lnSpc>
                <a:spcBef>
                  <a:spcPct val="0"/>
                </a:spcBef>
                <a:spcAft>
                  <a:spcPct val="35000"/>
                </a:spcAft>
                <a:buNone/>
              </a:pPr>
              <a:r>
                <a:rPr lang="en-US" altLang="zh-CN" sz="3000" b="1" kern="1200" dirty="0">
                  <a:latin typeface="Calibri" panose="020F0502020204030204" pitchFamily="34" charset="0"/>
                  <a:cs typeface="Calibri" panose="020F0502020204030204" pitchFamily="34" charset="0"/>
                </a:rPr>
                <a:t>Yin, Yang</a:t>
              </a:r>
              <a:endParaRPr lang="zh-CN" altLang="en-US" sz="3000" b="1" kern="1200" dirty="0">
                <a:latin typeface="Calibri" panose="020F0502020204030204" pitchFamily="34" charset="0"/>
                <a:cs typeface="Calibri" panose="020F0502020204030204" pitchFamily="34" charset="0"/>
              </a:endParaRPr>
            </a:p>
          </p:txBody>
        </p:sp>
        <p:sp>
          <p:nvSpPr>
            <p:cNvPr id="14" name="任意多边形: 形状 13">
              <a:extLst>
                <a:ext uri="{FF2B5EF4-FFF2-40B4-BE49-F238E27FC236}">
                  <a16:creationId xmlns:a16="http://schemas.microsoft.com/office/drawing/2014/main" id="{74A14CCF-768D-4A0E-8123-40040E11C1A2}"/>
                </a:ext>
              </a:extLst>
            </p:cNvPr>
            <p:cNvSpPr/>
            <p:nvPr/>
          </p:nvSpPr>
          <p:spPr>
            <a:xfrm>
              <a:off x="7791173" y="3972260"/>
              <a:ext cx="2368853" cy="2368853"/>
            </a:xfrm>
            <a:custGeom>
              <a:avLst/>
              <a:gdLst>
                <a:gd name="connsiteX0" fmla="*/ 0 w 2368853"/>
                <a:gd name="connsiteY0" fmla="*/ 1184427 h 2368853"/>
                <a:gd name="connsiteX1" fmla="*/ 1184427 w 2368853"/>
                <a:gd name="connsiteY1" fmla="*/ 0 h 2368853"/>
                <a:gd name="connsiteX2" fmla="*/ 2368854 w 2368853"/>
                <a:gd name="connsiteY2" fmla="*/ 1184427 h 2368853"/>
                <a:gd name="connsiteX3" fmla="*/ 1184427 w 2368853"/>
                <a:gd name="connsiteY3" fmla="*/ 2368854 h 2368853"/>
                <a:gd name="connsiteX4" fmla="*/ 0 w 2368853"/>
                <a:gd name="connsiteY4" fmla="*/ 1184427 h 2368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8853" h="2368853">
                  <a:moveTo>
                    <a:pt x="0" y="1184427"/>
                  </a:moveTo>
                  <a:cubicBezTo>
                    <a:pt x="0" y="530286"/>
                    <a:pt x="530286" y="0"/>
                    <a:pt x="1184427" y="0"/>
                  </a:cubicBezTo>
                  <a:cubicBezTo>
                    <a:pt x="1838568" y="0"/>
                    <a:pt x="2368854" y="530286"/>
                    <a:pt x="2368854" y="1184427"/>
                  </a:cubicBezTo>
                  <a:cubicBezTo>
                    <a:pt x="2368854" y="1838568"/>
                    <a:pt x="1838568" y="2368854"/>
                    <a:pt x="1184427" y="2368854"/>
                  </a:cubicBezTo>
                  <a:cubicBezTo>
                    <a:pt x="530286" y="2368854"/>
                    <a:pt x="0" y="1838568"/>
                    <a:pt x="0" y="1184427"/>
                  </a:cubicBezTo>
                  <a:close/>
                </a:path>
              </a:pathLst>
            </a:custGeom>
          </p:spPr>
          <p:style>
            <a:lnRef idx="0">
              <a:schemeClr val="dk1">
                <a:shade val="80000"/>
                <a:hueOff val="0"/>
                <a:satOff val="0"/>
                <a:lumOff val="0"/>
                <a:alphaOff val="0"/>
              </a:schemeClr>
            </a:lnRef>
            <a:fillRef idx="3">
              <a:schemeClr val="lt1">
                <a:hueOff val="0"/>
                <a:satOff val="0"/>
                <a:lumOff val="0"/>
                <a:alphaOff val="0"/>
              </a:schemeClr>
            </a:fillRef>
            <a:effectRef idx="3">
              <a:schemeClr val="lt1">
                <a:hueOff val="0"/>
                <a:satOff val="0"/>
                <a:lumOff val="0"/>
                <a:alphaOff val="0"/>
              </a:schemeClr>
            </a:effectRef>
            <a:fontRef idx="minor">
              <a:schemeClr val="dk1">
                <a:hueOff val="0"/>
                <a:satOff val="0"/>
                <a:lumOff val="0"/>
                <a:alphaOff val="0"/>
              </a:schemeClr>
            </a:fontRef>
          </p:style>
          <p:txBody>
            <a:bodyPr spcFirstLastPara="0" vert="horz" wrap="square" lIns="631390" tIns="876693" rIns="631391" bIns="876694" numCol="1" spcCol="1270" anchor="ctr" anchorCtr="0">
              <a:noAutofit/>
            </a:bodyPr>
            <a:lstStyle/>
            <a:p>
              <a:pPr marL="0" lvl="0" indent="0" algn="ctr" defTabSz="1778000">
                <a:lnSpc>
                  <a:spcPct val="90000"/>
                </a:lnSpc>
                <a:spcBef>
                  <a:spcPct val="0"/>
                </a:spcBef>
                <a:spcAft>
                  <a:spcPct val="35000"/>
                </a:spcAft>
                <a:buNone/>
              </a:pPr>
              <a:r>
                <a:rPr lang="en-US" altLang="zh-CN" sz="4000" b="1" kern="1200" dirty="0">
                  <a:latin typeface="Calibri" panose="020F0502020204030204" pitchFamily="34" charset="0"/>
                  <a:cs typeface="Calibri" panose="020F0502020204030204" pitchFamily="34" charset="0"/>
                </a:rPr>
                <a:t>Chi</a:t>
              </a:r>
              <a:endParaRPr lang="zh-CN" altLang="en-US" sz="4000" b="1" kern="1200" dirty="0">
                <a:latin typeface="Calibri" panose="020F0502020204030204" pitchFamily="34" charset="0"/>
                <a:cs typeface="Calibri" panose="020F0502020204030204" pitchFamily="34" charset="0"/>
              </a:endParaRPr>
            </a:p>
          </p:txBody>
        </p:sp>
      </p:grpSp>
      <p:sp>
        <p:nvSpPr>
          <p:cNvPr id="11" name="矩形 10">
            <a:extLst>
              <a:ext uri="{FF2B5EF4-FFF2-40B4-BE49-F238E27FC236}">
                <a16:creationId xmlns:a16="http://schemas.microsoft.com/office/drawing/2014/main" id="{AAFE3257-2D7B-43DD-8F80-3F8A3A36EDDF}"/>
              </a:ext>
            </a:extLst>
          </p:cNvPr>
          <p:cNvSpPr/>
          <p:nvPr/>
        </p:nvSpPr>
        <p:spPr>
          <a:xfrm>
            <a:off x="5949446" y="2459504"/>
            <a:ext cx="6088352" cy="1938992"/>
          </a:xfrm>
          <a:prstGeom prst="rect">
            <a:avLst/>
          </a:prstGeom>
        </p:spPr>
        <p:txBody>
          <a:bodyPr wrap="square">
            <a:spAutoFit/>
          </a:bodyPr>
          <a:lstStyle/>
          <a:p>
            <a:r>
              <a:rPr lang="en-US" altLang="zh-CN" sz="3000" b="1" i="1" dirty="0">
                <a:solidFill>
                  <a:srgbClr val="FFC000"/>
                </a:solidFill>
                <a:latin typeface="Calibri" panose="020F0502020204030204" pitchFamily="34" charset="0"/>
                <a:cs typeface="Calibri" panose="020F0502020204030204" pitchFamily="34" charset="0"/>
              </a:rPr>
              <a:t>Great artwork needs no work</a:t>
            </a:r>
          </a:p>
          <a:p>
            <a:endParaRPr lang="en-US" altLang="zh-CN" sz="3000" b="1" dirty="0">
              <a:solidFill>
                <a:srgbClr val="FFC000"/>
              </a:solidFill>
              <a:latin typeface="Calibri" panose="020F0502020204030204" pitchFamily="34" charset="0"/>
              <a:cs typeface="Calibri" panose="020F0502020204030204" pitchFamily="34" charset="0"/>
            </a:endParaRPr>
          </a:p>
          <a:p>
            <a:endParaRPr lang="en-US" altLang="zh-CN" sz="3000" b="1" dirty="0">
              <a:solidFill>
                <a:srgbClr val="FFC000"/>
              </a:solidFill>
              <a:latin typeface="Calibri" panose="020F0502020204030204" pitchFamily="34" charset="0"/>
              <a:cs typeface="Calibri" panose="020F0502020204030204" pitchFamily="34" charset="0"/>
            </a:endParaRPr>
          </a:p>
          <a:p>
            <a:r>
              <a:rPr lang="en-US" altLang="zh-CN" sz="3000" b="1" i="1" dirty="0">
                <a:solidFill>
                  <a:srgbClr val="FFC000"/>
                </a:solidFill>
                <a:latin typeface="Calibri" panose="020F0502020204030204" pitchFamily="34" charset="0"/>
                <a:cs typeface="Calibri" panose="020F0502020204030204" pitchFamily="34" charset="0"/>
              </a:rPr>
              <a:t>Great medicine needs no medicine</a:t>
            </a:r>
            <a:endParaRPr lang="zh-CN" altLang="en-US" sz="3000" b="1" i="1" dirty="0">
              <a:solidFill>
                <a:srgbClr val="FFC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20535407"/>
      </p:ext>
    </p:extLst>
  </p:cSld>
  <p:clrMapOvr>
    <a:masterClrMapping/>
  </p:clrMapOvr>
  <p:transition>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3"/>
          <a:stretch>
            <a:fillRect/>
          </a:stretch>
        </p:blipFill>
        <p:spPr>
          <a:xfrm>
            <a:off x="10951200" y="5836340"/>
            <a:ext cx="1086598" cy="877470"/>
          </a:xfrm>
          <a:prstGeom prst="rect">
            <a:avLst/>
          </a:prstGeom>
        </p:spPr>
      </p:pic>
      <p:sp>
        <p:nvSpPr>
          <p:cNvPr id="20" name="文本框 19"/>
          <p:cNvSpPr txBox="1"/>
          <p:nvPr/>
        </p:nvSpPr>
        <p:spPr>
          <a:xfrm>
            <a:off x="433499" y="215868"/>
            <a:ext cx="10671653" cy="707886"/>
          </a:xfrm>
          <a:prstGeom prst="rect">
            <a:avLst/>
          </a:prstGeom>
          <a:noFill/>
        </p:spPr>
        <p:txBody>
          <a:bodyPr wrap="square" rtlCol="0">
            <a:spAutoFit/>
          </a:bodyPr>
          <a:lstStyle/>
          <a:p>
            <a:r>
              <a:rPr lang="en-US" altLang="zh-CN" sz="4000" b="1" dirty="0">
                <a:solidFill>
                  <a:schemeClr val="tx2"/>
                </a:solidFill>
                <a:latin typeface="Calibri" panose="020F0502020204030204" pitchFamily="34" charset="0"/>
                <a:cs typeface="Calibri" panose="020F0502020204030204" pitchFamily="34" charset="0"/>
              </a:rPr>
              <a:t>TCM’s</a:t>
            </a:r>
            <a:r>
              <a:rPr lang="zh-CN" altLang="en-US" sz="4000" b="1" dirty="0">
                <a:solidFill>
                  <a:schemeClr val="tx2"/>
                </a:solidFill>
                <a:latin typeface="Calibri" panose="020F0502020204030204" pitchFamily="34" charset="0"/>
                <a:cs typeface="Calibri" panose="020F0502020204030204" pitchFamily="34" charset="0"/>
              </a:rPr>
              <a:t> </a:t>
            </a:r>
            <a:r>
              <a:rPr lang="en-US" altLang="zh-CN" sz="4000" b="1" dirty="0">
                <a:solidFill>
                  <a:schemeClr val="tx2"/>
                </a:solidFill>
                <a:latin typeface="Calibri" panose="020F0502020204030204" pitchFamily="34" charset="0"/>
                <a:cs typeface="Calibri" panose="020F0502020204030204" pitchFamily="34" charset="0"/>
              </a:rPr>
              <a:t>Art in Philosophy</a:t>
            </a:r>
            <a:endParaRPr lang="zh-CN" altLang="en-US" sz="4000" dirty="0">
              <a:solidFill>
                <a:schemeClr val="tx2"/>
              </a:solidFill>
              <a:latin typeface="Calibri" panose="020F0502020204030204" pitchFamily="34" charset="0"/>
              <a:cs typeface="Calibri" panose="020F0502020204030204" pitchFamily="34" charset="0"/>
            </a:endParaRPr>
          </a:p>
        </p:txBody>
      </p:sp>
      <p:grpSp>
        <p:nvGrpSpPr>
          <p:cNvPr id="17" name="组合 16">
            <a:extLst>
              <a:ext uri="{FF2B5EF4-FFF2-40B4-BE49-F238E27FC236}">
                <a16:creationId xmlns:a16="http://schemas.microsoft.com/office/drawing/2014/main" id="{23D3F854-7038-4CA0-A91E-EF3D98BDA394}"/>
              </a:ext>
            </a:extLst>
          </p:cNvPr>
          <p:cNvGrpSpPr/>
          <p:nvPr/>
        </p:nvGrpSpPr>
        <p:grpSpPr>
          <a:xfrm>
            <a:off x="764571" y="1106646"/>
            <a:ext cx="4778629" cy="5272101"/>
            <a:chOff x="869921" y="1010962"/>
            <a:chExt cx="4778629" cy="5272101"/>
          </a:xfrm>
        </p:grpSpPr>
        <p:sp>
          <p:nvSpPr>
            <p:cNvPr id="18" name="文本框 17">
              <a:extLst>
                <a:ext uri="{FF2B5EF4-FFF2-40B4-BE49-F238E27FC236}">
                  <a16:creationId xmlns:a16="http://schemas.microsoft.com/office/drawing/2014/main" id="{21A52F5D-0EC5-40C6-B9CD-06CA66DB2A7A}"/>
                </a:ext>
              </a:extLst>
            </p:cNvPr>
            <p:cNvSpPr txBox="1"/>
            <p:nvPr/>
          </p:nvSpPr>
          <p:spPr>
            <a:xfrm>
              <a:off x="869921" y="5698288"/>
              <a:ext cx="4778629" cy="584775"/>
            </a:xfrm>
            <a:prstGeom prst="rect">
              <a:avLst/>
            </a:prstGeom>
            <a:noFill/>
          </p:spPr>
          <p:txBody>
            <a:bodyPr wrap="square" rtlCol="0">
              <a:spAutoFit/>
            </a:bodyPr>
            <a:lstStyle/>
            <a:p>
              <a:pPr algn="ctr"/>
              <a:r>
                <a:rPr lang="en-US" altLang="zh-CN" sz="3200" b="1" dirty="0">
                  <a:latin typeface="Calibri" panose="020F0502020204030204" pitchFamily="34" charset="0"/>
                  <a:cs typeface="Calibri" panose="020F0502020204030204" pitchFamily="34" charset="0"/>
                </a:rPr>
                <a:t>YinYang and Five Elements</a:t>
              </a:r>
            </a:p>
          </p:txBody>
        </p:sp>
        <p:pic>
          <p:nvPicPr>
            <p:cNvPr id="19" name="图片 18">
              <a:extLst>
                <a:ext uri="{FF2B5EF4-FFF2-40B4-BE49-F238E27FC236}">
                  <a16:creationId xmlns:a16="http://schemas.microsoft.com/office/drawing/2014/main" id="{0B16CFD0-A2A9-4858-B2D8-6CAB5841E2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4650" y="1010962"/>
              <a:ext cx="4533900" cy="4562475"/>
            </a:xfrm>
            <a:prstGeom prst="rect">
              <a:avLst/>
            </a:prstGeom>
          </p:spPr>
        </p:pic>
      </p:grpSp>
      <p:grpSp>
        <p:nvGrpSpPr>
          <p:cNvPr id="40" name="组合 39">
            <a:extLst>
              <a:ext uri="{FF2B5EF4-FFF2-40B4-BE49-F238E27FC236}">
                <a16:creationId xmlns:a16="http://schemas.microsoft.com/office/drawing/2014/main" id="{5FE99760-0AD8-4768-919A-5839C26AA80A}"/>
              </a:ext>
            </a:extLst>
          </p:cNvPr>
          <p:cNvGrpSpPr/>
          <p:nvPr/>
        </p:nvGrpSpPr>
        <p:grpSpPr>
          <a:xfrm>
            <a:off x="6394000" y="1137600"/>
            <a:ext cx="4788700" cy="4788700"/>
            <a:chOff x="6537663" y="1964638"/>
            <a:chExt cx="3794237" cy="3794237"/>
          </a:xfrm>
        </p:grpSpPr>
        <p:sp>
          <p:nvSpPr>
            <p:cNvPr id="41" name="任意多边形: 形状 40">
              <a:extLst>
                <a:ext uri="{FF2B5EF4-FFF2-40B4-BE49-F238E27FC236}">
                  <a16:creationId xmlns:a16="http://schemas.microsoft.com/office/drawing/2014/main" id="{CDD59A3D-6878-4D5F-9DA7-1EE2A1795C60}"/>
                </a:ext>
              </a:extLst>
            </p:cNvPr>
            <p:cNvSpPr/>
            <p:nvPr/>
          </p:nvSpPr>
          <p:spPr>
            <a:xfrm>
              <a:off x="6537663" y="1964638"/>
              <a:ext cx="1854294" cy="1854294"/>
            </a:xfrm>
            <a:custGeom>
              <a:avLst/>
              <a:gdLst>
                <a:gd name="connsiteX0" fmla="*/ 0 w 1854294"/>
                <a:gd name="connsiteY0" fmla="*/ 1854294 h 1854294"/>
                <a:gd name="connsiteX1" fmla="*/ 1854294 w 1854294"/>
                <a:gd name="connsiteY1" fmla="*/ 0 h 1854294"/>
                <a:gd name="connsiteX2" fmla="*/ 1854294 w 1854294"/>
                <a:gd name="connsiteY2" fmla="*/ 1854294 h 1854294"/>
                <a:gd name="connsiteX3" fmla="*/ 0 w 1854294"/>
                <a:gd name="connsiteY3" fmla="*/ 1854294 h 1854294"/>
              </a:gdLst>
              <a:ahLst/>
              <a:cxnLst>
                <a:cxn ang="0">
                  <a:pos x="connsiteX0" y="connsiteY0"/>
                </a:cxn>
                <a:cxn ang="0">
                  <a:pos x="connsiteX1" y="connsiteY1"/>
                </a:cxn>
                <a:cxn ang="0">
                  <a:pos x="connsiteX2" y="connsiteY2"/>
                </a:cxn>
                <a:cxn ang="0">
                  <a:pos x="connsiteX3" y="connsiteY3"/>
                </a:cxn>
              </a:cxnLst>
              <a:rect l="l" t="t" r="r" b="b"/>
              <a:pathLst>
                <a:path w="1854294" h="1854294">
                  <a:moveTo>
                    <a:pt x="0" y="1854294"/>
                  </a:moveTo>
                  <a:cubicBezTo>
                    <a:pt x="0" y="830196"/>
                    <a:pt x="830196" y="0"/>
                    <a:pt x="1854294" y="0"/>
                  </a:cubicBezTo>
                  <a:lnTo>
                    <a:pt x="1854294" y="1854294"/>
                  </a:lnTo>
                  <a:lnTo>
                    <a:pt x="0" y="1854294"/>
                  </a:lnTo>
                  <a:close/>
                </a:path>
              </a:pathLst>
            </a:custGeom>
            <a:scene3d>
              <a:camera prst="orthographicFront"/>
              <a:lightRig rig="threePt" dir="t">
                <a:rot lat="0" lon="0" rev="7500000"/>
              </a:lightRig>
            </a:scene3d>
            <a:sp3d prstMaterial="plastic">
              <a:bevelT w="127000" h="25400" prst="relaxedInset"/>
            </a:sp3d>
          </p:spPr>
          <p:style>
            <a:lnRef idx="0">
              <a:schemeClr val="dk1">
                <a:shade val="80000"/>
                <a:hueOff val="0"/>
                <a:satOff val="0"/>
                <a:lumOff val="0"/>
                <a:alphaOff val="0"/>
              </a:schemeClr>
            </a:lnRef>
            <a:fillRef idx="3">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txBody>
            <a:bodyPr spcFirstLastPara="0" vert="horz" wrap="none" lIns="756470" tIns="756470" rIns="213360" bIns="213360" numCol="1" spcCol="1270" anchor="ctr" anchorCtr="0">
              <a:noAutofit/>
            </a:bodyPr>
            <a:lstStyle/>
            <a:p>
              <a:pPr marL="0" lvl="0" indent="0" algn="ctr" defTabSz="1333500">
                <a:lnSpc>
                  <a:spcPct val="90000"/>
                </a:lnSpc>
                <a:spcBef>
                  <a:spcPct val="0"/>
                </a:spcBef>
                <a:spcAft>
                  <a:spcPct val="35000"/>
                </a:spcAft>
                <a:buNone/>
              </a:pPr>
              <a:r>
                <a:rPr lang="en-US" altLang="zh-CN" sz="3000" b="1" kern="1200" dirty="0">
                  <a:latin typeface="Calibri" panose="020F0502020204030204" pitchFamily="34" charset="0"/>
                  <a:cs typeface="Calibri" panose="020F0502020204030204" pitchFamily="34" charset="0"/>
                </a:rPr>
                <a:t>Harmony</a:t>
              </a:r>
              <a:endParaRPr lang="zh-CN" altLang="en-US" sz="3000" b="1" kern="1200" dirty="0">
                <a:latin typeface="Calibri" panose="020F0502020204030204" pitchFamily="34" charset="0"/>
                <a:cs typeface="Calibri" panose="020F0502020204030204" pitchFamily="34" charset="0"/>
              </a:endParaRPr>
            </a:p>
          </p:txBody>
        </p:sp>
        <p:sp>
          <p:nvSpPr>
            <p:cNvPr id="42" name="任意多边形: 形状 41">
              <a:extLst>
                <a:ext uri="{FF2B5EF4-FFF2-40B4-BE49-F238E27FC236}">
                  <a16:creationId xmlns:a16="http://schemas.microsoft.com/office/drawing/2014/main" id="{CBE481BB-0EBE-4709-8630-33267582DCC7}"/>
                </a:ext>
              </a:extLst>
            </p:cNvPr>
            <p:cNvSpPr/>
            <p:nvPr/>
          </p:nvSpPr>
          <p:spPr>
            <a:xfrm>
              <a:off x="8477606" y="1964638"/>
              <a:ext cx="1854294" cy="1854294"/>
            </a:xfrm>
            <a:custGeom>
              <a:avLst/>
              <a:gdLst>
                <a:gd name="connsiteX0" fmla="*/ 0 w 1854294"/>
                <a:gd name="connsiteY0" fmla="*/ 1854294 h 1854294"/>
                <a:gd name="connsiteX1" fmla="*/ 1854294 w 1854294"/>
                <a:gd name="connsiteY1" fmla="*/ 0 h 1854294"/>
                <a:gd name="connsiteX2" fmla="*/ 1854294 w 1854294"/>
                <a:gd name="connsiteY2" fmla="*/ 1854294 h 1854294"/>
                <a:gd name="connsiteX3" fmla="*/ 0 w 1854294"/>
                <a:gd name="connsiteY3" fmla="*/ 1854294 h 1854294"/>
              </a:gdLst>
              <a:ahLst/>
              <a:cxnLst>
                <a:cxn ang="0">
                  <a:pos x="connsiteX0" y="connsiteY0"/>
                </a:cxn>
                <a:cxn ang="0">
                  <a:pos x="connsiteX1" y="connsiteY1"/>
                </a:cxn>
                <a:cxn ang="0">
                  <a:pos x="connsiteX2" y="connsiteY2"/>
                </a:cxn>
                <a:cxn ang="0">
                  <a:pos x="connsiteX3" y="connsiteY3"/>
                </a:cxn>
              </a:cxnLst>
              <a:rect l="l" t="t" r="r" b="b"/>
              <a:pathLst>
                <a:path w="1854294" h="1854294">
                  <a:moveTo>
                    <a:pt x="0" y="0"/>
                  </a:moveTo>
                  <a:cubicBezTo>
                    <a:pt x="1024098" y="0"/>
                    <a:pt x="1854294" y="830196"/>
                    <a:pt x="1854294" y="1854294"/>
                  </a:cubicBezTo>
                  <a:lnTo>
                    <a:pt x="0" y="1854294"/>
                  </a:lnTo>
                  <a:lnTo>
                    <a:pt x="0" y="0"/>
                  </a:lnTo>
                  <a:close/>
                </a:path>
              </a:pathLst>
            </a:custGeom>
            <a:scene3d>
              <a:camera prst="orthographicFront"/>
              <a:lightRig rig="threePt" dir="t">
                <a:rot lat="0" lon="0" rev="7500000"/>
              </a:lightRig>
            </a:scene3d>
            <a:sp3d prstMaterial="plastic">
              <a:bevelT w="127000" h="25400" prst="relaxedInset"/>
            </a:sp3d>
          </p:spPr>
          <p:style>
            <a:lnRef idx="0">
              <a:schemeClr val="dk1">
                <a:shade val="80000"/>
                <a:hueOff val="0"/>
                <a:satOff val="0"/>
                <a:lumOff val="0"/>
                <a:alphaOff val="0"/>
              </a:schemeClr>
            </a:lnRef>
            <a:fillRef idx="3">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txBody>
            <a:bodyPr spcFirstLastPara="0" vert="horz" wrap="none" lIns="213360" tIns="756470" rIns="756470" bIns="213360" numCol="1" spcCol="1270" anchor="ctr" anchorCtr="0">
              <a:noAutofit/>
            </a:bodyPr>
            <a:lstStyle/>
            <a:p>
              <a:pPr marL="0" lvl="0" indent="0" algn="r" defTabSz="1333500">
                <a:lnSpc>
                  <a:spcPct val="90000"/>
                </a:lnSpc>
                <a:spcBef>
                  <a:spcPct val="0"/>
                </a:spcBef>
                <a:spcAft>
                  <a:spcPct val="35000"/>
                </a:spcAft>
                <a:buNone/>
              </a:pPr>
              <a:r>
                <a:rPr lang="en-US" altLang="zh-CN" sz="3000" b="1" kern="1200" dirty="0">
                  <a:latin typeface="Calibri" panose="020F0502020204030204" pitchFamily="34" charset="0"/>
                  <a:cs typeface="Calibri" panose="020F0502020204030204" pitchFamily="34" charset="0"/>
                </a:rPr>
                <a:t>Plurality</a:t>
              </a:r>
              <a:endParaRPr lang="zh-CN" altLang="en-US" sz="3000" b="1" kern="1200" dirty="0">
                <a:latin typeface="Calibri" panose="020F0502020204030204" pitchFamily="34" charset="0"/>
                <a:cs typeface="Calibri" panose="020F0502020204030204" pitchFamily="34" charset="0"/>
              </a:endParaRPr>
            </a:p>
          </p:txBody>
        </p:sp>
        <p:sp>
          <p:nvSpPr>
            <p:cNvPr id="43" name="任意多边形: 形状 42">
              <a:extLst>
                <a:ext uri="{FF2B5EF4-FFF2-40B4-BE49-F238E27FC236}">
                  <a16:creationId xmlns:a16="http://schemas.microsoft.com/office/drawing/2014/main" id="{9EE42045-614E-4B54-9699-8C863804B758}"/>
                </a:ext>
              </a:extLst>
            </p:cNvPr>
            <p:cNvSpPr/>
            <p:nvPr/>
          </p:nvSpPr>
          <p:spPr>
            <a:xfrm rot="21600000">
              <a:off x="8477606" y="3904580"/>
              <a:ext cx="1854294" cy="1854295"/>
            </a:xfrm>
            <a:custGeom>
              <a:avLst/>
              <a:gdLst>
                <a:gd name="connsiteX0" fmla="*/ 0 w 1854294"/>
                <a:gd name="connsiteY0" fmla="*/ 1854294 h 1854294"/>
                <a:gd name="connsiteX1" fmla="*/ 1854294 w 1854294"/>
                <a:gd name="connsiteY1" fmla="*/ 0 h 1854294"/>
                <a:gd name="connsiteX2" fmla="*/ 1854294 w 1854294"/>
                <a:gd name="connsiteY2" fmla="*/ 1854294 h 1854294"/>
                <a:gd name="connsiteX3" fmla="*/ 0 w 1854294"/>
                <a:gd name="connsiteY3" fmla="*/ 1854294 h 1854294"/>
              </a:gdLst>
              <a:ahLst/>
              <a:cxnLst>
                <a:cxn ang="0">
                  <a:pos x="connsiteX0" y="connsiteY0"/>
                </a:cxn>
                <a:cxn ang="0">
                  <a:pos x="connsiteX1" y="connsiteY1"/>
                </a:cxn>
                <a:cxn ang="0">
                  <a:pos x="connsiteX2" y="connsiteY2"/>
                </a:cxn>
                <a:cxn ang="0">
                  <a:pos x="connsiteX3" y="connsiteY3"/>
                </a:cxn>
              </a:cxnLst>
              <a:rect l="l" t="t" r="r" b="b"/>
              <a:pathLst>
                <a:path w="1854294" h="1854294">
                  <a:moveTo>
                    <a:pt x="1854294" y="0"/>
                  </a:moveTo>
                  <a:cubicBezTo>
                    <a:pt x="1854294" y="1024098"/>
                    <a:pt x="1024098" y="1854294"/>
                    <a:pt x="0" y="1854294"/>
                  </a:cubicBezTo>
                  <a:lnTo>
                    <a:pt x="0" y="0"/>
                  </a:lnTo>
                  <a:lnTo>
                    <a:pt x="1854294" y="0"/>
                  </a:lnTo>
                  <a:close/>
                </a:path>
              </a:pathLst>
            </a:custGeom>
            <a:scene3d>
              <a:camera prst="orthographicFront"/>
              <a:lightRig rig="threePt" dir="t">
                <a:rot lat="0" lon="0" rev="7500000"/>
              </a:lightRig>
            </a:scene3d>
            <a:sp3d prstMaterial="plastic">
              <a:bevelT w="127000" h="25400" prst="relaxedInset"/>
            </a:sp3d>
          </p:spPr>
          <p:style>
            <a:lnRef idx="0">
              <a:schemeClr val="dk1">
                <a:shade val="80000"/>
                <a:hueOff val="0"/>
                <a:satOff val="0"/>
                <a:lumOff val="0"/>
                <a:alphaOff val="0"/>
              </a:schemeClr>
            </a:lnRef>
            <a:fillRef idx="3">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txBody>
            <a:bodyPr spcFirstLastPara="0" vert="horz" wrap="none" lIns="213360" tIns="213361" rIns="756470" bIns="756470" numCol="1" spcCol="1270" anchor="ctr" anchorCtr="0">
              <a:noAutofit/>
            </a:bodyPr>
            <a:lstStyle/>
            <a:p>
              <a:pPr marL="0" lvl="0" indent="0" defTabSz="1333500">
                <a:lnSpc>
                  <a:spcPct val="90000"/>
                </a:lnSpc>
                <a:spcBef>
                  <a:spcPct val="0"/>
                </a:spcBef>
                <a:spcAft>
                  <a:spcPct val="35000"/>
                </a:spcAft>
                <a:buNone/>
              </a:pPr>
              <a:r>
                <a:rPr lang="en-US" altLang="zh-CN" sz="3000" b="1" kern="1200" dirty="0">
                  <a:latin typeface="Calibri" panose="020F0502020204030204" pitchFamily="34" charset="0"/>
                  <a:cs typeface="Calibri" panose="020F0502020204030204" pitchFamily="34" charset="0"/>
                </a:rPr>
                <a:t>Imagination</a:t>
              </a:r>
              <a:endParaRPr lang="zh-CN" altLang="en-US" sz="3000" b="1" kern="1200" dirty="0">
                <a:latin typeface="Calibri" panose="020F0502020204030204" pitchFamily="34" charset="0"/>
                <a:cs typeface="Calibri" panose="020F0502020204030204" pitchFamily="34" charset="0"/>
              </a:endParaRPr>
            </a:p>
          </p:txBody>
        </p:sp>
        <p:sp>
          <p:nvSpPr>
            <p:cNvPr id="44" name="任意多边形: 形状 43">
              <a:extLst>
                <a:ext uri="{FF2B5EF4-FFF2-40B4-BE49-F238E27FC236}">
                  <a16:creationId xmlns:a16="http://schemas.microsoft.com/office/drawing/2014/main" id="{38445496-9D91-4A37-B3B9-D89EFEAA28D5}"/>
                </a:ext>
              </a:extLst>
            </p:cNvPr>
            <p:cNvSpPr/>
            <p:nvPr/>
          </p:nvSpPr>
          <p:spPr>
            <a:xfrm rot="21600000">
              <a:off x="6537663" y="3904581"/>
              <a:ext cx="1854294" cy="1854294"/>
            </a:xfrm>
            <a:custGeom>
              <a:avLst/>
              <a:gdLst>
                <a:gd name="connsiteX0" fmla="*/ 0 w 1854294"/>
                <a:gd name="connsiteY0" fmla="*/ 1854294 h 1854294"/>
                <a:gd name="connsiteX1" fmla="*/ 1854294 w 1854294"/>
                <a:gd name="connsiteY1" fmla="*/ 0 h 1854294"/>
                <a:gd name="connsiteX2" fmla="*/ 1854294 w 1854294"/>
                <a:gd name="connsiteY2" fmla="*/ 1854294 h 1854294"/>
                <a:gd name="connsiteX3" fmla="*/ 0 w 1854294"/>
                <a:gd name="connsiteY3" fmla="*/ 1854294 h 1854294"/>
              </a:gdLst>
              <a:ahLst/>
              <a:cxnLst>
                <a:cxn ang="0">
                  <a:pos x="connsiteX0" y="connsiteY0"/>
                </a:cxn>
                <a:cxn ang="0">
                  <a:pos x="connsiteX1" y="connsiteY1"/>
                </a:cxn>
                <a:cxn ang="0">
                  <a:pos x="connsiteX2" y="connsiteY2"/>
                </a:cxn>
                <a:cxn ang="0">
                  <a:pos x="connsiteX3" y="connsiteY3"/>
                </a:cxn>
              </a:cxnLst>
              <a:rect l="l" t="t" r="r" b="b"/>
              <a:pathLst>
                <a:path w="1854294" h="1854294">
                  <a:moveTo>
                    <a:pt x="1854294" y="1854294"/>
                  </a:moveTo>
                  <a:cubicBezTo>
                    <a:pt x="830196" y="1854294"/>
                    <a:pt x="0" y="1024098"/>
                    <a:pt x="0" y="0"/>
                  </a:cubicBezTo>
                  <a:lnTo>
                    <a:pt x="1854294" y="0"/>
                  </a:lnTo>
                  <a:lnTo>
                    <a:pt x="1854294" y="1854294"/>
                  </a:lnTo>
                  <a:close/>
                </a:path>
              </a:pathLst>
            </a:custGeom>
            <a:scene3d>
              <a:camera prst="orthographicFront"/>
              <a:lightRig rig="threePt" dir="t">
                <a:rot lat="0" lon="0" rev="7500000"/>
              </a:lightRig>
            </a:scene3d>
            <a:sp3d prstMaterial="plastic">
              <a:bevelT w="127000" h="25400" prst="relaxedInset"/>
            </a:sp3d>
          </p:spPr>
          <p:style>
            <a:lnRef idx="0">
              <a:schemeClr val="dk1">
                <a:shade val="80000"/>
                <a:hueOff val="0"/>
                <a:satOff val="0"/>
                <a:lumOff val="0"/>
                <a:alphaOff val="0"/>
              </a:schemeClr>
            </a:lnRef>
            <a:fillRef idx="3">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txBody>
            <a:bodyPr spcFirstLastPara="0" vert="horz" wrap="none" lIns="756470" tIns="213360" rIns="213359" bIns="756470" numCol="1" spcCol="1270" anchor="ctr" anchorCtr="0">
              <a:noAutofit/>
            </a:bodyPr>
            <a:lstStyle/>
            <a:p>
              <a:pPr marL="0" lvl="0" indent="0" algn="r" defTabSz="1333500">
                <a:lnSpc>
                  <a:spcPct val="90000"/>
                </a:lnSpc>
                <a:spcBef>
                  <a:spcPct val="0"/>
                </a:spcBef>
                <a:spcAft>
                  <a:spcPct val="35000"/>
                </a:spcAft>
                <a:buNone/>
              </a:pPr>
              <a:r>
                <a:rPr lang="en-US" altLang="zh-CN" sz="3000" b="1" kern="1200" dirty="0">
                  <a:latin typeface="Calibri" panose="020F0502020204030204" pitchFamily="34" charset="0"/>
                  <a:cs typeface="Calibri" panose="020F0502020204030204" pitchFamily="34" charset="0"/>
                </a:rPr>
                <a:t>Experience</a:t>
              </a:r>
              <a:endParaRPr lang="zh-CN" altLang="en-US" sz="3000" b="1" kern="1200" dirty="0">
                <a:latin typeface="Calibri" panose="020F0502020204030204" pitchFamily="34" charset="0"/>
                <a:cs typeface="Calibri" panose="020F0502020204030204" pitchFamily="34" charset="0"/>
              </a:endParaRPr>
            </a:p>
          </p:txBody>
        </p:sp>
        <p:sp>
          <p:nvSpPr>
            <p:cNvPr id="45" name="箭头: 环形 44">
              <a:extLst>
                <a:ext uri="{FF2B5EF4-FFF2-40B4-BE49-F238E27FC236}">
                  <a16:creationId xmlns:a16="http://schemas.microsoft.com/office/drawing/2014/main" id="{F6ADCE75-B7C7-4E3F-B704-D94CF95972C7}"/>
                </a:ext>
              </a:extLst>
            </p:cNvPr>
            <p:cNvSpPr/>
            <p:nvPr/>
          </p:nvSpPr>
          <p:spPr>
            <a:xfrm>
              <a:off x="8114670" y="3476337"/>
              <a:ext cx="640223" cy="556716"/>
            </a:xfrm>
            <a:prstGeom prst="circularArrow">
              <a:avLst/>
            </a:prstGeom>
            <a:scene3d>
              <a:camera prst="orthographicFront"/>
              <a:lightRig rig="threePt" dir="t">
                <a:rot lat="0" lon="0" rev="7500000"/>
              </a:lightRig>
            </a:scene3d>
            <a:sp3d z="152400" extrusionH="63500" prstMaterial="matte">
              <a:bevelT w="50800" h="19050" prst="relaxedInset"/>
              <a:contourClr>
                <a:schemeClr val="bg1"/>
              </a:contourClr>
            </a:sp3d>
          </p:spPr>
          <p:style>
            <a:lnRef idx="0">
              <a:schemeClr val="lt1">
                <a:hueOff val="0"/>
                <a:satOff val="0"/>
                <a:lumOff val="0"/>
                <a:alphaOff val="0"/>
              </a:schemeClr>
            </a:lnRef>
            <a:fillRef idx="1">
              <a:schemeClr val="dk1">
                <a:tint val="60000"/>
                <a:hueOff val="0"/>
                <a:satOff val="0"/>
                <a:lumOff val="0"/>
                <a:alphaOff val="0"/>
              </a:schemeClr>
            </a:fillRef>
            <a:effectRef idx="2">
              <a:schemeClr val="dk1">
                <a:tint val="60000"/>
                <a:hueOff val="0"/>
                <a:satOff val="0"/>
                <a:lumOff val="0"/>
                <a:alphaOff val="0"/>
              </a:schemeClr>
            </a:effectRef>
            <a:fontRef idx="minor">
              <a:schemeClr val="dk1">
                <a:hueOff val="0"/>
                <a:satOff val="0"/>
                <a:lumOff val="0"/>
                <a:alphaOff val="0"/>
              </a:schemeClr>
            </a:fontRef>
          </p:style>
        </p:sp>
        <p:sp>
          <p:nvSpPr>
            <p:cNvPr id="46" name="箭头: 环形 45">
              <a:extLst>
                <a:ext uri="{FF2B5EF4-FFF2-40B4-BE49-F238E27FC236}">
                  <a16:creationId xmlns:a16="http://schemas.microsoft.com/office/drawing/2014/main" id="{F901AA03-69AA-4724-8946-5D8CAC443DBA}"/>
                </a:ext>
              </a:extLst>
            </p:cNvPr>
            <p:cNvSpPr/>
            <p:nvPr/>
          </p:nvSpPr>
          <p:spPr>
            <a:xfrm rot="10800000">
              <a:off x="8114670" y="3690459"/>
              <a:ext cx="640223" cy="556716"/>
            </a:xfrm>
            <a:prstGeom prst="circularArrow">
              <a:avLst/>
            </a:prstGeom>
            <a:scene3d>
              <a:camera prst="orthographicFront"/>
              <a:lightRig rig="threePt" dir="t">
                <a:rot lat="0" lon="0" rev="7500000"/>
              </a:lightRig>
            </a:scene3d>
            <a:sp3d z="152400" extrusionH="63500" prstMaterial="matte">
              <a:bevelT w="50800" h="19050" prst="relaxedInset"/>
              <a:contourClr>
                <a:schemeClr val="bg1"/>
              </a:contourClr>
            </a:sp3d>
          </p:spPr>
          <p:style>
            <a:lnRef idx="0">
              <a:schemeClr val="lt1">
                <a:hueOff val="0"/>
                <a:satOff val="0"/>
                <a:lumOff val="0"/>
                <a:alphaOff val="0"/>
              </a:schemeClr>
            </a:lnRef>
            <a:fillRef idx="1">
              <a:schemeClr val="dk1">
                <a:tint val="60000"/>
                <a:hueOff val="0"/>
                <a:satOff val="0"/>
                <a:lumOff val="0"/>
                <a:alphaOff val="0"/>
              </a:schemeClr>
            </a:fillRef>
            <a:effectRef idx="2">
              <a:schemeClr val="dk1">
                <a:tint val="60000"/>
                <a:hueOff val="0"/>
                <a:satOff val="0"/>
                <a:lumOff val="0"/>
                <a:alphaOff val="0"/>
              </a:schemeClr>
            </a:effectRef>
            <a:fontRef idx="minor">
              <a:schemeClr val="dk1">
                <a:hueOff val="0"/>
                <a:satOff val="0"/>
                <a:lumOff val="0"/>
                <a:alphaOff val="0"/>
              </a:schemeClr>
            </a:fontRef>
          </p:style>
        </p:sp>
      </p:grpSp>
    </p:spTree>
    <p:extLst>
      <p:ext uri="{BB962C8B-B14F-4D97-AF65-F5344CB8AC3E}">
        <p14:creationId xmlns:p14="http://schemas.microsoft.com/office/powerpoint/2010/main" val="3141785030"/>
      </p:ext>
    </p:extLst>
  </p:cSld>
  <p:clrMapOvr>
    <a:masterClrMapping/>
  </p:clrMapOvr>
  <p:transition>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3"/>
          <a:stretch>
            <a:fillRect/>
          </a:stretch>
        </p:blipFill>
        <p:spPr>
          <a:xfrm>
            <a:off x="10951200" y="5836340"/>
            <a:ext cx="1086598" cy="877470"/>
          </a:xfrm>
          <a:prstGeom prst="rect">
            <a:avLst/>
          </a:prstGeom>
        </p:spPr>
      </p:pic>
      <p:sp>
        <p:nvSpPr>
          <p:cNvPr id="20" name="文本框 19"/>
          <p:cNvSpPr txBox="1"/>
          <p:nvPr/>
        </p:nvSpPr>
        <p:spPr>
          <a:xfrm>
            <a:off x="433499" y="215868"/>
            <a:ext cx="10671653" cy="707886"/>
          </a:xfrm>
          <a:prstGeom prst="rect">
            <a:avLst/>
          </a:prstGeom>
          <a:noFill/>
        </p:spPr>
        <p:txBody>
          <a:bodyPr wrap="square" rtlCol="0">
            <a:spAutoFit/>
          </a:bodyPr>
          <a:lstStyle/>
          <a:p>
            <a:r>
              <a:rPr lang="en-US" altLang="zh-CN" sz="4000" b="1" dirty="0">
                <a:solidFill>
                  <a:schemeClr val="tx2"/>
                </a:solidFill>
                <a:latin typeface="Calibri" panose="020F0502020204030204" pitchFamily="34" charset="0"/>
                <a:cs typeface="Calibri" panose="020F0502020204030204" pitchFamily="34" charset="0"/>
              </a:rPr>
              <a:t>Relation to our Reading</a:t>
            </a:r>
            <a:endParaRPr lang="zh-CN" altLang="en-US" sz="4000" dirty="0">
              <a:solidFill>
                <a:schemeClr val="tx2"/>
              </a:solidFill>
              <a:latin typeface="Calibri" panose="020F0502020204030204" pitchFamily="34" charset="0"/>
              <a:cs typeface="Calibri" panose="020F0502020204030204" pitchFamily="34" charset="0"/>
            </a:endParaRPr>
          </a:p>
        </p:txBody>
      </p:sp>
      <p:graphicFrame>
        <p:nvGraphicFramePr>
          <p:cNvPr id="3" name="图示 2">
            <a:extLst>
              <a:ext uri="{FF2B5EF4-FFF2-40B4-BE49-F238E27FC236}">
                <a16:creationId xmlns:a16="http://schemas.microsoft.com/office/drawing/2014/main" id="{A363EA22-1A84-4D23-BDB8-EF5AF4D6E141}"/>
              </a:ext>
            </a:extLst>
          </p:cNvPr>
          <p:cNvGraphicFramePr/>
          <p:nvPr>
            <p:extLst>
              <p:ext uri="{D42A27DB-BD31-4B8C-83A1-F6EECF244321}">
                <p14:modId xmlns:p14="http://schemas.microsoft.com/office/powerpoint/2010/main" val="872283036"/>
              </p:ext>
            </p:extLst>
          </p:nvPr>
        </p:nvGraphicFramePr>
        <p:xfrm>
          <a:off x="2377600" y="1043666"/>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70406416"/>
      </p:ext>
    </p:extLst>
  </p:cSld>
  <p:clrMapOvr>
    <a:masterClrMapping/>
  </p:clrMapOvr>
  <p:transition>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7DB6009-6EA7-4A3C-AFE2-02CECF4868B6}"/>
              </a:ext>
            </a:extLst>
          </p:cNvPr>
          <p:cNvSpPr/>
          <p:nvPr/>
        </p:nvSpPr>
        <p:spPr>
          <a:xfrm>
            <a:off x="4226165" y="2504873"/>
            <a:ext cx="3739670" cy="1569660"/>
          </a:xfrm>
          <a:prstGeom prst="rect">
            <a:avLst/>
          </a:prstGeom>
        </p:spPr>
        <p:txBody>
          <a:bodyPr wrap="square">
            <a:spAutoFit/>
          </a:bodyPr>
          <a:lstStyle/>
          <a:p>
            <a:r>
              <a:rPr lang="en-US" altLang="zh-CN" sz="9600" b="1" i="1" dirty="0">
                <a:latin typeface="Calibri" panose="020F0502020204030204" pitchFamily="34" charset="0"/>
                <a:cs typeface="Calibri" panose="020F0502020204030204" pitchFamily="34" charset="0"/>
              </a:rPr>
              <a:t>Q&amp;A</a:t>
            </a:r>
            <a:endParaRPr lang="zh-CN" altLang="en-US" sz="9600"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31308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0951200" y="5836340"/>
            <a:ext cx="1086598" cy="877470"/>
          </a:xfrm>
          <a:prstGeom prst="rect">
            <a:avLst/>
          </a:prstGeom>
        </p:spPr>
      </p:pic>
      <p:sp>
        <p:nvSpPr>
          <p:cNvPr id="4" name="文本框 3"/>
          <p:cNvSpPr txBox="1"/>
          <p:nvPr/>
        </p:nvSpPr>
        <p:spPr>
          <a:xfrm>
            <a:off x="2908800" y="2210400"/>
            <a:ext cx="5846400" cy="1631216"/>
          </a:xfrm>
          <a:prstGeom prst="rect">
            <a:avLst/>
          </a:prstGeom>
          <a:noFill/>
        </p:spPr>
        <p:txBody>
          <a:bodyPr wrap="square" rtlCol="0">
            <a:spAutoFit/>
          </a:bodyPr>
          <a:lstStyle/>
          <a:p>
            <a:pPr algn="ctr"/>
            <a:r>
              <a:rPr lang="en-US" altLang="zh-CN" sz="10000" b="1" i="1" dirty="0">
                <a:latin typeface="Calibri" panose="020F0502020204030204" pitchFamily="34" charset="0"/>
                <a:cs typeface="Calibri" panose="020F0502020204030204" pitchFamily="34" charset="0"/>
              </a:rPr>
              <a:t>Thank you</a:t>
            </a:r>
            <a:endParaRPr lang="zh-CN" altLang="en-US" sz="10000" b="1" i="1" dirty="0">
              <a:latin typeface="Calibri" panose="020F0502020204030204" pitchFamily="34" charset="0"/>
              <a:cs typeface="Calibri" panose="020F0502020204030204" pitchFamily="34" charset="0"/>
            </a:endParaRPr>
          </a:p>
        </p:txBody>
      </p:sp>
    </p:spTree>
  </p:cSld>
  <p:clrMapOvr>
    <a:masterClrMapping/>
  </p:clrMapOvr>
  <p:transition>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0951200" y="5836340"/>
            <a:ext cx="1086598" cy="877470"/>
          </a:xfrm>
          <a:prstGeom prst="rect">
            <a:avLst/>
          </a:prstGeom>
        </p:spPr>
      </p:pic>
      <p:sp>
        <p:nvSpPr>
          <p:cNvPr id="6" name="文本框 5">
            <a:extLst>
              <a:ext uri="{FF2B5EF4-FFF2-40B4-BE49-F238E27FC236}">
                <a16:creationId xmlns:a16="http://schemas.microsoft.com/office/drawing/2014/main" id="{C5D9597E-756B-4C3C-9026-17078E829732}"/>
              </a:ext>
            </a:extLst>
          </p:cNvPr>
          <p:cNvSpPr txBox="1"/>
          <p:nvPr/>
        </p:nvSpPr>
        <p:spPr>
          <a:xfrm>
            <a:off x="433499" y="215868"/>
            <a:ext cx="10671653" cy="707886"/>
          </a:xfrm>
          <a:prstGeom prst="rect">
            <a:avLst/>
          </a:prstGeom>
          <a:noFill/>
        </p:spPr>
        <p:txBody>
          <a:bodyPr wrap="square" rtlCol="0">
            <a:spAutoFit/>
          </a:bodyPr>
          <a:lstStyle/>
          <a:p>
            <a:r>
              <a:rPr lang="en-US" altLang="zh-CN" sz="4000" b="1" dirty="0">
                <a:solidFill>
                  <a:srgbClr val="FEC70B"/>
                </a:solidFill>
                <a:latin typeface="Calibri" panose="020F0502020204030204" pitchFamily="34" charset="0"/>
                <a:cs typeface="Calibri" panose="020F0502020204030204" pitchFamily="34" charset="0"/>
              </a:rPr>
              <a:t>Reference</a:t>
            </a:r>
            <a:endParaRPr lang="zh-CN" altLang="en-US" dirty="0">
              <a:latin typeface="Calibri" panose="020F0502020204030204" pitchFamily="34" charset="0"/>
              <a:cs typeface="Calibri" panose="020F0502020204030204" pitchFamily="34" charset="0"/>
            </a:endParaRPr>
          </a:p>
        </p:txBody>
      </p:sp>
      <p:sp>
        <p:nvSpPr>
          <p:cNvPr id="2" name="文本框 1">
            <a:extLst>
              <a:ext uri="{FF2B5EF4-FFF2-40B4-BE49-F238E27FC236}">
                <a16:creationId xmlns:a16="http://schemas.microsoft.com/office/drawing/2014/main" id="{0BE06552-5410-4553-B312-BCF0F421DE0C}"/>
              </a:ext>
            </a:extLst>
          </p:cNvPr>
          <p:cNvSpPr txBox="1"/>
          <p:nvPr/>
        </p:nvSpPr>
        <p:spPr>
          <a:xfrm>
            <a:off x="2109600" y="1879200"/>
            <a:ext cx="8424000" cy="2246769"/>
          </a:xfrm>
          <a:prstGeom prst="rect">
            <a:avLst/>
          </a:prstGeom>
          <a:noFill/>
        </p:spPr>
        <p:txBody>
          <a:bodyPr wrap="square" rtlCol="0">
            <a:spAutoFit/>
          </a:bodyPr>
          <a:lstStyle/>
          <a:p>
            <a:r>
              <a:rPr lang="en-US" altLang="zh-CN" sz="2000" dirty="0">
                <a:latin typeface="Calibri" panose="020F0502020204030204" pitchFamily="34" charset="0"/>
                <a:cs typeface="Calibri" panose="020F0502020204030204" pitchFamily="34" charset="0"/>
              </a:rPr>
              <a:t>1. </a:t>
            </a:r>
            <a:r>
              <a:rPr lang="en-US" altLang="zh-CN" sz="2000" dirty="0" err="1">
                <a:latin typeface="Calibri" panose="020F0502020204030204" pitchFamily="34" charset="0"/>
                <a:cs typeface="Calibri" panose="020F0502020204030204" pitchFamily="34" charset="0"/>
              </a:rPr>
              <a:t>Raphals</a:t>
            </a:r>
            <a:r>
              <a:rPr lang="en-US" altLang="zh-CN" sz="2000" dirty="0">
                <a:latin typeface="Calibri" panose="020F0502020204030204" pitchFamily="34" charset="0"/>
                <a:cs typeface="Calibri" panose="020F0502020204030204" pitchFamily="34" charset="0"/>
              </a:rPr>
              <a:t>, Lisa. Chinese philosophy and Chinese medicine. The Stanford Encyclopedia of Philosophy. 2017 https://plato.stanford.edu/archives/fall2017/entries/chinese-phil-medicine </a:t>
            </a:r>
          </a:p>
          <a:p>
            <a:r>
              <a:rPr lang="en-US" altLang="zh-CN" sz="2000" dirty="0">
                <a:latin typeface="Calibri" panose="020F0502020204030204" pitchFamily="34" charset="0"/>
                <a:cs typeface="Calibri" panose="020F0502020204030204" pitchFamily="34" charset="0"/>
              </a:rPr>
              <a:t>2. Noël Carroll: Philosophy of art, A contemporary introduction, Routledge 1999[J]. British journal of aesthetics, 2002, 42(2):211-214.</a:t>
            </a:r>
          </a:p>
          <a:p>
            <a:r>
              <a:rPr lang="en-US" altLang="zh-CN" sz="2000" dirty="0">
                <a:latin typeface="Calibri" panose="020F0502020204030204" pitchFamily="34" charset="0"/>
                <a:cs typeface="Calibri" panose="020F0502020204030204" pitchFamily="34" charset="0"/>
              </a:rPr>
              <a:t>3. Hepburn, R.W. Contemporary aesthetics and the neglect of natural beauty. British Analytical Philosophy. 1996</a:t>
            </a:r>
          </a:p>
        </p:txBody>
      </p:sp>
    </p:spTree>
    <p:extLst>
      <p:ext uri="{BB962C8B-B14F-4D97-AF65-F5344CB8AC3E}">
        <p14:creationId xmlns:p14="http://schemas.microsoft.com/office/powerpoint/2010/main" val="586144816"/>
      </p:ext>
    </p:extLst>
  </p:cSld>
  <p:clrMapOvr>
    <a:masterClrMapping/>
  </p:clrMapOvr>
  <p:transition>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花纹</Template>
  <TotalTime>1134</TotalTime>
  <Words>890</Words>
  <Application>Microsoft Office PowerPoint</Application>
  <PresentationFormat>宽屏</PresentationFormat>
  <Paragraphs>72</Paragraphs>
  <Slides>10</Slides>
  <Notes>7</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10</vt:i4>
      </vt:variant>
    </vt:vector>
  </HeadingPairs>
  <TitlesOfParts>
    <vt:vector size="16" baseType="lpstr">
      <vt:lpstr>等线</vt:lpstr>
      <vt:lpstr>Arial</vt:lpstr>
      <vt:lpstr>Bookman Old Style</vt:lpstr>
      <vt:lpstr>Calibri</vt:lpstr>
      <vt:lpstr>Rockwell</vt:lpstr>
      <vt:lpstr>Damask</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标题页</dc:title>
  <dc:creator>PANDA</dc:creator>
  <cp:lastModifiedBy> </cp:lastModifiedBy>
  <cp:revision>268</cp:revision>
  <dcterms:created xsi:type="dcterms:W3CDTF">2020-06-10T11:12:52Z</dcterms:created>
  <dcterms:modified xsi:type="dcterms:W3CDTF">2020-06-15T14:26:54Z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2052-1.5.0.2161</vt:lpwstr>
  </property>
</Properties>
</file>