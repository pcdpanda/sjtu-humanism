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8" r:id="rId2"/>
    <p:sldId id="259" r:id="rId3"/>
    <p:sldId id="263" r:id="rId4"/>
    <p:sldId id="260" r:id="rId5"/>
    <p:sldId id="262" r:id="rId6"/>
    <p:sldId id="264" r:id="rId7"/>
    <p:sldId id="265" r:id="rId8"/>
    <p:sldId id="261"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 lastIdx="1" clrIdx="0">
    <p:extLst>
      <p:ext uri="{19B8F6BF-5375-455C-9EA6-DF929625EA0E}">
        <p15:presenceInfo xmlns:p15="http://schemas.microsoft.com/office/powerpoint/2012/main" userId="a073c777aec2166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027" autoAdjust="0"/>
  </p:normalViewPr>
  <p:slideViewPr>
    <p:cSldViewPr snapToGrid="0">
      <p:cViewPr>
        <p:scale>
          <a:sx n="100" d="100"/>
          <a:sy n="100" d="100"/>
        </p:scale>
        <p:origin x="2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B66DB-AB72-420E-A829-2CD23CCCF062}" type="datetimeFigureOut">
              <a:rPr lang="zh-CN" altLang="en-US" smtClean="0"/>
              <a:t>2019/12/9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185D9-01F9-47EE-B7AA-0BACE3B5DC9B}" type="slidenum">
              <a:rPr lang="zh-CN" altLang="en-US" smtClean="0"/>
              <a:t>‹#›</a:t>
            </a:fld>
            <a:endParaRPr lang="zh-CN" altLang="en-US"/>
          </a:p>
        </p:txBody>
      </p:sp>
    </p:spTree>
    <p:extLst>
      <p:ext uri="{BB962C8B-B14F-4D97-AF65-F5344CB8AC3E}">
        <p14:creationId xmlns:p14="http://schemas.microsoft.com/office/powerpoint/2010/main" val="348839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 everyone, we’re team 3, and our topic is “Intentional MMR Faking In Online Video Game”</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1</a:t>
            </a:fld>
            <a:endParaRPr lang="zh-CN" altLang="en-US"/>
          </a:p>
        </p:txBody>
      </p:sp>
    </p:spTree>
    <p:extLst>
      <p:ext uri="{BB962C8B-B14F-4D97-AF65-F5344CB8AC3E}">
        <p14:creationId xmlns:p14="http://schemas.microsoft.com/office/powerpoint/2010/main" val="227351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First, I need to clarify some critical conceptions in our case. Broadcasters make money by attracting as more audience at platform as possible. Usually, audience loves to watch high level play, which is measured by MMR. MMR mechanism is determined by the game developer. </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2</a:t>
            </a:fld>
            <a:endParaRPr lang="zh-CN" altLang="en-US"/>
          </a:p>
        </p:txBody>
      </p:sp>
    </p:spTree>
    <p:extLst>
      <p:ext uri="{BB962C8B-B14F-4D97-AF65-F5344CB8AC3E}">
        <p14:creationId xmlns:p14="http://schemas.microsoft.com/office/powerpoint/2010/main" val="3254643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Normally, one MMR goes with one account and with one player. </a:t>
            </a:r>
            <a:r>
              <a:rPr lang="en-US" altLang="zh-CN" sz="1200" b="0" i="0" kern="1200" dirty="0">
                <a:solidFill>
                  <a:schemeClr val="tx1"/>
                </a:solidFill>
                <a:effectLst/>
                <a:latin typeface="+mn-lt"/>
                <a:ea typeface="+mn-ea"/>
                <a:cs typeface="+mn-cs"/>
              </a:rPr>
              <a:t>The higher the player's level, the higher his MMR. To improve game experience, game developer only allow players with close MMR to play each other. </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3</a:t>
            </a:fld>
            <a:endParaRPr lang="zh-CN" altLang="en-US"/>
          </a:p>
        </p:txBody>
      </p:sp>
    </p:spTree>
    <p:extLst>
      <p:ext uri="{BB962C8B-B14F-4D97-AF65-F5344CB8AC3E}">
        <p14:creationId xmlns:p14="http://schemas.microsoft.com/office/powerpoint/2010/main" val="4089136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there are some broadcasters using other player’s account with low MMR, called </a:t>
            </a:r>
            <a:r>
              <a:rPr lang="en-US" altLang="zh-CN" dirty="0" err="1"/>
              <a:t>smurf</a:t>
            </a:r>
            <a:r>
              <a:rPr lang="en-US" altLang="zh-CN" dirty="0"/>
              <a:t> account, to make their broadcasting more appealing and get more audience. In</a:t>
            </a:r>
            <a:r>
              <a:rPr lang="zh-CN" altLang="en-US" dirty="0"/>
              <a:t> </a:t>
            </a:r>
            <a:r>
              <a:rPr lang="en-US" altLang="zh-CN" dirty="0"/>
              <a:t>our</a:t>
            </a:r>
            <a:r>
              <a:rPr lang="zh-CN" altLang="en-US" dirty="0"/>
              <a:t> </a:t>
            </a:r>
            <a:r>
              <a:rPr lang="en-US" altLang="zh-CN" dirty="0"/>
              <a:t>case,</a:t>
            </a:r>
            <a:r>
              <a:rPr lang="zh-CN" altLang="en-US" dirty="0"/>
              <a:t> </a:t>
            </a:r>
            <a:r>
              <a:rPr lang="en-US" altLang="zh-CN" dirty="0"/>
              <a:t>a</a:t>
            </a:r>
            <a:r>
              <a:rPr lang="zh-CN" altLang="en-US" dirty="0"/>
              <a:t> </a:t>
            </a:r>
            <a:r>
              <a:rPr lang="en-US" altLang="zh-CN" dirty="0"/>
              <a:t>famous broadcaster called </a:t>
            </a:r>
            <a:r>
              <a:rPr lang="en-US" altLang="zh-CN" dirty="0" err="1"/>
              <a:t>Qsnake</a:t>
            </a:r>
            <a:r>
              <a:rPr lang="en-US" altLang="zh-CN" dirty="0"/>
              <a:t> played with his friend’s account as a </a:t>
            </a:r>
            <a:r>
              <a:rPr lang="en-US" altLang="zh-CN" dirty="0" err="1"/>
              <a:t>smurf</a:t>
            </a:r>
            <a:r>
              <a:rPr lang="en-US" altLang="zh-CN" dirty="0"/>
              <a:t> account. Someone blew the whistle and both of their accounts was banned by the game developer. The game developer’s behavior leads to a hot discussion.</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4</a:t>
            </a:fld>
            <a:endParaRPr lang="zh-CN" altLang="en-US"/>
          </a:p>
        </p:txBody>
      </p:sp>
    </p:spTree>
    <p:extLst>
      <p:ext uri="{BB962C8B-B14F-4D97-AF65-F5344CB8AC3E}">
        <p14:creationId xmlns:p14="http://schemas.microsoft.com/office/powerpoint/2010/main" val="1008999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Since the </a:t>
            </a:r>
            <a:r>
              <a:rPr lang="en-US" altLang="zh-CN" dirty="0" err="1"/>
              <a:t>smurf</a:t>
            </a:r>
            <a:r>
              <a:rPr lang="en-US" altLang="zh-CN" dirty="0"/>
              <a:t> account player’s level is much higher than other players, their game experience will be ruined. More importantly, these victims may stop play these games because of that</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5</a:t>
            </a:fld>
            <a:endParaRPr lang="zh-CN" altLang="en-US"/>
          </a:p>
        </p:txBody>
      </p:sp>
    </p:spTree>
    <p:extLst>
      <p:ext uri="{BB962C8B-B14F-4D97-AF65-F5344CB8AC3E}">
        <p14:creationId xmlns:p14="http://schemas.microsoft.com/office/powerpoint/2010/main" val="1880269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On the other hand, such behavior can also improve viewing experience of audience, and create more fortune to platform.</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6</a:t>
            </a:fld>
            <a:endParaRPr lang="zh-CN" altLang="en-US"/>
          </a:p>
        </p:txBody>
      </p:sp>
    </p:spTree>
    <p:extLst>
      <p:ext uri="{BB962C8B-B14F-4D97-AF65-F5344CB8AC3E}">
        <p14:creationId xmlns:p14="http://schemas.microsoft.com/office/powerpoint/2010/main" val="1987412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7</a:t>
            </a:fld>
            <a:endParaRPr lang="zh-CN" altLang="en-US"/>
          </a:p>
        </p:txBody>
      </p:sp>
    </p:spTree>
    <p:extLst>
      <p:ext uri="{BB962C8B-B14F-4D97-AF65-F5344CB8AC3E}">
        <p14:creationId xmlns:p14="http://schemas.microsoft.com/office/powerpoint/2010/main" val="3003515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there are some broadcasters using other player’s account with low MMR, called </a:t>
            </a:r>
            <a:r>
              <a:rPr lang="en-US" altLang="zh-CN" dirty="0" err="1"/>
              <a:t>smurf</a:t>
            </a:r>
            <a:r>
              <a:rPr lang="en-US" altLang="zh-CN" dirty="0"/>
              <a:t> account, to make their broadcasting more appealing and get more audience. One broadcaster was banned by a game company for such behavior, leading to a hot discussion.</a:t>
            </a:r>
            <a:endParaRPr lang="zh-CN" altLang="en-US" dirty="0"/>
          </a:p>
        </p:txBody>
      </p:sp>
      <p:sp>
        <p:nvSpPr>
          <p:cNvPr id="4" name="灯片编号占位符 3"/>
          <p:cNvSpPr>
            <a:spLocks noGrp="1"/>
          </p:cNvSpPr>
          <p:nvPr>
            <p:ph type="sldNum" sz="quarter" idx="5"/>
          </p:nvPr>
        </p:nvSpPr>
        <p:spPr/>
        <p:txBody>
          <a:bodyPr/>
          <a:lstStyle/>
          <a:p>
            <a:fld id="{FDD185D9-01F9-47EE-B7AA-0BACE3B5DC9B}" type="slidenum">
              <a:rPr lang="zh-CN" altLang="en-US" smtClean="0"/>
              <a:t>8</a:t>
            </a:fld>
            <a:endParaRPr lang="zh-CN" altLang="en-US"/>
          </a:p>
        </p:txBody>
      </p:sp>
    </p:spTree>
    <p:extLst>
      <p:ext uri="{BB962C8B-B14F-4D97-AF65-F5344CB8AC3E}">
        <p14:creationId xmlns:p14="http://schemas.microsoft.com/office/powerpoint/2010/main" val="3360440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4601D7-ECDD-4FB7-A6E7-E0FF1D13111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BB1ABEE-5647-476F-8BDE-7B6CEED108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97729B5-9987-443F-8F4B-6B4F3F50E67D}"/>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D7F95A95-C1A7-4BA5-ADAB-A9D1B80649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DC9202-F6A6-44C0-AB45-411E50FBA017}"/>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946470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27BD7B-6C21-4BBD-A60C-958AB4DE63B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9D14895-B15D-48E6-9A27-D50FAC7C285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F68385-5476-4F7B-AF1F-8B33D31D0EB9}"/>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B0EDC576-4310-444F-AE99-A74B849A0B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FE315-4C89-46EF-9F6E-8A69D9402A15}"/>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380764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8B0DE-3AA9-4262-8D1D-771BBFD9C02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272D00F-3654-4CB5-85E1-B83EF41E9A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8E80836-CDAB-49A3-AA3B-22380A5DD2C8}"/>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9B23AC6C-FF29-461C-896F-71496B4399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02DE8-DA2C-41BA-861A-55FF94C3025C}"/>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171067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31380-B0C5-431E-96BA-B73FAD4412C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ABD96E4-A52B-4CBF-BDFF-75868454503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1290937-A6A8-463E-85C3-9BD0AD06E57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48868C9-23BE-48DD-A4F0-35A0BADEFB16}"/>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6" name="页脚占位符 5">
            <a:extLst>
              <a:ext uri="{FF2B5EF4-FFF2-40B4-BE49-F238E27FC236}">
                <a16:creationId xmlns:a16="http://schemas.microsoft.com/office/drawing/2014/main" id="{10F220AE-F15C-439C-B579-25BBA6253F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A8EE4ED-7E29-4696-BF8A-92A4E041C93A}"/>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4131014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F716D-EB5F-4E57-B928-57EA8D4BFDA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4FEE7EE-8B68-44C4-AB0E-72F07A4EE8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639858-3F5A-4896-B7D2-90DDEB6797C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D1B8E57-FDCF-4227-B3FD-9B67F24EE3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6871B55-AD71-40A1-AC9C-40A71C9DC6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F766EEE-AAE5-4927-B91E-046529A1DD76}"/>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8" name="页脚占位符 7">
            <a:extLst>
              <a:ext uri="{FF2B5EF4-FFF2-40B4-BE49-F238E27FC236}">
                <a16:creationId xmlns:a16="http://schemas.microsoft.com/office/drawing/2014/main" id="{E64500F7-B757-4182-8F85-8A0857C1152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E9C477A-D786-436C-BA1D-FD0ACD783943}"/>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2026261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C3B5C6-F205-4D4F-BBAD-73B6B84B77A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AE9EDED-3B77-4B37-A6DC-D00571283563}"/>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4" name="页脚占位符 3">
            <a:extLst>
              <a:ext uri="{FF2B5EF4-FFF2-40B4-BE49-F238E27FC236}">
                <a16:creationId xmlns:a16="http://schemas.microsoft.com/office/drawing/2014/main" id="{FA671F15-1091-4E76-B5D9-0922B0035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7BC8302-5532-4FA8-B65D-A8DA60A7C8C6}"/>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1912283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277BA2D-A06D-457C-8F97-E287B9F1D450}"/>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3" name="页脚占位符 2">
            <a:extLst>
              <a:ext uri="{FF2B5EF4-FFF2-40B4-BE49-F238E27FC236}">
                <a16:creationId xmlns:a16="http://schemas.microsoft.com/office/drawing/2014/main" id="{D18FDE2A-1CD6-4A20-863F-487EF4B055A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85C959A-52EA-49B0-87E4-F9CE94B1FB79}"/>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59725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4B8A2-B226-4CD8-A87C-D4821DA4387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AFF61AA-8E0C-4075-B029-4019C9C603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F1CC37D-F1AF-4B89-9285-683AD50051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8950AE1-EF22-4E6C-8651-FCD6B7AECDF6}"/>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6" name="页脚占位符 5">
            <a:extLst>
              <a:ext uri="{FF2B5EF4-FFF2-40B4-BE49-F238E27FC236}">
                <a16:creationId xmlns:a16="http://schemas.microsoft.com/office/drawing/2014/main" id="{98933746-8F74-4D4B-B5B2-9D2DB7D755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DA53C1-5FDC-40D6-9AA7-78314C058920}"/>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3782542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94E3A2-347C-4E0B-98C7-EB23B12AEB3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BA51B65-3958-48F0-9681-E7650FEE7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04BCBAA-C5C0-4228-9F73-0B9E73D3F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0166109-F7CE-41D5-A15A-6E3E821CACD4}"/>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6" name="页脚占位符 5">
            <a:extLst>
              <a:ext uri="{FF2B5EF4-FFF2-40B4-BE49-F238E27FC236}">
                <a16:creationId xmlns:a16="http://schemas.microsoft.com/office/drawing/2014/main" id="{9D4680BE-7E58-45ED-B50D-E419EC7F75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564FDB-8C8B-4539-9D31-C71E274FF8F9}"/>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3209296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2DB35F-DBBB-4667-9089-287FA91E9F4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FAF2970-6A2B-4DB5-B43B-61E0B779255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A244A2-F774-47D2-9B62-EFC2E6209249}"/>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85FF94FA-9271-4DEF-BEE2-897977A24E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18B612-EB79-4697-9D2E-56264F8CEBF1}"/>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19504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EBFD983-F464-481D-A5DA-0597D61AD5C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AB51812-AEE8-40C9-B5A7-DAF30D787F2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D47186-41AF-497E-8599-3C91EE2BCF95}"/>
              </a:ext>
            </a:extLst>
          </p:cNvPr>
          <p:cNvSpPr>
            <a:spLocks noGrp="1"/>
          </p:cNvSpPr>
          <p:nvPr>
            <p:ph type="dt" sz="half" idx="10"/>
          </p:nvPr>
        </p:nvSpPr>
        <p:spPr/>
        <p:txBody>
          <a:body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2895E029-A7E9-4249-A2C5-85ED525442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85682A-945A-44C8-B624-11E97146E908}"/>
              </a:ext>
            </a:extLst>
          </p:cNvPr>
          <p:cNvSpPr>
            <a:spLocks noGrp="1"/>
          </p:cNvSpPr>
          <p:nvPr>
            <p:ph type="sldNum" sz="quarter" idx="12"/>
          </p:nvPr>
        </p:nvSpPr>
        <p:spPr/>
        <p:txBody>
          <a:body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2456923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0697C36-DC84-4C30-9EB7-B35D2960B8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3ECCA1-4A56-4750-89B6-583D61DD41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035A92-AA85-42A3-B556-1FFD367F87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7A563-A540-424A-8297-FC30CE6176E0}" type="datetimeFigureOut">
              <a:rPr lang="zh-CN" altLang="en-US" smtClean="0"/>
              <a:t>2019/12/9</a:t>
            </a:fld>
            <a:endParaRPr lang="zh-CN" altLang="en-US"/>
          </a:p>
        </p:txBody>
      </p:sp>
      <p:sp>
        <p:nvSpPr>
          <p:cNvPr id="5" name="页脚占位符 4">
            <a:extLst>
              <a:ext uri="{FF2B5EF4-FFF2-40B4-BE49-F238E27FC236}">
                <a16:creationId xmlns:a16="http://schemas.microsoft.com/office/drawing/2014/main" id="{52211E64-3A29-48CF-80D1-2EC82DF230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353B68-F9CE-4486-99B5-871789657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1C291-2CBC-4F8F-94D9-DCF1B4681083}" type="slidenum">
              <a:rPr lang="zh-CN" altLang="en-US" smtClean="0"/>
              <a:t>‹#›</a:t>
            </a:fld>
            <a:endParaRPr lang="zh-CN" altLang="en-US"/>
          </a:p>
        </p:txBody>
      </p:sp>
    </p:spTree>
    <p:extLst>
      <p:ext uri="{BB962C8B-B14F-4D97-AF65-F5344CB8AC3E}">
        <p14:creationId xmlns:p14="http://schemas.microsoft.com/office/powerpoint/2010/main" val="503554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a:solidFill>
                <a:prstClr val="white"/>
              </a:solidFill>
              <a:latin typeface="Calibri" panose="020F0502020204030204"/>
              <a:ea typeface="宋体" panose="02010600030101010101" pitchFamily="2" charset="-122"/>
            </a:endParaRPr>
          </a:p>
        </p:txBody>
      </p:sp>
      <p:pic>
        <p:nvPicPr>
          <p:cNvPr id="8" name="图片 7" descr="logo.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45278" y="5279428"/>
            <a:ext cx="1951474" cy="1578572"/>
          </a:xfrm>
          <a:prstGeom prst="rect">
            <a:avLst/>
          </a:prstGeom>
        </p:spPr>
      </p:pic>
      <p:sp>
        <p:nvSpPr>
          <p:cNvPr id="7" name="文本框 6"/>
          <p:cNvSpPr txBox="1"/>
          <p:nvPr/>
        </p:nvSpPr>
        <p:spPr>
          <a:xfrm>
            <a:off x="278384" y="2112883"/>
            <a:ext cx="11819348" cy="3231654"/>
          </a:xfrm>
          <a:prstGeom prst="rect">
            <a:avLst/>
          </a:prstGeom>
          <a:noFill/>
        </p:spPr>
        <p:txBody>
          <a:bodyPr wrap="square" rtlCol="0">
            <a:spAutoFit/>
          </a:bodyPr>
          <a:lstStyle/>
          <a:p>
            <a:pPr algn="ct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Intentional MMR Faking In Online Video Games</a:t>
            </a:r>
          </a:p>
          <a:p>
            <a:pPr algn="ctr">
              <a:defRPr/>
            </a:pPr>
            <a:r>
              <a:rPr lang="en-US" altLang="zh-CN" sz="24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VG496 Final Case Presentation</a:t>
            </a: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Instructor: Rockwell F. Clancy</a:t>
            </a:r>
          </a:p>
          <a:p>
            <a:pPr algn="ctr">
              <a:defRPr/>
            </a:pPr>
            <a:endPar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endParaRP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Team 3</a:t>
            </a: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Huang, </a:t>
            </a:r>
            <a:r>
              <a:rPr lang="en-US" altLang="zh-CN" sz="2000" b="1" dirty="0" err="1">
                <a:solidFill>
                  <a:srgbClr val="FEC70B"/>
                </a:solidFill>
                <a:latin typeface="Times New Roman" panose="02020603050405020304" pitchFamily="18" charset="0"/>
                <a:ea typeface="宋体" panose="02010600030101010101" pitchFamily="2" charset="-122"/>
                <a:cs typeface="Times New Roman" panose="02020603050405020304" pitchFamily="18" charset="0"/>
              </a:rPr>
              <a:t>Ziying</a:t>
            </a:r>
            <a:endPar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endParaRP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Hu, </a:t>
            </a:r>
            <a:r>
              <a:rPr lang="en-US" altLang="zh-CN" sz="2000" b="1" dirty="0" err="1">
                <a:solidFill>
                  <a:srgbClr val="FEC70B"/>
                </a:solidFill>
                <a:latin typeface="Times New Roman" panose="02020603050405020304" pitchFamily="18" charset="0"/>
                <a:ea typeface="宋体" panose="02010600030101010101" pitchFamily="2" charset="-122"/>
                <a:cs typeface="Times New Roman" panose="02020603050405020304" pitchFamily="18" charset="0"/>
              </a:rPr>
              <a:t>Zhebang</a:t>
            </a:r>
            <a:endPar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endParaRP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Pan, </a:t>
            </a:r>
            <a:r>
              <a:rPr lang="en-US" altLang="zh-CN" sz="2000" b="1" dirty="0" err="1">
                <a:solidFill>
                  <a:srgbClr val="FEC70B"/>
                </a:solidFill>
                <a:latin typeface="Times New Roman" panose="02020603050405020304" pitchFamily="18" charset="0"/>
                <a:ea typeface="宋体" panose="02010600030101010101" pitchFamily="2" charset="-122"/>
                <a:cs typeface="Times New Roman" panose="02020603050405020304" pitchFamily="18" charset="0"/>
              </a:rPr>
              <a:t>Chongdan</a:t>
            </a:r>
            <a:endPar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endParaRPr>
          </a:p>
          <a:p>
            <a:pPr algn="ctr">
              <a:defRPr/>
            </a:pPr>
            <a:r>
              <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Zhu, </a:t>
            </a:r>
            <a:r>
              <a:rPr lang="en-US" altLang="zh-CN" sz="2000" b="1" dirty="0" err="1">
                <a:solidFill>
                  <a:srgbClr val="FEC70B"/>
                </a:solidFill>
                <a:latin typeface="Times New Roman" panose="02020603050405020304" pitchFamily="18" charset="0"/>
                <a:ea typeface="宋体" panose="02010600030101010101" pitchFamily="2" charset="-122"/>
                <a:cs typeface="Times New Roman" panose="02020603050405020304" pitchFamily="18" charset="0"/>
              </a:rPr>
              <a:t>Weilin</a:t>
            </a:r>
            <a:endParaRPr lang="en-US" altLang="zh-CN" sz="2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1256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sp>
        <p:nvSpPr>
          <p:cNvPr id="9" name="文本框 8">
            <a:extLst>
              <a:ext uri="{FF2B5EF4-FFF2-40B4-BE49-F238E27FC236}">
                <a16:creationId xmlns:a16="http://schemas.microsoft.com/office/drawing/2014/main" id="{4BEB3332-166E-43E3-B2B6-1F64C9A46641}"/>
              </a:ext>
            </a:extLst>
          </p:cNvPr>
          <p:cNvSpPr txBox="1"/>
          <p:nvPr/>
        </p:nvSpPr>
        <p:spPr>
          <a:xfrm>
            <a:off x="864240" y="848555"/>
            <a:ext cx="11819348" cy="707886"/>
          </a:xfrm>
          <a:prstGeom prst="rect">
            <a:avLst/>
          </a:prstGeom>
          <a:noFill/>
        </p:spPr>
        <p:txBody>
          <a:bodyPr wrap="square" rtlCol="0">
            <a:spAutoFit/>
          </a:bodyPr>
          <a:lstStyle/>
          <a:p>
            <a:pP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Introduction of Case</a:t>
            </a:r>
          </a:p>
        </p:txBody>
      </p:sp>
      <p:grpSp>
        <p:nvGrpSpPr>
          <p:cNvPr id="38" name="组合 37">
            <a:extLst>
              <a:ext uri="{FF2B5EF4-FFF2-40B4-BE49-F238E27FC236}">
                <a16:creationId xmlns:a16="http://schemas.microsoft.com/office/drawing/2014/main" id="{C43A9821-564E-46C8-8D86-B6551ED5178F}"/>
              </a:ext>
            </a:extLst>
          </p:cNvPr>
          <p:cNvGrpSpPr/>
          <p:nvPr/>
        </p:nvGrpSpPr>
        <p:grpSpPr>
          <a:xfrm>
            <a:off x="6608969" y="2018152"/>
            <a:ext cx="1469571" cy="1638618"/>
            <a:chOff x="3185978" y="3707944"/>
            <a:chExt cx="1469571" cy="1638618"/>
          </a:xfrm>
        </p:grpSpPr>
        <p:pic>
          <p:nvPicPr>
            <p:cNvPr id="30" name="图片 29">
              <a:extLst>
                <a:ext uri="{FF2B5EF4-FFF2-40B4-BE49-F238E27FC236}">
                  <a16:creationId xmlns:a16="http://schemas.microsoft.com/office/drawing/2014/main" id="{622EEBB7-8ACB-4450-9BB2-A6005C74C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0923" y="3707944"/>
              <a:ext cx="1176953" cy="1176953"/>
            </a:xfrm>
            <a:prstGeom prst="rect">
              <a:avLst/>
            </a:prstGeom>
          </p:spPr>
        </p:pic>
        <p:sp>
          <p:nvSpPr>
            <p:cNvPr id="32" name="文本框 31">
              <a:extLst>
                <a:ext uri="{FF2B5EF4-FFF2-40B4-BE49-F238E27FC236}">
                  <a16:creationId xmlns:a16="http://schemas.microsoft.com/office/drawing/2014/main" id="{2084A8F9-F1A6-4209-AD05-8E8A21D4A7D7}"/>
                </a:ext>
              </a:extLst>
            </p:cNvPr>
            <p:cNvSpPr txBox="1"/>
            <p:nvPr/>
          </p:nvSpPr>
          <p:spPr>
            <a:xfrm>
              <a:off x="3185978" y="4884897"/>
              <a:ext cx="1469571" cy="461665"/>
            </a:xfrm>
            <a:prstGeom prst="rect">
              <a:avLst/>
            </a:prstGeom>
            <a:noFill/>
          </p:spPr>
          <p:txBody>
            <a:bodyPr wrap="squar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MMR</a:t>
              </a:r>
            </a:p>
          </p:txBody>
        </p:sp>
      </p:grpSp>
      <p:grpSp>
        <p:nvGrpSpPr>
          <p:cNvPr id="40" name="组合 39">
            <a:extLst>
              <a:ext uri="{FF2B5EF4-FFF2-40B4-BE49-F238E27FC236}">
                <a16:creationId xmlns:a16="http://schemas.microsoft.com/office/drawing/2014/main" id="{71ED93E7-F98A-41B3-9BFA-45D6CCEC009B}"/>
              </a:ext>
            </a:extLst>
          </p:cNvPr>
          <p:cNvGrpSpPr/>
          <p:nvPr/>
        </p:nvGrpSpPr>
        <p:grpSpPr>
          <a:xfrm>
            <a:off x="1703763" y="2693085"/>
            <a:ext cx="2019684" cy="2324308"/>
            <a:chOff x="2365039" y="2162718"/>
            <a:chExt cx="2019684" cy="2324308"/>
          </a:xfrm>
        </p:grpSpPr>
        <p:pic>
          <p:nvPicPr>
            <p:cNvPr id="4" name="图片 3">
              <a:extLst>
                <a:ext uri="{FF2B5EF4-FFF2-40B4-BE49-F238E27FC236}">
                  <a16:creationId xmlns:a16="http://schemas.microsoft.com/office/drawing/2014/main" id="{E6FF12DB-2A01-4E1E-A807-988971CFE7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117" y="2162718"/>
              <a:ext cx="1951528" cy="1951528"/>
            </a:xfrm>
            <a:prstGeom prst="rect">
              <a:avLst/>
            </a:prstGeom>
          </p:spPr>
        </p:pic>
        <p:sp>
          <p:nvSpPr>
            <p:cNvPr id="6" name="文本框 5">
              <a:extLst>
                <a:ext uri="{FF2B5EF4-FFF2-40B4-BE49-F238E27FC236}">
                  <a16:creationId xmlns:a16="http://schemas.microsoft.com/office/drawing/2014/main" id="{E3AE71A6-AE28-4F35-BB89-151A3C9D6525}"/>
                </a:ext>
              </a:extLst>
            </p:cNvPr>
            <p:cNvSpPr txBox="1"/>
            <p:nvPr/>
          </p:nvSpPr>
          <p:spPr>
            <a:xfrm>
              <a:off x="2365039" y="4025361"/>
              <a:ext cx="2019684" cy="461665"/>
            </a:xfrm>
            <a:prstGeom prst="rect">
              <a:avLst/>
            </a:prstGeom>
            <a:noFill/>
          </p:spPr>
          <p:txBody>
            <a:bodyPr wrap="squar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Broadcaster</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grpSp>
      <p:grpSp>
        <p:nvGrpSpPr>
          <p:cNvPr id="27" name="组合 26">
            <a:extLst>
              <a:ext uri="{FF2B5EF4-FFF2-40B4-BE49-F238E27FC236}">
                <a16:creationId xmlns:a16="http://schemas.microsoft.com/office/drawing/2014/main" id="{6F1640F9-62B9-4298-BE5C-C175BDB2F3D5}"/>
              </a:ext>
            </a:extLst>
          </p:cNvPr>
          <p:cNvGrpSpPr/>
          <p:nvPr/>
        </p:nvGrpSpPr>
        <p:grpSpPr>
          <a:xfrm>
            <a:off x="5370161" y="4274348"/>
            <a:ext cx="1678758" cy="1148840"/>
            <a:chOff x="4945479" y="5468359"/>
            <a:chExt cx="1678758" cy="1148840"/>
          </a:xfrm>
        </p:grpSpPr>
        <p:pic>
          <p:nvPicPr>
            <p:cNvPr id="25" name="图片 24">
              <a:extLst>
                <a:ext uri="{FF2B5EF4-FFF2-40B4-BE49-F238E27FC236}">
                  <a16:creationId xmlns:a16="http://schemas.microsoft.com/office/drawing/2014/main" id="{20A6B7C2-F23E-445F-B3C9-C9989439F6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5479" y="5468359"/>
              <a:ext cx="1678758" cy="690847"/>
            </a:xfrm>
            <a:prstGeom prst="rect">
              <a:avLst/>
            </a:prstGeom>
          </p:spPr>
        </p:pic>
        <p:sp>
          <p:nvSpPr>
            <p:cNvPr id="26" name="文本框 25">
              <a:extLst>
                <a:ext uri="{FF2B5EF4-FFF2-40B4-BE49-F238E27FC236}">
                  <a16:creationId xmlns:a16="http://schemas.microsoft.com/office/drawing/2014/main" id="{17FF9EEC-03C6-4379-B90C-FF76EF02F1C8}"/>
                </a:ext>
              </a:extLst>
            </p:cNvPr>
            <p:cNvSpPr txBox="1"/>
            <p:nvPr/>
          </p:nvSpPr>
          <p:spPr>
            <a:xfrm>
              <a:off x="5050072" y="6155534"/>
              <a:ext cx="1469571" cy="461665"/>
            </a:xfrm>
            <a:prstGeom prst="rect">
              <a:avLst/>
            </a:prstGeom>
            <a:noFill/>
          </p:spPr>
          <p:txBody>
            <a:bodyPr wrap="squar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Platform</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grpSp>
      <p:sp>
        <p:nvSpPr>
          <p:cNvPr id="28" name="箭头: 左右 27">
            <a:extLst>
              <a:ext uri="{FF2B5EF4-FFF2-40B4-BE49-F238E27FC236}">
                <a16:creationId xmlns:a16="http://schemas.microsoft.com/office/drawing/2014/main" id="{84563279-0B23-4F77-9BE5-7198019A7C0F}"/>
              </a:ext>
            </a:extLst>
          </p:cNvPr>
          <p:cNvSpPr/>
          <p:nvPr/>
        </p:nvSpPr>
        <p:spPr>
          <a:xfrm>
            <a:off x="4006455" y="3507854"/>
            <a:ext cx="4562408" cy="690847"/>
          </a:xfrm>
          <a:prstGeom prst="lef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4F5C4B8C-AB9D-4A80-A45D-C31A4C1ADC0A}"/>
              </a:ext>
            </a:extLst>
          </p:cNvPr>
          <p:cNvGrpSpPr/>
          <p:nvPr/>
        </p:nvGrpSpPr>
        <p:grpSpPr>
          <a:xfrm>
            <a:off x="4706552" y="2018152"/>
            <a:ext cx="1331123" cy="1777357"/>
            <a:chOff x="4473497" y="1547271"/>
            <a:chExt cx="1469571" cy="1962215"/>
          </a:xfrm>
        </p:grpSpPr>
        <p:pic>
          <p:nvPicPr>
            <p:cNvPr id="34" name="图片 33">
              <a:extLst>
                <a:ext uri="{FF2B5EF4-FFF2-40B4-BE49-F238E27FC236}">
                  <a16:creationId xmlns:a16="http://schemas.microsoft.com/office/drawing/2014/main" id="{96BA8421-5826-4681-A5E9-11042D9CEB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65952" y="1547271"/>
              <a:ext cx="1276350" cy="1251324"/>
            </a:xfrm>
            <a:prstGeom prst="rect">
              <a:avLst/>
            </a:prstGeom>
          </p:spPr>
        </p:pic>
        <p:sp>
          <p:nvSpPr>
            <p:cNvPr id="35" name="文本框 34">
              <a:extLst>
                <a:ext uri="{FF2B5EF4-FFF2-40B4-BE49-F238E27FC236}">
                  <a16:creationId xmlns:a16="http://schemas.microsoft.com/office/drawing/2014/main" id="{8EB21769-64E8-4AC2-8F34-9FDEEAD11575}"/>
                </a:ext>
              </a:extLst>
            </p:cNvPr>
            <p:cNvSpPr txBox="1"/>
            <p:nvPr/>
          </p:nvSpPr>
          <p:spPr>
            <a:xfrm>
              <a:off x="4473497" y="2795932"/>
              <a:ext cx="1469571" cy="713554"/>
            </a:xfrm>
            <a:prstGeom prst="rect">
              <a:avLst/>
            </a:prstGeom>
            <a:noFill/>
          </p:spPr>
          <p:txBody>
            <a:bodyPr wrap="none" rtlCol="0">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Online Games</a:t>
              </a:r>
            </a:p>
          </p:txBody>
        </p:sp>
      </p:grpSp>
      <p:grpSp>
        <p:nvGrpSpPr>
          <p:cNvPr id="43" name="组合 42">
            <a:extLst>
              <a:ext uri="{FF2B5EF4-FFF2-40B4-BE49-F238E27FC236}">
                <a16:creationId xmlns:a16="http://schemas.microsoft.com/office/drawing/2014/main" id="{6964B84C-C1CE-423A-8419-9D44A4680FC8}"/>
              </a:ext>
            </a:extLst>
          </p:cNvPr>
          <p:cNvGrpSpPr/>
          <p:nvPr/>
        </p:nvGrpSpPr>
        <p:grpSpPr>
          <a:xfrm>
            <a:off x="9231430" y="2695910"/>
            <a:ext cx="2257425" cy="2324308"/>
            <a:chOff x="7762591" y="2557507"/>
            <a:chExt cx="2257425" cy="2324308"/>
          </a:xfrm>
        </p:grpSpPr>
        <p:sp>
          <p:nvSpPr>
            <p:cNvPr id="13" name="文本框 12">
              <a:extLst>
                <a:ext uri="{FF2B5EF4-FFF2-40B4-BE49-F238E27FC236}">
                  <a16:creationId xmlns:a16="http://schemas.microsoft.com/office/drawing/2014/main" id="{FAABA482-D6AD-404E-92C4-722016B9AF01}"/>
                </a:ext>
              </a:extLst>
            </p:cNvPr>
            <p:cNvSpPr txBox="1"/>
            <p:nvPr/>
          </p:nvSpPr>
          <p:spPr>
            <a:xfrm>
              <a:off x="8012627" y="4420150"/>
              <a:ext cx="1469571" cy="461665"/>
            </a:xfrm>
            <a:prstGeom prst="rect">
              <a:avLst/>
            </a:prstGeom>
            <a:noFill/>
          </p:spPr>
          <p:txBody>
            <a:bodyPr wrap="squar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Audience</a:t>
              </a:r>
              <a:endParaRPr lang="zh-CN" altLang="en-US" sz="2400" dirty="0">
                <a:solidFill>
                  <a:schemeClr val="bg1"/>
                </a:solidFill>
                <a:latin typeface="Times New Roman" panose="02020603050405020304" pitchFamily="18" charset="0"/>
                <a:cs typeface="Times New Roman" panose="02020603050405020304" pitchFamily="18" charset="0"/>
              </a:endParaRPr>
            </a:p>
          </p:txBody>
        </p:sp>
        <p:pic>
          <p:nvPicPr>
            <p:cNvPr id="42" name="图片 41">
              <a:extLst>
                <a:ext uri="{FF2B5EF4-FFF2-40B4-BE49-F238E27FC236}">
                  <a16:creationId xmlns:a16="http://schemas.microsoft.com/office/drawing/2014/main" id="{816FFEB9-D815-4997-992E-B75490EEB0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62591" y="2557507"/>
              <a:ext cx="2257425" cy="1905000"/>
            </a:xfrm>
            <a:prstGeom prst="rect">
              <a:avLst/>
            </a:prstGeom>
          </p:spPr>
        </p:pic>
      </p:grpSp>
    </p:spTree>
    <p:extLst>
      <p:ext uri="{BB962C8B-B14F-4D97-AF65-F5344CB8AC3E}">
        <p14:creationId xmlns:p14="http://schemas.microsoft.com/office/powerpoint/2010/main" val="190668148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nodeType="withEffect">
                                  <p:stCondLst>
                                    <p:cond delay="10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100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par>
                          <p:cTn id="17" fill="hold">
                            <p:stCondLst>
                              <p:cond delay="1500"/>
                            </p:stCondLst>
                            <p:childTnLst>
                              <p:par>
                                <p:cTn id="18" presetID="10" presetClass="entr" presetSubtype="0" fill="hold" nodeType="afterEffect">
                                  <p:stCondLst>
                                    <p:cond delay="200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grpSp>
        <p:nvGrpSpPr>
          <p:cNvPr id="38" name="组合 37">
            <a:extLst>
              <a:ext uri="{FF2B5EF4-FFF2-40B4-BE49-F238E27FC236}">
                <a16:creationId xmlns:a16="http://schemas.microsoft.com/office/drawing/2014/main" id="{C43A9821-564E-46C8-8D86-B6551ED5178F}"/>
              </a:ext>
            </a:extLst>
          </p:cNvPr>
          <p:cNvGrpSpPr/>
          <p:nvPr/>
        </p:nvGrpSpPr>
        <p:grpSpPr>
          <a:xfrm>
            <a:off x="2497364" y="1816555"/>
            <a:ext cx="2588985" cy="2767332"/>
            <a:chOff x="3185978" y="3520557"/>
            <a:chExt cx="1469571" cy="1775113"/>
          </a:xfrm>
        </p:grpSpPr>
        <p:pic>
          <p:nvPicPr>
            <p:cNvPr id="30" name="图片 29">
              <a:extLst>
                <a:ext uri="{FF2B5EF4-FFF2-40B4-BE49-F238E27FC236}">
                  <a16:creationId xmlns:a16="http://schemas.microsoft.com/office/drawing/2014/main" id="{622EEBB7-8ACB-4450-9BB2-A6005C74C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0923" y="3520557"/>
              <a:ext cx="1176953" cy="1364340"/>
            </a:xfrm>
            <a:prstGeom prst="rect">
              <a:avLst/>
            </a:prstGeom>
          </p:spPr>
        </p:pic>
        <p:sp>
          <p:nvSpPr>
            <p:cNvPr id="32" name="文本框 31">
              <a:extLst>
                <a:ext uri="{FF2B5EF4-FFF2-40B4-BE49-F238E27FC236}">
                  <a16:creationId xmlns:a16="http://schemas.microsoft.com/office/drawing/2014/main" id="{2084A8F9-F1A6-4209-AD05-8E8A21D4A7D7}"/>
                </a:ext>
              </a:extLst>
            </p:cNvPr>
            <p:cNvSpPr txBox="1"/>
            <p:nvPr/>
          </p:nvSpPr>
          <p:spPr>
            <a:xfrm>
              <a:off x="3185978" y="4884897"/>
              <a:ext cx="1469571" cy="410773"/>
            </a:xfrm>
            <a:prstGeom prst="rect">
              <a:avLst/>
            </a:prstGeom>
            <a:noFill/>
          </p:spPr>
          <p:txBody>
            <a:bodyPr wrap="square" rtlCol="0">
              <a:spAutoFit/>
            </a:bodyPr>
            <a:lstStyle/>
            <a:p>
              <a:pPr algn="ctr"/>
              <a:r>
                <a:rPr lang="en-US" altLang="zh-CN" sz="3000" dirty="0">
                  <a:solidFill>
                    <a:schemeClr val="bg1"/>
                  </a:solidFill>
                  <a:latin typeface="Times New Roman" panose="02020603050405020304" pitchFamily="18" charset="0"/>
                  <a:cs typeface="Times New Roman" panose="02020603050405020304" pitchFamily="18" charset="0"/>
                </a:rPr>
                <a:t>MMR</a:t>
              </a:r>
            </a:p>
          </p:txBody>
        </p:sp>
      </p:grpSp>
      <p:sp>
        <p:nvSpPr>
          <p:cNvPr id="10" name="文本框 9">
            <a:extLst>
              <a:ext uri="{FF2B5EF4-FFF2-40B4-BE49-F238E27FC236}">
                <a16:creationId xmlns:a16="http://schemas.microsoft.com/office/drawing/2014/main" id="{3EBAFA45-E995-4577-B3EB-382388F2D40A}"/>
              </a:ext>
            </a:extLst>
          </p:cNvPr>
          <p:cNvSpPr txBox="1"/>
          <p:nvPr/>
        </p:nvSpPr>
        <p:spPr>
          <a:xfrm>
            <a:off x="971984" y="4774387"/>
            <a:ext cx="5085045" cy="830997"/>
          </a:xfrm>
          <a:prstGeom prst="rect">
            <a:avLst/>
          </a:prstGeom>
          <a:noFill/>
        </p:spPr>
        <p:txBody>
          <a:bodyPr wrap="non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One MMR = One account = One player</a:t>
            </a:r>
          </a:p>
          <a:p>
            <a:pPr algn="ctr"/>
            <a:r>
              <a:rPr lang="en-US" altLang="zh-CN" sz="2400" dirty="0">
                <a:solidFill>
                  <a:schemeClr val="bg1"/>
                </a:solidFill>
                <a:latin typeface="Times New Roman" panose="02020603050405020304" pitchFamily="18" charset="0"/>
                <a:cs typeface="Times New Roman" panose="02020603050405020304" pitchFamily="18" charset="0"/>
              </a:rPr>
              <a:t>Higher MMR = Higher play level</a:t>
            </a:r>
          </a:p>
        </p:txBody>
      </p:sp>
      <p:pic>
        <p:nvPicPr>
          <p:cNvPr id="12" name="图片 11">
            <a:extLst>
              <a:ext uri="{FF2B5EF4-FFF2-40B4-BE49-F238E27FC236}">
                <a16:creationId xmlns:a16="http://schemas.microsoft.com/office/drawing/2014/main" id="{8729494A-1F5F-435A-BC8C-991275C7CA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07814" y="1816555"/>
            <a:ext cx="2898345" cy="2898345"/>
          </a:xfrm>
          <a:prstGeom prst="rect">
            <a:avLst/>
          </a:prstGeom>
        </p:spPr>
      </p:pic>
      <p:sp>
        <p:nvSpPr>
          <p:cNvPr id="29" name="文本框 28">
            <a:extLst>
              <a:ext uri="{FF2B5EF4-FFF2-40B4-BE49-F238E27FC236}">
                <a16:creationId xmlns:a16="http://schemas.microsoft.com/office/drawing/2014/main" id="{B9F1FAD4-3372-4217-AC2D-75F4CE0A1699}"/>
              </a:ext>
            </a:extLst>
          </p:cNvPr>
          <p:cNvSpPr txBox="1"/>
          <p:nvPr/>
        </p:nvSpPr>
        <p:spPr>
          <a:xfrm>
            <a:off x="7330578" y="4623699"/>
            <a:ext cx="3252815" cy="461665"/>
          </a:xfrm>
          <a:prstGeom prst="rect">
            <a:avLst/>
          </a:prstGeom>
          <a:noFill/>
        </p:spPr>
        <p:txBody>
          <a:bodyPr wrap="non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Players with close MMR</a:t>
            </a:r>
          </a:p>
        </p:txBody>
      </p:sp>
      <p:sp>
        <p:nvSpPr>
          <p:cNvPr id="31" name="文本框 30">
            <a:extLst>
              <a:ext uri="{FF2B5EF4-FFF2-40B4-BE49-F238E27FC236}">
                <a16:creationId xmlns:a16="http://schemas.microsoft.com/office/drawing/2014/main" id="{52A24B3D-6022-49BE-96EA-6B923AC64437}"/>
              </a:ext>
            </a:extLst>
          </p:cNvPr>
          <p:cNvSpPr txBox="1"/>
          <p:nvPr/>
        </p:nvSpPr>
        <p:spPr>
          <a:xfrm>
            <a:off x="864240" y="848555"/>
            <a:ext cx="11819348" cy="707886"/>
          </a:xfrm>
          <a:prstGeom prst="rect">
            <a:avLst/>
          </a:prstGeom>
          <a:noFill/>
        </p:spPr>
        <p:txBody>
          <a:bodyPr wrap="square" rtlCol="0">
            <a:spAutoFit/>
          </a:bodyPr>
          <a:lstStyle/>
          <a:p>
            <a:pP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Introduction of Case</a:t>
            </a:r>
          </a:p>
        </p:txBody>
      </p:sp>
    </p:spTree>
    <p:extLst>
      <p:ext uri="{BB962C8B-B14F-4D97-AF65-F5344CB8AC3E}">
        <p14:creationId xmlns:p14="http://schemas.microsoft.com/office/powerpoint/2010/main" val="27629043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grpSp>
        <p:nvGrpSpPr>
          <p:cNvPr id="11" name="组合 10">
            <a:extLst>
              <a:ext uri="{FF2B5EF4-FFF2-40B4-BE49-F238E27FC236}">
                <a16:creationId xmlns:a16="http://schemas.microsoft.com/office/drawing/2014/main" id="{80303A12-AF82-4CA9-BE2F-553AC9B4036B}"/>
              </a:ext>
            </a:extLst>
          </p:cNvPr>
          <p:cNvGrpSpPr/>
          <p:nvPr/>
        </p:nvGrpSpPr>
        <p:grpSpPr>
          <a:xfrm>
            <a:off x="821812" y="2710685"/>
            <a:ext cx="6327312" cy="1575695"/>
            <a:chOff x="673563" y="2871134"/>
            <a:chExt cx="7038173" cy="1752721"/>
          </a:xfrm>
        </p:grpSpPr>
        <p:grpSp>
          <p:nvGrpSpPr>
            <p:cNvPr id="38" name="组合 37">
              <a:extLst>
                <a:ext uri="{FF2B5EF4-FFF2-40B4-BE49-F238E27FC236}">
                  <a16:creationId xmlns:a16="http://schemas.microsoft.com/office/drawing/2014/main" id="{C43A9821-564E-46C8-8D86-B6551ED5178F}"/>
                </a:ext>
              </a:extLst>
            </p:cNvPr>
            <p:cNvGrpSpPr/>
            <p:nvPr/>
          </p:nvGrpSpPr>
          <p:grpSpPr>
            <a:xfrm>
              <a:off x="2874947" y="2871134"/>
              <a:ext cx="2520159" cy="1752721"/>
              <a:chOff x="2998678" y="3927993"/>
              <a:chExt cx="1844172" cy="1282586"/>
            </a:xfrm>
          </p:grpSpPr>
          <p:pic>
            <p:nvPicPr>
              <p:cNvPr id="30" name="图片 29">
                <a:extLst>
                  <a:ext uri="{FF2B5EF4-FFF2-40B4-BE49-F238E27FC236}">
                    <a16:creationId xmlns:a16="http://schemas.microsoft.com/office/drawing/2014/main" id="{622EEBB7-8ACB-4450-9BB2-A6005C74C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065" y="3927993"/>
                <a:ext cx="956904" cy="956904"/>
              </a:xfrm>
              <a:prstGeom prst="rect">
                <a:avLst/>
              </a:prstGeom>
            </p:spPr>
          </p:pic>
          <p:sp>
            <p:nvSpPr>
              <p:cNvPr id="32" name="文本框 31">
                <a:extLst>
                  <a:ext uri="{FF2B5EF4-FFF2-40B4-BE49-F238E27FC236}">
                    <a16:creationId xmlns:a16="http://schemas.microsoft.com/office/drawing/2014/main" id="{2084A8F9-F1A6-4209-AD05-8E8A21D4A7D7}"/>
                  </a:ext>
                </a:extLst>
              </p:cNvPr>
              <p:cNvSpPr txBox="1"/>
              <p:nvPr/>
            </p:nvSpPr>
            <p:spPr>
              <a:xfrm>
                <a:off x="2998678" y="4884897"/>
                <a:ext cx="1844172" cy="325682"/>
              </a:xfrm>
              <a:prstGeom prst="rect">
                <a:avLst/>
              </a:prstGeom>
              <a:noFill/>
            </p:spPr>
            <p:txBody>
              <a:bodyPr wrap="none" rtlCol="0">
                <a:spAutoFit/>
              </a:bodyPr>
              <a:lstStyle/>
              <a:p>
                <a:pPr algn="ctr"/>
                <a:r>
                  <a:rPr lang="en-US" altLang="zh-CN" sz="2000" dirty="0">
                    <a:solidFill>
                      <a:schemeClr val="bg1"/>
                    </a:solidFill>
                    <a:latin typeface="Times New Roman" panose="02020603050405020304" pitchFamily="18" charset="0"/>
                    <a:cs typeface="Times New Roman" panose="02020603050405020304" pitchFamily="18" charset="0"/>
                  </a:rPr>
                  <a:t>Low MMR Account</a:t>
                </a:r>
              </a:p>
            </p:txBody>
          </p:sp>
        </p:grpSp>
        <p:grpSp>
          <p:nvGrpSpPr>
            <p:cNvPr id="40" name="组合 39">
              <a:extLst>
                <a:ext uri="{FF2B5EF4-FFF2-40B4-BE49-F238E27FC236}">
                  <a16:creationId xmlns:a16="http://schemas.microsoft.com/office/drawing/2014/main" id="{71ED93E7-F98A-41B3-9BFA-45D6CCEC009B}"/>
                </a:ext>
              </a:extLst>
            </p:cNvPr>
            <p:cNvGrpSpPr/>
            <p:nvPr/>
          </p:nvGrpSpPr>
          <p:grpSpPr>
            <a:xfrm>
              <a:off x="673563" y="2894949"/>
              <a:ext cx="1783777" cy="1705961"/>
              <a:chOff x="2124230" y="2644334"/>
              <a:chExt cx="2019684" cy="1931577"/>
            </a:xfrm>
          </p:grpSpPr>
          <p:pic>
            <p:nvPicPr>
              <p:cNvPr id="4" name="图片 3">
                <a:extLst>
                  <a:ext uri="{FF2B5EF4-FFF2-40B4-BE49-F238E27FC236}">
                    <a16:creationId xmlns:a16="http://schemas.microsoft.com/office/drawing/2014/main" id="{E6FF12DB-2A01-4E1E-A807-988971CFE7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117" y="2644334"/>
                <a:ext cx="1469911" cy="1469911"/>
              </a:xfrm>
              <a:prstGeom prst="rect">
                <a:avLst/>
              </a:prstGeom>
            </p:spPr>
          </p:pic>
          <p:sp>
            <p:nvSpPr>
              <p:cNvPr id="6" name="文本框 5">
                <a:extLst>
                  <a:ext uri="{FF2B5EF4-FFF2-40B4-BE49-F238E27FC236}">
                    <a16:creationId xmlns:a16="http://schemas.microsoft.com/office/drawing/2014/main" id="{E3AE71A6-AE28-4F35-BB89-151A3C9D6525}"/>
                  </a:ext>
                </a:extLst>
              </p:cNvPr>
              <p:cNvSpPr txBox="1"/>
              <p:nvPr/>
            </p:nvSpPr>
            <p:spPr>
              <a:xfrm>
                <a:off x="2124230" y="4114245"/>
                <a:ext cx="2019684" cy="461666"/>
              </a:xfrm>
              <a:prstGeom prst="rect">
                <a:avLst/>
              </a:prstGeom>
              <a:noFill/>
            </p:spPr>
            <p:txBody>
              <a:bodyPr wrap="none" rtlCol="0">
                <a:noAutofit/>
              </a:bodyPr>
              <a:lstStyle/>
              <a:p>
                <a:pPr algn="ctr"/>
                <a:r>
                  <a:rPr lang="en-US" altLang="zh-CN" sz="2000" dirty="0">
                    <a:solidFill>
                      <a:schemeClr val="bg1"/>
                    </a:solidFill>
                    <a:latin typeface="Times New Roman" panose="02020603050405020304" pitchFamily="18" charset="0"/>
                    <a:cs typeface="Times New Roman" panose="02020603050405020304" pitchFamily="18" charset="0"/>
                  </a:rPr>
                  <a:t>Skilled Broadcaster</a:t>
                </a:r>
                <a:endParaRPr lang="zh-CN" altLang="en-US" sz="2000" dirty="0">
                  <a:solidFill>
                    <a:schemeClr val="bg1"/>
                  </a:solidFill>
                  <a:latin typeface="Times New Roman" panose="02020603050405020304" pitchFamily="18" charset="0"/>
                  <a:cs typeface="Times New Roman" panose="02020603050405020304" pitchFamily="18" charset="0"/>
                </a:endParaRPr>
              </a:p>
            </p:txBody>
          </p:sp>
        </p:grpSp>
        <p:sp>
          <p:nvSpPr>
            <p:cNvPr id="2" name="加号 1">
              <a:extLst>
                <a:ext uri="{FF2B5EF4-FFF2-40B4-BE49-F238E27FC236}">
                  <a16:creationId xmlns:a16="http://schemas.microsoft.com/office/drawing/2014/main" id="{A7EFD0F5-4010-4561-9E32-1144EB7B7CF3}"/>
                </a:ext>
              </a:extLst>
            </p:cNvPr>
            <p:cNvSpPr/>
            <p:nvPr/>
          </p:nvSpPr>
          <p:spPr>
            <a:xfrm>
              <a:off x="2607419" y="3429000"/>
              <a:ext cx="672927" cy="672927"/>
            </a:xfrm>
            <a:prstGeom prst="mathPl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号 2">
              <a:extLst>
                <a:ext uri="{FF2B5EF4-FFF2-40B4-BE49-F238E27FC236}">
                  <a16:creationId xmlns:a16="http://schemas.microsoft.com/office/drawing/2014/main" id="{C1A29D57-1F3F-459E-86FE-65BC34BB57D3}"/>
                </a:ext>
              </a:extLst>
            </p:cNvPr>
            <p:cNvSpPr/>
            <p:nvPr/>
          </p:nvSpPr>
          <p:spPr>
            <a:xfrm>
              <a:off x="5014939" y="3411519"/>
              <a:ext cx="707887" cy="707887"/>
            </a:xfrm>
            <a:prstGeom prst="mathEqual">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10" name="组合 9">
              <a:extLst>
                <a:ext uri="{FF2B5EF4-FFF2-40B4-BE49-F238E27FC236}">
                  <a16:creationId xmlns:a16="http://schemas.microsoft.com/office/drawing/2014/main" id="{6B48EB12-16DB-4E68-9D1A-FE56DCDCFBDE}"/>
                </a:ext>
              </a:extLst>
            </p:cNvPr>
            <p:cNvGrpSpPr/>
            <p:nvPr/>
          </p:nvGrpSpPr>
          <p:grpSpPr>
            <a:xfrm>
              <a:off x="5703489" y="2938187"/>
              <a:ext cx="2008247" cy="1675561"/>
              <a:chOff x="4715244" y="2894949"/>
              <a:chExt cx="2008247" cy="1675561"/>
            </a:xfrm>
          </p:grpSpPr>
          <p:pic>
            <p:nvPicPr>
              <p:cNvPr id="8" name="图片 7">
                <a:extLst>
                  <a:ext uri="{FF2B5EF4-FFF2-40B4-BE49-F238E27FC236}">
                    <a16:creationId xmlns:a16="http://schemas.microsoft.com/office/drawing/2014/main" id="{32009BA8-3AB7-46BF-AE8E-3ADEF4E738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5820" y="2894949"/>
                <a:ext cx="1374353" cy="1374353"/>
              </a:xfrm>
              <a:prstGeom prst="rect">
                <a:avLst/>
              </a:prstGeom>
            </p:spPr>
          </p:pic>
          <p:sp>
            <p:nvSpPr>
              <p:cNvPr id="29" name="文本框 28">
                <a:extLst>
                  <a:ext uri="{FF2B5EF4-FFF2-40B4-BE49-F238E27FC236}">
                    <a16:creationId xmlns:a16="http://schemas.microsoft.com/office/drawing/2014/main" id="{FFC4297C-8798-4A5C-928F-DB33B32B6316}"/>
                  </a:ext>
                </a:extLst>
              </p:cNvPr>
              <p:cNvSpPr txBox="1"/>
              <p:nvPr/>
            </p:nvSpPr>
            <p:spPr>
              <a:xfrm>
                <a:off x="4715244" y="4170400"/>
                <a:ext cx="2008247" cy="400110"/>
              </a:xfrm>
              <a:prstGeom prst="rect">
                <a:avLst/>
              </a:prstGeom>
              <a:noFill/>
            </p:spPr>
            <p:txBody>
              <a:bodyPr wrap="square" rtlCol="0">
                <a:spAutoFit/>
              </a:bodyPr>
              <a:lstStyle/>
              <a:p>
                <a:pPr algn="ctr"/>
                <a:r>
                  <a:rPr lang="en-US" altLang="zh-CN" sz="2000" dirty="0">
                    <a:solidFill>
                      <a:schemeClr val="bg1"/>
                    </a:solidFill>
                    <a:latin typeface="Times New Roman" panose="02020603050405020304" pitchFamily="18" charset="0"/>
                    <a:cs typeface="Times New Roman" panose="02020603050405020304" pitchFamily="18" charset="0"/>
                  </a:rPr>
                  <a:t>Smurf  Account</a:t>
                </a:r>
              </a:p>
            </p:txBody>
          </p:sp>
        </p:grpSp>
      </p:grpSp>
      <p:grpSp>
        <p:nvGrpSpPr>
          <p:cNvPr id="15" name="组合 14">
            <a:extLst>
              <a:ext uri="{FF2B5EF4-FFF2-40B4-BE49-F238E27FC236}">
                <a16:creationId xmlns:a16="http://schemas.microsoft.com/office/drawing/2014/main" id="{79A06E45-314B-4692-BAEB-3C4AA1316ED7}"/>
              </a:ext>
            </a:extLst>
          </p:cNvPr>
          <p:cNvGrpSpPr/>
          <p:nvPr/>
        </p:nvGrpSpPr>
        <p:grpSpPr>
          <a:xfrm>
            <a:off x="8581669" y="1833411"/>
            <a:ext cx="3474594" cy="3127295"/>
            <a:chOff x="9314717" y="2651921"/>
            <a:chExt cx="2008247" cy="1905000"/>
          </a:xfrm>
        </p:grpSpPr>
        <p:pic>
          <p:nvPicPr>
            <p:cNvPr id="14" name="图片 13">
              <a:extLst>
                <a:ext uri="{FF2B5EF4-FFF2-40B4-BE49-F238E27FC236}">
                  <a16:creationId xmlns:a16="http://schemas.microsoft.com/office/drawing/2014/main" id="{D481C8A6-99E2-4744-B816-61C258AECD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66341" y="2651921"/>
              <a:ext cx="1905000" cy="1905000"/>
            </a:xfrm>
            <a:prstGeom prst="rect">
              <a:avLst/>
            </a:prstGeom>
          </p:spPr>
        </p:pic>
        <p:sp>
          <p:nvSpPr>
            <p:cNvPr id="31" name="文本框 30">
              <a:extLst>
                <a:ext uri="{FF2B5EF4-FFF2-40B4-BE49-F238E27FC236}">
                  <a16:creationId xmlns:a16="http://schemas.microsoft.com/office/drawing/2014/main" id="{24D57F5B-9181-4EC0-8726-BB56E5440977}"/>
                </a:ext>
              </a:extLst>
            </p:cNvPr>
            <p:cNvSpPr txBox="1"/>
            <p:nvPr/>
          </p:nvSpPr>
          <p:spPr>
            <a:xfrm>
              <a:off x="9314717" y="4195724"/>
              <a:ext cx="2008247" cy="243728"/>
            </a:xfrm>
            <a:prstGeom prst="rect">
              <a:avLst/>
            </a:prstGeom>
            <a:noFill/>
          </p:spPr>
          <p:txBody>
            <a:bodyPr wrap="square" rtlCol="0">
              <a:spAutoFit/>
            </a:bodyPr>
            <a:lstStyle/>
            <a:p>
              <a:pPr algn="ctr"/>
              <a:r>
                <a:rPr lang="en-US" altLang="zh-CN" sz="2000" dirty="0">
                  <a:solidFill>
                    <a:schemeClr val="bg1"/>
                  </a:solidFill>
                  <a:latin typeface="Times New Roman" panose="02020603050405020304" pitchFamily="18" charset="0"/>
                  <a:cs typeface="Times New Roman" panose="02020603050405020304" pitchFamily="18" charset="0"/>
                </a:rPr>
                <a:t>Many Audience</a:t>
              </a:r>
            </a:p>
          </p:txBody>
        </p:sp>
      </p:grpSp>
      <p:sp>
        <p:nvSpPr>
          <p:cNvPr id="16" name="箭头: 左 15">
            <a:extLst>
              <a:ext uri="{FF2B5EF4-FFF2-40B4-BE49-F238E27FC236}">
                <a16:creationId xmlns:a16="http://schemas.microsoft.com/office/drawing/2014/main" id="{B391ABBF-DA00-41FE-B47E-444399FE1AA3}"/>
              </a:ext>
            </a:extLst>
          </p:cNvPr>
          <p:cNvSpPr/>
          <p:nvPr/>
        </p:nvSpPr>
        <p:spPr>
          <a:xfrm>
            <a:off x="7207069" y="3243229"/>
            <a:ext cx="1374600" cy="501523"/>
          </a:xfrm>
          <a:prstGeom prst="lef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2C4AC34F-D995-4703-BE59-42734E5D12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93918" y="2662811"/>
            <a:ext cx="1905000" cy="1905000"/>
          </a:xfrm>
          <a:prstGeom prst="rect">
            <a:avLst/>
          </a:prstGeom>
        </p:spPr>
      </p:pic>
      <p:pic>
        <p:nvPicPr>
          <p:cNvPr id="45" name="图片 44">
            <a:extLst>
              <a:ext uri="{FF2B5EF4-FFF2-40B4-BE49-F238E27FC236}">
                <a16:creationId xmlns:a16="http://schemas.microsoft.com/office/drawing/2014/main" id="{4995E5A1-EF3F-4275-A517-EEBA08678E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9011" y="2541490"/>
            <a:ext cx="1905000" cy="1905000"/>
          </a:xfrm>
          <a:prstGeom prst="rect">
            <a:avLst/>
          </a:prstGeom>
        </p:spPr>
      </p:pic>
      <p:sp>
        <p:nvSpPr>
          <p:cNvPr id="46" name="文本框 45">
            <a:extLst>
              <a:ext uri="{FF2B5EF4-FFF2-40B4-BE49-F238E27FC236}">
                <a16:creationId xmlns:a16="http://schemas.microsoft.com/office/drawing/2014/main" id="{8F6B9975-78AD-4202-A882-35D25A5D6958}"/>
              </a:ext>
            </a:extLst>
          </p:cNvPr>
          <p:cNvSpPr txBox="1"/>
          <p:nvPr/>
        </p:nvSpPr>
        <p:spPr>
          <a:xfrm>
            <a:off x="864240" y="848555"/>
            <a:ext cx="11819348" cy="707886"/>
          </a:xfrm>
          <a:prstGeom prst="rect">
            <a:avLst/>
          </a:prstGeom>
          <a:noFill/>
        </p:spPr>
        <p:txBody>
          <a:bodyPr wrap="square" rtlCol="0">
            <a:spAutoFit/>
          </a:bodyPr>
          <a:lstStyle/>
          <a:p>
            <a:pP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Introduction of Case</a:t>
            </a:r>
          </a:p>
        </p:txBody>
      </p:sp>
    </p:spTree>
    <p:extLst>
      <p:ext uri="{BB962C8B-B14F-4D97-AF65-F5344CB8AC3E}">
        <p14:creationId xmlns:p14="http://schemas.microsoft.com/office/powerpoint/2010/main" val="36404091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20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additive="base">
                                        <p:cTn id="19" dur="500" fill="hold"/>
                                        <p:tgtEl>
                                          <p:spTgt spid="45"/>
                                        </p:tgtEl>
                                        <p:attrNameLst>
                                          <p:attrName>ppt_x</p:attrName>
                                        </p:attrNameLst>
                                      </p:cBhvr>
                                      <p:tavLst>
                                        <p:tav tm="0">
                                          <p:val>
                                            <p:strVal val="#ppt_x"/>
                                          </p:val>
                                        </p:tav>
                                        <p:tav tm="100000">
                                          <p:val>
                                            <p:strVal val="#ppt_x"/>
                                          </p:val>
                                        </p:tav>
                                      </p:tavLst>
                                    </p:anim>
                                    <p:anim calcmode="lin" valueType="num">
                                      <p:cBhvr additive="base">
                                        <p:cTn id="2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grpSp>
        <p:nvGrpSpPr>
          <p:cNvPr id="12" name="组合 11">
            <a:extLst>
              <a:ext uri="{FF2B5EF4-FFF2-40B4-BE49-F238E27FC236}">
                <a16:creationId xmlns:a16="http://schemas.microsoft.com/office/drawing/2014/main" id="{F075AAC8-0786-41D4-B083-7AFA6E826FB1}"/>
              </a:ext>
            </a:extLst>
          </p:cNvPr>
          <p:cNvGrpSpPr/>
          <p:nvPr/>
        </p:nvGrpSpPr>
        <p:grpSpPr>
          <a:xfrm>
            <a:off x="520131" y="3429000"/>
            <a:ext cx="2636199" cy="1987750"/>
            <a:chOff x="1436615" y="2476500"/>
            <a:chExt cx="2132956" cy="1608294"/>
          </a:xfrm>
        </p:grpSpPr>
        <p:pic>
          <p:nvPicPr>
            <p:cNvPr id="25" name="图片 24">
              <a:extLst>
                <a:ext uri="{FF2B5EF4-FFF2-40B4-BE49-F238E27FC236}">
                  <a16:creationId xmlns:a16="http://schemas.microsoft.com/office/drawing/2014/main" id="{99975B22-F8EC-49FC-A0C0-D1DC5BF42B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8584" y="2476500"/>
              <a:ext cx="1235542" cy="1235542"/>
            </a:xfrm>
            <a:prstGeom prst="rect">
              <a:avLst/>
            </a:prstGeom>
          </p:spPr>
        </p:pic>
        <p:sp>
          <p:nvSpPr>
            <p:cNvPr id="26" name="文本框 25">
              <a:extLst>
                <a:ext uri="{FF2B5EF4-FFF2-40B4-BE49-F238E27FC236}">
                  <a16:creationId xmlns:a16="http://schemas.microsoft.com/office/drawing/2014/main" id="{27CDF720-7089-4B9E-A1EA-7F3E5B313D4A}"/>
                </a:ext>
              </a:extLst>
            </p:cNvPr>
            <p:cNvSpPr txBox="1"/>
            <p:nvPr/>
          </p:nvSpPr>
          <p:spPr>
            <a:xfrm>
              <a:off x="1436615" y="3623129"/>
              <a:ext cx="2132956" cy="461665"/>
            </a:xfrm>
            <a:prstGeom prst="rect">
              <a:avLst/>
            </a:prstGeom>
            <a:noFill/>
          </p:spPr>
          <p:txBody>
            <a:bodyPr wrap="non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Smurf  Account</a:t>
              </a:r>
            </a:p>
          </p:txBody>
        </p:sp>
      </p:grpSp>
      <p:grpSp>
        <p:nvGrpSpPr>
          <p:cNvPr id="13" name="组合 12">
            <a:extLst>
              <a:ext uri="{FF2B5EF4-FFF2-40B4-BE49-F238E27FC236}">
                <a16:creationId xmlns:a16="http://schemas.microsoft.com/office/drawing/2014/main" id="{67938E28-9709-4ADD-A512-8B03954EB323}"/>
              </a:ext>
            </a:extLst>
          </p:cNvPr>
          <p:cNvGrpSpPr/>
          <p:nvPr/>
        </p:nvGrpSpPr>
        <p:grpSpPr>
          <a:xfrm>
            <a:off x="4174031" y="3360472"/>
            <a:ext cx="2491388" cy="1836226"/>
            <a:chOff x="6318213" y="2619375"/>
            <a:chExt cx="2491388" cy="1836226"/>
          </a:xfrm>
        </p:grpSpPr>
        <p:pic>
          <p:nvPicPr>
            <p:cNvPr id="9" name="图片 8">
              <a:extLst>
                <a:ext uri="{FF2B5EF4-FFF2-40B4-BE49-F238E27FC236}">
                  <a16:creationId xmlns:a16="http://schemas.microsoft.com/office/drawing/2014/main" id="{947346B5-A401-4163-AA6F-4E0B10A278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6939" y="2619375"/>
              <a:ext cx="1527052" cy="1527052"/>
            </a:xfrm>
            <a:prstGeom prst="rect">
              <a:avLst/>
            </a:prstGeom>
          </p:spPr>
        </p:pic>
        <p:sp>
          <p:nvSpPr>
            <p:cNvPr id="28" name="文本框 27">
              <a:extLst>
                <a:ext uri="{FF2B5EF4-FFF2-40B4-BE49-F238E27FC236}">
                  <a16:creationId xmlns:a16="http://schemas.microsoft.com/office/drawing/2014/main" id="{95B5BAF7-4A9C-4285-89BB-E8A81CD43E42}"/>
                </a:ext>
              </a:extLst>
            </p:cNvPr>
            <p:cNvSpPr txBox="1"/>
            <p:nvPr/>
          </p:nvSpPr>
          <p:spPr>
            <a:xfrm>
              <a:off x="6318213" y="4055491"/>
              <a:ext cx="2491388" cy="400110"/>
            </a:xfrm>
            <a:prstGeom prst="rect">
              <a:avLst/>
            </a:prstGeom>
            <a:noFill/>
          </p:spPr>
          <p:txBody>
            <a:bodyPr wrap="none" rtlCol="0">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Bad Game Experience</a:t>
              </a:r>
            </a:p>
          </p:txBody>
        </p:sp>
      </p:grpSp>
      <p:sp>
        <p:nvSpPr>
          <p:cNvPr id="19" name="箭头: 右 18">
            <a:extLst>
              <a:ext uri="{FF2B5EF4-FFF2-40B4-BE49-F238E27FC236}">
                <a16:creationId xmlns:a16="http://schemas.microsoft.com/office/drawing/2014/main" id="{9C994DF0-90B3-4941-A419-B3E1F6CAC456}"/>
              </a:ext>
            </a:extLst>
          </p:cNvPr>
          <p:cNvSpPr/>
          <p:nvPr/>
        </p:nvSpPr>
        <p:spPr>
          <a:xfrm>
            <a:off x="2907984" y="3945577"/>
            <a:ext cx="1503207" cy="57058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对话气泡: 椭圆形 19">
            <a:extLst>
              <a:ext uri="{FF2B5EF4-FFF2-40B4-BE49-F238E27FC236}">
                <a16:creationId xmlns:a16="http://schemas.microsoft.com/office/drawing/2014/main" id="{6B5D6197-BDD5-4519-88D2-6978113B757C}"/>
              </a:ext>
            </a:extLst>
          </p:cNvPr>
          <p:cNvSpPr/>
          <p:nvPr/>
        </p:nvSpPr>
        <p:spPr>
          <a:xfrm>
            <a:off x="4874787" y="1097358"/>
            <a:ext cx="3581263" cy="1861626"/>
          </a:xfrm>
          <a:prstGeom prst="wedgeEllipse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I don’t want to play this any more</a:t>
            </a:r>
            <a:endParaRPr lang="zh-CN" altLang="en-US" b="1" dirty="0">
              <a:solidFill>
                <a:schemeClr val="tx1"/>
              </a:solidFill>
              <a:latin typeface="Times New Roman" panose="02020603050405020304" pitchFamily="18" charset="0"/>
              <a:cs typeface="Times New Roman" panose="02020603050405020304" pitchFamily="18" charset="0"/>
            </a:endParaRPr>
          </a:p>
        </p:txBody>
      </p:sp>
      <p:sp>
        <p:nvSpPr>
          <p:cNvPr id="34" name="箭头: 右 33">
            <a:extLst>
              <a:ext uri="{FF2B5EF4-FFF2-40B4-BE49-F238E27FC236}">
                <a16:creationId xmlns:a16="http://schemas.microsoft.com/office/drawing/2014/main" id="{B935E67E-9329-47A5-990A-13F7C7DC43A4}"/>
              </a:ext>
            </a:extLst>
          </p:cNvPr>
          <p:cNvSpPr/>
          <p:nvPr/>
        </p:nvSpPr>
        <p:spPr>
          <a:xfrm>
            <a:off x="6621375" y="3888703"/>
            <a:ext cx="1600834" cy="607646"/>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5510BA47-1CAD-4F99-A63C-44AB6D5515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4471" y="3360472"/>
            <a:ext cx="1458525" cy="1458525"/>
          </a:xfrm>
          <a:prstGeom prst="rect">
            <a:avLst/>
          </a:prstGeom>
        </p:spPr>
      </p:pic>
      <p:pic>
        <p:nvPicPr>
          <p:cNvPr id="37" name="图片 36">
            <a:extLst>
              <a:ext uri="{FF2B5EF4-FFF2-40B4-BE49-F238E27FC236}">
                <a16:creationId xmlns:a16="http://schemas.microsoft.com/office/drawing/2014/main" id="{F9E0E9B1-97AB-4D07-94A0-F35538F018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36425" y="3006093"/>
            <a:ext cx="1905000" cy="1905000"/>
          </a:xfrm>
          <a:prstGeom prst="rect">
            <a:avLst/>
          </a:prstGeom>
        </p:spPr>
      </p:pic>
      <p:sp>
        <p:nvSpPr>
          <p:cNvPr id="42" name="文本框 41">
            <a:extLst>
              <a:ext uri="{FF2B5EF4-FFF2-40B4-BE49-F238E27FC236}">
                <a16:creationId xmlns:a16="http://schemas.microsoft.com/office/drawing/2014/main" id="{E823F43E-C992-49C5-B91E-A2ADD1E8404C}"/>
              </a:ext>
            </a:extLst>
          </p:cNvPr>
          <p:cNvSpPr txBox="1"/>
          <p:nvPr/>
        </p:nvSpPr>
        <p:spPr>
          <a:xfrm>
            <a:off x="8747302" y="4818997"/>
            <a:ext cx="2491388" cy="400110"/>
          </a:xfrm>
          <a:prstGeom prst="rect">
            <a:avLst/>
          </a:prstGeom>
          <a:noFill/>
        </p:spPr>
        <p:txBody>
          <a:bodyPr wrap="none" rtlCol="0">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Loss of Profit and Popularity</a:t>
            </a:r>
          </a:p>
        </p:txBody>
      </p:sp>
      <p:sp>
        <p:nvSpPr>
          <p:cNvPr id="43" name="文本框 42">
            <a:extLst>
              <a:ext uri="{FF2B5EF4-FFF2-40B4-BE49-F238E27FC236}">
                <a16:creationId xmlns:a16="http://schemas.microsoft.com/office/drawing/2014/main" id="{D588DEBA-A5C6-42BA-A3A3-72BE3F89A073}"/>
              </a:ext>
            </a:extLst>
          </p:cNvPr>
          <p:cNvSpPr txBox="1"/>
          <p:nvPr/>
        </p:nvSpPr>
        <p:spPr>
          <a:xfrm>
            <a:off x="864240" y="848555"/>
            <a:ext cx="11819348" cy="707886"/>
          </a:xfrm>
          <a:prstGeom prst="rect">
            <a:avLst/>
          </a:prstGeom>
          <a:noFill/>
        </p:spPr>
        <p:txBody>
          <a:bodyPr wrap="square" rtlCol="0">
            <a:spAutoFit/>
          </a:bodyPr>
          <a:lstStyle/>
          <a:p>
            <a:pP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Effects on Game</a:t>
            </a:r>
          </a:p>
        </p:txBody>
      </p:sp>
    </p:spTree>
    <p:extLst>
      <p:ext uri="{BB962C8B-B14F-4D97-AF65-F5344CB8AC3E}">
        <p14:creationId xmlns:p14="http://schemas.microsoft.com/office/powerpoint/2010/main" val="18681603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par>
                          <p:cTn id="11" fill="hold">
                            <p:stCondLst>
                              <p:cond delay="2500"/>
                            </p:stCondLst>
                            <p:childTnLst>
                              <p:par>
                                <p:cTn id="12" presetID="10" presetClass="entr" presetSubtype="0" fill="hold" grpId="0" nodeType="afterEffect">
                                  <p:stCondLst>
                                    <p:cond delay="200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cTn>
                              </p:par>
                              <p:par>
                                <p:cTn id="15" presetID="10" presetClass="entr" presetSubtype="0" fill="hold" nodeType="withEffect">
                                  <p:stCondLst>
                                    <p:cond delay="200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nodeType="withEffect">
                                  <p:stCondLst>
                                    <p:cond delay="20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par>
                                <p:cTn id="21" presetID="10" presetClass="entr" presetSubtype="0" fill="hold" grpId="0" nodeType="withEffect">
                                  <p:stCondLst>
                                    <p:cond delay="20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4" grpId="0" animBg="1"/>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9105C47-D07B-4F4D-BC3C-101E13673B87}"/>
              </a:ext>
            </a:extLst>
          </p:cNvPr>
          <p:cNvGrpSpPr/>
          <p:nvPr/>
        </p:nvGrpSpPr>
        <p:grpSpPr>
          <a:xfrm>
            <a:off x="0" y="0"/>
            <a:ext cx="12192000" cy="6858000"/>
            <a:chOff x="181201" y="1851763"/>
            <a:chExt cx="12192000" cy="6858000"/>
          </a:xfrm>
        </p:grpSpPr>
        <p:sp>
          <p:nvSpPr>
            <p:cNvPr id="5" name="矩形 4"/>
            <p:cNvSpPr/>
            <p:nvPr/>
          </p:nvSpPr>
          <p:spPr>
            <a:xfrm>
              <a:off x="181201" y="1851763"/>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grpSp>
          <p:nvGrpSpPr>
            <p:cNvPr id="12" name="组合 11">
              <a:extLst>
                <a:ext uri="{FF2B5EF4-FFF2-40B4-BE49-F238E27FC236}">
                  <a16:creationId xmlns:a16="http://schemas.microsoft.com/office/drawing/2014/main" id="{F075AAC8-0786-41D4-B083-7AFA6E826FB1}"/>
                </a:ext>
              </a:extLst>
            </p:cNvPr>
            <p:cNvGrpSpPr/>
            <p:nvPr/>
          </p:nvGrpSpPr>
          <p:grpSpPr>
            <a:xfrm>
              <a:off x="567756" y="5202555"/>
              <a:ext cx="2636199" cy="1987751"/>
              <a:chOff x="1436615" y="3894533"/>
              <a:chExt cx="2132956" cy="1608295"/>
            </a:xfrm>
          </p:grpSpPr>
          <p:pic>
            <p:nvPicPr>
              <p:cNvPr id="25" name="图片 24">
                <a:extLst>
                  <a:ext uri="{FF2B5EF4-FFF2-40B4-BE49-F238E27FC236}">
                    <a16:creationId xmlns:a16="http://schemas.microsoft.com/office/drawing/2014/main" id="{99975B22-F8EC-49FC-A0C0-D1DC5BF42B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8584" y="3894533"/>
                <a:ext cx="1235542" cy="1235542"/>
              </a:xfrm>
              <a:prstGeom prst="rect">
                <a:avLst/>
              </a:prstGeom>
            </p:spPr>
          </p:pic>
          <p:sp>
            <p:nvSpPr>
              <p:cNvPr id="26" name="文本框 25">
                <a:extLst>
                  <a:ext uri="{FF2B5EF4-FFF2-40B4-BE49-F238E27FC236}">
                    <a16:creationId xmlns:a16="http://schemas.microsoft.com/office/drawing/2014/main" id="{27CDF720-7089-4B9E-A1EA-7F3E5B313D4A}"/>
                  </a:ext>
                </a:extLst>
              </p:cNvPr>
              <p:cNvSpPr txBox="1"/>
              <p:nvPr/>
            </p:nvSpPr>
            <p:spPr>
              <a:xfrm>
                <a:off x="1436615" y="5041163"/>
                <a:ext cx="2132956" cy="461665"/>
              </a:xfrm>
              <a:prstGeom prst="rect">
                <a:avLst/>
              </a:prstGeom>
              <a:noFill/>
            </p:spPr>
            <p:txBody>
              <a:bodyPr wrap="none" rtlCol="0">
                <a:sp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Smurf  Account</a:t>
                </a:r>
              </a:p>
            </p:txBody>
          </p:sp>
        </p:grpSp>
        <p:sp>
          <p:nvSpPr>
            <p:cNvPr id="28" name="文本框 27">
              <a:extLst>
                <a:ext uri="{FF2B5EF4-FFF2-40B4-BE49-F238E27FC236}">
                  <a16:creationId xmlns:a16="http://schemas.microsoft.com/office/drawing/2014/main" id="{95B5BAF7-4A9C-4285-89BB-E8A81CD43E42}"/>
                </a:ext>
              </a:extLst>
            </p:cNvPr>
            <p:cNvSpPr txBox="1"/>
            <p:nvPr/>
          </p:nvSpPr>
          <p:spPr>
            <a:xfrm>
              <a:off x="4320626" y="6633253"/>
              <a:ext cx="2491388" cy="400110"/>
            </a:xfrm>
            <a:prstGeom prst="rect">
              <a:avLst/>
            </a:prstGeom>
            <a:noFill/>
          </p:spPr>
          <p:txBody>
            <a:bodyPr wrap="none" rtlCol="0">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Better Viewing Experience</a:t>
              </a:r>
            </a:p>
          </p:txBody>
        </p:sp>
        <p:sp>
          <p:nvSpPr>
            <p:cNvPr id="19" name="箭头: 右 18">
              <a:extLst>
                <a:ext uri="{FF2B5EF4-FFF2-40B4-BE49-F238E27FC236}">
                  <a16:creationId xmlns:a16="http://schemas.microsoft.com/office/drawing/2014/main" id="{9C994DF0-90B3-4941-A419-B3E1F6CAC456}"/>
                </a:ext>
              </a:extLst>
            </p:cNvPr>
            <p:cNvSpPr/>
            <p:nvPr/>
          </p:nvSpPr>
          <p:spPr>
            <a:xfrm>
              <a:off x="2955609" y="5719133"/>
              <a:ext cx="1503207" cy="57058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对话气泡: 椭圆形 19">
              <a:extLst>
                <a:ext uri="{FF2B5EF4-FFF2-40B4-BE49-F238E27FC236}">
                  <a16:creationId xmlns:a16="http://schemas.microsoft.com/office/drawing/2014/main" id="{6B5D6197-BDD5-4519-88D2-6978113B757C}"/>
                </a:ext>
              </a:extLst>
            </p:cNvPr>
            <p:cNvSpPr/>
            <p:nvPr/>
          </p:nvSpPr>
          <p:spPr>
            <a:xfrm>
              <a:off x="4922412" y="3437456"/>
              <a:ext cx="2491389" cy="1295083"/>
            </a:xfrm>
            <a:prstGeom prst="wedgeEllipse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dirty="0">
                  <a:solidFill>
                    <a:schemeClr val="tx1"/>
                  </a:solidFill>
                  <a:latin typeface="Times New Roman" panose="02020603050405020304" pitchFamily="18" charset="0"/>
                  <a:cs typeface="Times New Roman" panose="02020603050405020304" pitchFamily="18" charset="0"/>
                </a:rPr>
                <a:t>It’s so interesting</a:t>
              </a:r>
              <a:endParaRPr lang="zh-CN" altLang="en-US" b="1" dirty="0">
                <a:solidFill>
                  <a:schemeClr val="tx1"/>
                </a:solidFill>
                <a:latin typeface="Times New Roman" panose="02020603050405020304" pitchFamily="18" charset="0"/>
                <a:cs typeface="Times New Roman" panose="02020603050405020304" pitchFamily="18" charset="0"/>
              </a:endParaRPr>
            </a:p>
          </p:txBody>
        </p:sp>
        <p:sp>
          <p:nvSpPr>
            <p:cNvPr id="34" name="箭头: 右 33">
              <a:extLst>
                <a:ext uri="{FF2B5EF4-FFF2-40B4-BE49-F238E27FC236}">
                  <a16:creationId xmlns:a16="http://schemas.microsoft.com/office/drawing/2014/main" id="{B935E67E-9329-47A5-990A-13F7C7DC43A4}"/>
                </a:ext>
              </a:extLst>
            </p:cNvPr>
            <p:cNvSpPr/>
            <p:nvPr/>
          </p:nvSpPr>
          <p:spPr>
            <a:xfrm>
              <a:off x="6669000" y="5662259"/>
              <a:ext cx="1600834" cy="607646"/>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5510BA47-1CAD-4F99-A63C-44AB6D5515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2096" y="5134028"/>
              <a:ext cx="1458525" cy="1458525"/>
            </a:xfrm>
            <a:prstGeom prst="rect">
              <a:avLst/>
            </a:prstGeom>
          </p:spPr>
        </p:pic>
        <p:pic>
          <p:nvPicPr>
            <p:cNvPr id="37" name="图片 36">
              <a:extLst>
                <a:ext uri="{FF2B5EF4-FFF2-40B4-BE49-F238E27FC236}">
                  <a16:creationId xmlns:a16="http://schemas.microsoft.com/office/drawing/2014/main" id="{F9E0E9B1-97AB-4D07-94A0-F35538F018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4050" y="4779649"/>
              <a:ext cx="1905000" cy="1905000"/>
            </a:xfrm>
            <a:prstGeom prst="rect">
              <a:avLst/>
            </a:prstGeom>
          </p:spPr>
        </p:pic>
        <p:sp>
          <p:nvSpPr>
            <p:cNvPr id="42" name="文本框 41">
              <a:extLst>
                <a:ext uri="{FF2B5EF4-FFF2-40B4-BE49-F238E27FC236}">
                  <a16:creationId xmlns:a16="http://schemas.microsoft.com/office/drawing/2014/main" id="{E823F43E-C992-49C5-B91E-A2ADD1E8404C}"/>
                </a:ext>
              </a:extLst>
            </p:cNvPr>
            <p:cNvSpPr txBox="1"/>
            <p:nvPr/>
          </p:nvSpPr>
          <p:spPr>
            <a:xfrm>
              <a:off x="8794927" y="6592553"/>
              <a:ext cx="2491388" cy="400110"/>
            </a:xfrm>
            <a:prstGeom prst="rect">
              <a:avLst/>
            </a:prstGeom>
            <a:noFill/>
          </p:spPr>
          <p:txBody>
            <a:bodyPr wrap="none" rtlCol="0">
              <a:noAutofit/>
            </a:bodyPr>
            <a:lstStyle/>
            <a:p>
              <a:pPr algn="ctr"/>
              <a:r>
                <a:rPr lang="en-US" altLang="zh-CN" sz="2400" dirty="0">
                  <a:solidFill>
                    <a:schemeClr val="bg1"/>
                  </a:solidFill>
                  <a:latin typeface="Times New Roman" panose="02020603050405020304" pitchFamily="18" charset="0"/>
                  <a:cs typeface="Times New Roman" panose="02020603050405020304" pitchFamily="18" charset="0"/>
                </a:rPr>
                <a:t>Increase of Profit and Popularity</a:t>
              </a:r>
            </a:p>
          </p:txBody>
        </p:sp>
        <p:pic>
          <p:nvPicPr>
            <p:cNvPr id="3" name="图片 2">
              <a:extLst>
                <a:ext uri="{FF2B5EF4-FFF2-40B4-BE49-F238E27FC236}">
                  <a16:creationId xmlns:a16="http://schemas.microsoft.com/office/drawing/2014/main" id="{9EA2ECA0-4E45-4F04-B8BF-3CAC97F7E6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18676" y="5181600"/>
              <a:ext cx="1458525" cy="1458525"/>
            </a:xfrm>
            <a:prstGeom prst="rect">
              <a:avLst/>
            </a:prstGeom>
          </p:spPr>
        </p:pic>
      </p:grpSp>
      <p:sp>
        <p:nvSpPr>
          <p:cNvPr id="21" name="文本框 20">
            <a:extLst>
              <a:ext uri="{FF2B5EF4-FFF2-40B4-BE49-F238E27FC236}">
                <a16:creationId xmlns:a16="http://schemas.microsoft.com/office/drawing/2014/main" id="{B57A6E23-5796-4172-91B8-D0CA07B42FF9}"/>
              </a:ext>
            </a:extLst>
          </p:cNvPr>
          <p:cNvSpPr txBox="1"/>
          <p:nvPr/>
        </p:nvSpPr>
        <p:spPr>
          <a:xfrm>
            <a:off x="864240" y="848555"/>
            <a:ext cx="11819348" cy="707886"/>
          </a:xfrm>
          <a:prstGeom prst="rect">
            <a:avLst/>
          </a:prstGeom>
          <a:noFill/>
        </p:spPr>
        <p:txBody>
          <a:bodyPr wrap="square" rtlCol="0">
            <a:spAutoFit/>
          </a:bodyPr>
          <a:lstStyle/>
          <a:p>
            <a:pPr>
              <a:defRPr/>
            </a:pPr>
            <a:r>
              <a:rPr lang="en-US" altLang="zh-CN" sz="4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Effects on Broadcasting</a:t>
            </a:r>
          </a:p>
        </p:txBody>
      </p:sp>
    </p:spTree>
    <p:extLst>
      <p:ext uri="{BB962C8B-B14F-4D97-AF65-F5344CB8AC3E}">
        <p14:creationId xmlns:p14="http://schemas.microsoft.com/office/powerpoint/2010/main" val="23357322"/>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sp>
        <p:nvSpPr>
          <p:cNvPr id="41" name="文本框 40">
            <a:extLst>
              <a:ext uri="{FF2B5EF4-FFF2-40B4-BE49-F238E27FC236}">
                <a16:creationId xmlns:a16="http://schemas.microsoft.com/office/drawing/2014/main" id="{58EFCDAA-530E-4236-A3D1-1230B4178B5E}"/>
              </a:ext>
            </a:extLst>
          </p:cNvPr>
          <p:cNvSpPr txBox="1"/>
          <p:nvPr/>
        </p:nvSpPr>
        <p:spPr>
          <a:xfrm>
            <a:off x="1776253" y="2508617"/>
            <a:ext cx="8639494" cy="1246495"/>
          </a:xfrm>
          <a:prstGeom prst="rect">
            <a:avLst/>
          </a:prstGeom>
          <a:noFill/>
        </p:spPr>
        <p:txBody>
          <a:bodyPr wrap="square" rtlCol="0">
            <a:spAutoFit/>
          </a:bodyPr>
          <a:lstStyle/>
          <a:p>
            <a:pPr algn="ctr">
              <a:defRPr/>
            </a:pPr>
            <a:r>
              <a:rPr lang="en-US" altLang="zh-CN" sz="75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Is that ethical?</a:t>
            </a:r>
          </a:p>
        </p:txBody>
      </p:sp>
    </p:spTree>
    <p:extLst>
      <p:ext uri="{BB962C8B-B14F-4D97-AF65-F5344CB8AC3E}">
        <p14:creationId xmlns:p14="http://schemas.microsoft.com/office/powerpoint/2010/main" val="2182619075"/>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11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kumimoji="1" lang="zh-CN" altLang="en-US" dirty="0">
              <a:solidFill>
                <a:prstClr val="white"/>
              </a:solidFill>
              <a:latin typeface="Calibri" panose="020F0502020204030204"/>
              <a:ea typeface="宋体" panose="02010600030101010101" pitchFamily="2" charset="-122"/>
            </a:endParaRPr>
          </a:p>
        </p:txBody>
      </p:sp>
      <p:sp>
        <p:nvSpPr>
          <p:cNvPr id="41" name="文本框 40">
            <a:extLst>
              <a:ext uri="{FF2B5EF4-FFF2-40B4-BE49-F238E27FC236}">
                <a16:creationId xmlns:a16="http://schemas.microsoft.com/office/drawing/2014/main" id="{58EFCDAA-530E-4236-A3D1-1230B4178B5E}"/>
              </a:ext>
            </a:extLst>
          </p:cNvPr>
          <p:cNvSpPr txBox="1"/>
          <p:nvPr/>
        </p:nvSpPr>
        <p:spPr>
          <a:xfrm>
            <a:off x="4047806" y="2613392"/>
            <a:ext cx="4096388" cy="1631216"/>
          </a:xfrm>
          <a:prstGeom prst="rect">
            <a:avLst/>
          </a:prstGeom>
          <a:noFill/>
        </p:spPr>
        <p:txBody>
          <a:bodyPr wrap="square" rtlCol="0">
            <a:spAutoFit/>
          </a:bodyPr>
          <a:lstStyle/>
          <a:p>
            <a:pPr algn="ctr">
              <a:defRPr/>
            </a:pPr>
            <a:r>
              <a:rPr lang="en-US" altLang="zh-CN" sz="10000" b="1" dirty="0">
                <a:solidFill>
                  <a:srgbClr val="FEC70B"/>
                </a:solidFill>
                <a:latin typeface="Times New Roman" panose="02020603050405020304" pitchFamily="18" charset="0"/>
                <a:ea typeface="宋体" panose="02010600030101010101" pitchFamily="2" charset="-122"/>
                <a:cs typeface="Times New Roman" panose="02020603050405020304" pitchFamily="18" charset="0"/>
              </a:rPr>
              <a:t>Q &amp; A</a:t>
            </a:r>
          </a:p>
        </p:txBody>
      </p:sp>
    </p:spTree>
    <p:extLst>
      <p:ext uri="{BB962C8B-B14F-4D97-AF65-F5344CB8AC3E}">
        <p14:creationId xmlns:p14="http://schemas.microsoft.com/office/powerpoint/2010/main" val="3844521360"/>
      </p:ext>
    </p:extLst>
  </p:cSld>
  <p:clrMapOvr>
    <a:masterClrMapping/>
  </p:clrMapOvr>
  <p:transition spd="slow">
    <p:wipe dir="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416</Words>
  <Application>Microsoft Office PowerPoint</Application>
  <PresentationFormat>宽屏</PresentationFormat>
  <Paragraphs>52</Paragraphs>
  <Slides>8</Slides>
  <Notes>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vt:i4>
      </vt:variant>
    </vt:vector>
  </HeadingPairs>
  <TitlesOfParts>
    <vt:vector size="14" baseType="lpstr">
      <vt:lpstr>等线</vt:lpstr>
      <vt:lpstr>等线 Light</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PANDA</dc:creator>
  <cp:lastModifiedBy> </cp:lastModifiedBy>
  <cp:revision>20</cp:revision>
  <dcterms:created xsi:type="dcterms:W3CDTF">2019-12-09T14:45:30Z</dcterms:created>
  <dcterms:modified xsi:type="dcterms:W3CDTF">2019-12-09T17:21:30Z</dcterms:modified>
</cp:coreProperties>
</file>